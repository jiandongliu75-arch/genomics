
<file path=[Content_Types].xml><?xml version="1.0" encoding="utf-8"?>
<Types xmlns="http://schemas.openxmlformats.org/package/2006/content-types">
  <Default Extension="emf" ContentType="image/x-emf"/>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15.svg" ContentType="image/svg+xml"/>
  <Override PartName="/ppt/media/image16.svg" ContentType="image/svg+xml"/>
  <Override PartName="/ppt/media/image17.svg" ContentType="image/svg+xml"/>
  <Override PartName="/ppt/media/image30.svg" ContentType="image/svg+xml"/>
  <Override PartName="/ppt/media/image32.svg" ContentType="image/svg+xml"/>
  <Override PartName="/ppt/media/image3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50" r:id="rId2"/>
  </p:sldMasterIdLst>
  <p:notesMasterIdLst>
    <p:notesMasterId r:id="rId19"/>
  </p:notesMasterIdLst>
  <p:handoutMasterIdLst>
    <p:handoutMasterId r:id="rId20"/>
  </p:handoutMasterIdLst>
  <p:sldIdLst>
    <p:sldId id="822" r:id="rId3"/>
    <p:sldId id="940" r:id="rId4"/>
    <p:sldId id="941" r:id="rId5"/>
    <p:sldId id="942" r:id="rId6"/>
    <p:sldId id="1016" r:id="rId26"/>
    <p:sldId id="1017" r:id="rId27"/>
    <p:sldId id="1018" r:id="rId28"/>
    <p:sldId id="994" r:id="rId8"/>
    <p:sldId id="1019" r:id="rId29"/>
    <p:sldId id="1020" r:id="rId30"/>
    <p:sldId id="1021" r:id="rId31"/>
    <p:sldId id="945" r:id="rId10"/>
    <p:sldId id="1022" r:id="rId32"/>
    <p:sldId id="943" r:id="rId7"/>
    <p:sldId id="1023" r:id="rId33"/>
    <p:sldId id="1024" r:id="rId34"/>
    <p:sldId id="1025" r:id="rId35"/>
    <p:sldId id="1026" r:id="rId36"/>
    <p:sldId id="1015" r:id="rId9"/>
    <p:sldId id="1027" r:id="rId37"/>
    <p:sldId id="1028" r:id="rId38"/>
    <p:sldId id="946" r:id="rId11"/>
    <p:sldId id="1014" r:id="rId12"/>
    <p:sldId id="919" r:id="rId13"/>
    <p:sldId id="947" r:id="rId14"/>
    <p:sldId id="1029" r:id="rId39"/>
    <p:sldId id="948" r:id="rId15"/>
    <p:sldId id="949" r:id="rId16"/>
    <p:sldId id="1030" r:id="rId40"/>
    <p:sldId id="1031" r:id="rId41"/>
    <p:sldId id="1032" r:id="rId42"/>
    <p:sldId id="1033" r:id="rId43"/>
    <p:sldId id="1034" r:id="rId44"/>
    <p:sldId id="1035" r:id="rId45"/>
    <p:sldId id="1036" r:id="rId46"/>
    <p:sldId id="954" r:id="rId17"/>
    <p:sldId id="951" r:id="rId18"/>
    <p:sldId id="1037" r:id="rId47"/>
    <p:sldId id="1038" r:id="rId48"/>
    <p:sldId id="1039" r:id="rId49"/>
  </p:sldIdLst>
  <p:sldSz cx="12192000"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66CC"/>
    <a:srgbClr val="0099FF"/>
    <a:srgbClr val="000000"/>
    <a:srgbClr val="B2B2B2"/>
    <a:srgbClr val="66CCFF"/>
    <a:srgbClr val="4B76CD"/>
    <a:srgbClr val="336BAF"/>
    <a:srgbClr val="3270A4"/>
    <a:srgbClr val="E9E58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15" autoAdjust="0"/>
    <p:restoredTop sz="58273" autoAdjust="0"/>
  </p:normalViewPr>
  <p:slideViewPr>
    <p:cSldViewPr>
      <p:cViewPr varScale="1">
        <p:scale>
          <a:sx n="43" d="100"/>
          <a:sy n="43" d="100"/>
        </p:scale>
        <p:origin x="1500" y="44"/>
      </p:cViewPr>
      <p:guideLst>
        <p:guide orient="horz" pos="2160"/>
        <p:guide pos="3840"/>
      </p:guideLst>
    </p:cSldViewPr>
  </p:slideViewPr>
  <p:outlineViewPr>
    <p:cViewPr>
      <p:scale>
        <a:sx n="33" d="100"/>
        <a:sy n="33" d="100"/>
      </p:scale>
      <p:origin x="0" y="0"/>
    </p:cViewPr>
  </p:outlineViewPr>
  <p:notesTextViewPr>
    <p:cViewPr>
      <p:scale>
        <a:sx n="150" d="100"/>
        <a:sy n="150" d="100"/>
      </p:scale>
      <p:origin x="0" y="0"/>
    </p:cViewPr>
  </p:notesTextViewPr>
  <p:notesViewPr>
    <p:cSldViewPr>
      <p:cViewPr varScale="1">
        <p:scale>
          <a:sx n="68" d="100"/>
          <a:sy n="68" d="100"/>
        </p:scale>
        <p:origin x="2778" y="7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notesMaster" Target="notesMasters/notesMaster1.xml"/><Relationship Id="rId20" Type="http://schemas.openxmlformats.org/officeDocument/2006/relationships/handoutMaster" Target="handoutMasters/handout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microsoft.com/office/2016/11/relationships/changesInfo" Target="changesInfos/changesInfo1.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 Id="rId34" Type="http://schemas.openxmlformats.org/officeDocument/2006/relationships/slide" Target="slides/slide25.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35.xml"/><Relationship Id="rId45" Type="http://schemas.openxmlformats.org/officeDocument/2006/relationships/slide" Target="slides/slide36.xml"/><Relationship Id="rId46" Type="http://schemas.openxmlformats.org/officeDocument/2006/relationships/slide" Target="slides/slide37.xml"/><Relationship Id="rId47" Type="http://schemas.openxmlformats.org/officeDocument/2006/relationships/slide" Target="slides/slide38.xml"/><Relationship Id="rId48" Type="http://schemas.openxmlformats.org/officeDocument/2006/relationships/slide" Target="slides/slide39.xml"/><Relationship Id="rId49" Type="http://schemas.openxmlformats.org/officeDocument/2006/relationships/slide" Target="slides/slide4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iandong Liu" userId="75cce526151bc74c" providerId="LiveId" clId="{140C8465-D246-47EA-8A4E-8A77802352F1}"/>
    <pc:docChg chg="delSld modSld">
      <pc:chgData name="Jiandong Liu" userId="75cce526151bc74c" providerId="LiveId" clId="{140C8465-D246-47EA-8A4E-8A77802352F1}" dt="2026-10-30T00:23:48.500" v="6" actId="47"/>
      <pc:docMkLst>
        <pc:docMk/>
      </pc:docMkLst>
      <pc:sldChg chg="del">
        <pc:chgData name="Jiandong Liu" userId="75cce526151bc74c" providerId="LiveId" clId="{140C8465-D246-47EA-8A4E-8A77802352F1}" dt="2026-10-29T21:43:06.471" v="0" actId="47"/>
        <pc:sldMkLst>
          <pc:docMk/>
          <pc:sldMk cId="2943745856" sldId="569"/>
        </pc:sldMkLst>
      </pc:sldChg>
      <pc:sldChg chg="modNotesTx">
        <pc:chgData name="Jiandong Liu" userId="75cce526151bc74c" providerId="LiveId" clId="{140C8465-D246-47EA-8A4E-8A77802352F1}" dt="2026-10-29T21:43:20.609" v="1" actId="20577"/>
        <pc:sldMkLst>
          <pc:docMk/>
          <pc:sldMk cId="117397305" sldId="940"/>
        </pc:sldMkLst>
      </pc:sldChg>
      <pc:sldChg chg="del">
        <pc:chgData name="Jiandong Liu" userId="75cce526151bc74c" providerId="LiveId" clId="{140C8465-D246-47EA-8A4E-8A77802352F1}" dt="2026-10-29T21:43:06.471" v="0" actId="47"/>
        <pc:sldMkLst>
          <pc:docMk/>
          <pc:sldMk cId="1809212323" sldId="967"/>
        </pc:sldMkLst>
      </pc:sldChg>
      <pc:sldChg chg="del">
        <pc:chgData name="Jiandong Liu" userId="75cce526151bc74c" providerId="LiveId" clId="{140C8465-D246-47EA-8A4E-8A77802352F1}" dt="2026-10-30T00:23:31.437" v="2" actId="47"/>
        <pc:sldMkLst>
          <pc:docMk/>
          <pc:sldMk cId="144793162" sldId="996"/>
        </pc:sldMkLst>
      </pc:sldChg>
      <pc:sldChg chg="del">
        <pc:chgData name="Jiandong Liu" userId="75cce526151bc74c" providerId="LiveId" clId="{140C8465-D246-47EA-8A4E-8A77802352F1}" dt="2026-10-30T00:23:43.301" v="4" actId="47"/>
        <pc:sldMkLst>
          <pc:docMk/>
          <pc:sldMk cId="3337623314" sldId="997"/>
        </pc:sldMkLst>
      </pc:sldChg>
      <pc:sldChg chg="del">
        <pc:chgData name="Jiandong Liu" userId="75cce526151bc74c" providerId="LiveId" clId="{140C8465-D246-47EA-8A4E-8A77802352F1}" dt="2026-10-30T00:23:45.991" v="5" actId="47"/>
        <pc:sldMkLst>
          <pc:docMk/>
          <pc:sldMk cId="4019651240" sldId="998"/>
        </pc:sldMkLst>
      </pc:sldChg>
      <pc:sldChg chg="del">
        <pc:chgData name="Jiandong Liu" userId="75cce526151bc74c" providerId="LiveId" clId="{140C8465-D246-47EA-8A4E-8A77802352F1}" dt="2026-10-29T21:43:06.471" v="0" actId="47"/>
        <pc:sldMkLst>
          <pc:docMk/>
          <pc:sldMk cId="1421583753" sldId="999"/>
        </pc:sldMkLst>
      </pc:sldChg>
      <pc:sldChg chg="del">
        <pc:chgData name="Jiandong Liu" userId="75cce526151bc74c" providerId="LiveId" clId="{140C8465-D246-47EA-8A4E-8A77802352F1}" dt="2026-10-29T21:43:06.471" v="0" actId="47"/>
        <pc:sldMkLst>
          <pc:docMk/>
          <pc:sldMk cId="2058230233" sldId="1000"/>
        </pc:sldMkLst>
      </pc:sldChg>
      <pc:sldChg chg="del">
        <pc:chgData name="Jiandong Liu" userId="75cce526151bc74c" providerId="LiveId" clId="{140C8465-D246-47EA-8A4E-8A77802352F1}" dt="2026-10-29T21:43:06.471" v="0" actId="47"/>
        <pc:sldMkLst>
          <pc:docMk/>
          <pc:sldMk cId="2786631256" sldId="1002"/>
        </pc:sldMkLst>
      </pc:sldChg>
      <pc:sldChg chg="del">
        <pc:chgData name="Jiandong Liu" userId="75cce526151bc74c" providerId="LiveId" clId="{140C8465-D246-47EA-8A4E-8A77802352F1}" dt="2026-10-29T21:43:06.471" v="0" actId="47"/>
        <pc:sldMkLst>
          <pc:docMk/>
          <pc:sldMk cId="3689387473" sldId="1003"/>
        </pc:sldMkLst>
      </pc:sldChg>
      <pc:sldChg chg="del">
        <pc:chgData name="Jiandong Liu" userId="75cce526151bc74c" providerId="LiveId" clId="{140C8465-D246-47EA-8A4E-8A77802352F1}" dt="2026-10-29T21:43:06.471" v="0" actId="47"/>
        <pc:sldMkLst>
          <pc:docMk/>
          <pc:sldMk cId="2517359793" sldId="1005"/>
        </pc:sldMkLst>
      </pc:sldChg>
      <pc:sldChg chg="del">
        <pc:chgData name="Jiandong Liu" userId="75cce526151bc74c" providerId="LiveId" clId="{140C8465-D246-47EA-8A4E-8A77802352F1}" dt="2026-10-29T21:43:06.471" v="0" actId="47"/>
        <pc:sldMkLst>
          <pc:docMk/>
          <pc:sldMk cId="3768264497" sldId="1007"/>
        </pc:sldMkLst>
      </pc:sldChg>
      <pc:sldChg chg="del">
        <pc:chgData name="Jiandong Liu" userId="75cce526151bc74c" providerId="LiveId" clId="{140C8465-D246-47EA-8A4E-8A77802352F1}" dt="2026-10-29T21:43:06.471" v="0" actId="47"/>
        <pc:sldMkLst>
          <pc:docMk/>
          <pc:sldMk cId="2886869979" sldId="1008"/>
        </pc:sldMkLst>
      </pc:sldChg>
      <pc:sldChg chg="del">
        <pc:chgData name="Jiandong Liu" userId="75cce526151bc74c" providerId="LiveId" clId="{140C8465-D246-47EA-8A4E-8A77802352F1}" dt="2026-10-29T21:43:06.471" v="0" actId="47"/>
        <pc:sldMkLst>
          <pc:docMk/>
          <pc:sldMk cId="4067490553" sldId="1010"/>
        </pc:sldMkLst>
      </pc:sldChg>
      <pc:sldChg chg="del">
        <pc:chgData name="Jiandong Liu" userId="75cce526151bc74c" providerId="LiveId" clId="{140C8465-D246-47EA-8A4E-8A77802352F1}" dt="2026-10-29T21:43:06.471" v="0" actId="47"/>
        <pc:sldMkLst>
          <pc:docMk/>
          <pc:sldMk cId="2275835280" sldId="1012"/>
        </pc:sldMkLst>
      </pc:sldChg>
      <pc:sldChg chg="del">
        <pc:chgData name="Jiandong Liu" userId="75cce526151bc74c" providerId="LiveId" clId="{140C8465-D246-47EA-8A4E-8A77802352F1}" dt="2026-10-29T21:43:06.471" v="0" actId="47"/>
        <pc:sldMkLst>
          <pc:docMk/>
          <pc:sldMk cId="679614332" sldId="1013"/>
        </pc:sldMkLst>
      </pc:sldChg>
      <pc:sldChg chg="del">
        <pc:chgData name="Jiandong Liu" userId="75cce526151bc74c" providerId="LiveId" clId="{140C8465-D246-47EA-8A4E-8A77802352F1}" dt="2026-10-30T00:23:48.500" v="6" actId="47"/>
        <pc:sldMkLst>
          <pc:docMk/>
          <pc:sldMk cId="1074947756" sldId="1016"/>
        </pc:sldMkLst>
      </pc:sldChg>
      <pc:sldChg chg="del">
        <pc:chgData name="Jiandong Liu" userId="75cce526151bc74c" providerId="LiveId" clId="{140C8465-D246-47EA-8A4E-8A77802352F1}" dt="2026-10-30T00:23:36.555" v="3" actId="47"/>
        <pc:sldMkLst>
          <pc:docMk/>
          <pc:sldMk cId="3234682922" sldId="101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E1DA0113-220C-497F-B906-EDC6C002B998}" type="datetimeFigureOut">
              <a:rPr lang="en-US" smtClean="0"/>
              <a:t>10/29/2026</a:t>
            </a:fld>
            <a:endParaRPr lang="en-US"/>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39C1BD07-4637-46CA-97DF-E4DC1303BB72}" type="slidenum">
              <a:rPr lang="en-US" smtClean="0"/>
              <a:t>‹#›</a:t>
            </a:fld>
            <a:endParaRPr lang="en-US"/>
          </a:p>
        </p:txBody>
      </p:sp>
    </p:spTree>
    <p:extLst>
      <p:ext uri="{BB962C8B-B14F-4D97-AF65-F5344CB8AC3E}">
        <p14:creationId xmlns:p14="http://schemas.microsoft.com/office/powerpoint/2010/main" val="244067694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0"/>
            <a:ext cx="3037840" cy="4648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77" tIns="46589" rIns="93177" bIns="46589" numCol="1" anchor="t" anchorCtr="0" compatLnSpc="1">
            <a:prstTxWarp prst="textNoShape">
              <a:avLst/>
            </a:prstTxWarp>
          </a:bodyPr>
          <a:lstStyle>
            <a:lvl1pPr>
              <a:defRPr sz="1200"/>
            </a:lvl1pPr>
          </a:lstStyle>
          <a:p>
            <a:endParaRPr lang="en-US"/>
          </a:p>
        </p:txBody>
      </p:sp>
      <p:sp>
        <p:nvSpPr>
          <p:cNvPr id="4099" name="Rectangle 3"/>
          <p:cNvSpPr>
            <a:spLocks noGrp="1" noChangeArrowheads="1"/>
          </p:cNvSpPr>
          <p:nvPr>
            <p:ph type="dt" idx="1"/>
          </p:nvPr>
        </p:nvSpPr>
        <p:spPr bwMode="auto">
          <a:xfrm>
            <a:off x="3970938" y="0"/>
            <a:ext cx="3037840" cy="4648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77" tIns="46589" rIns="93177" bIns="46589" numCol="1" anchor="t" anchorCtr="0" compatLnSpc="1">
            <a:prstTxWarp prst="textNoShape">
              <a:avLst/>
            </a:prstTxWarp>
          </a:bodyPr>
          <a:lstStyle>
            <a:lvl1pPr algn="r">
              <a:defRPr sz="1200"/>
            </a:lvl1pPr>
          </a:lstStyle>
          <a:p>
            <a:endParaRPr lang="en-US"/>
          </a:p>
        </p:txBody>
      </p:sp>
      <p:sp>
        <p:nvSpPr>
          <p:cNvPr id="4100" name="Rectangle 4"/>
          <p:cNvSpPr>
            <a:spLocks noGrp="1" noRot="1" noChangeAspect="1" noChangeArrowheads="1" noTextEdit="1"/>
          </p:cNvSpPr>
          <p:nvPr>
            <p:ph type="sldImg" idx="2"/>
          </p:nvPr>
        </p:nvSpPr>
        <p:spPr bwMode="auto">
          <a:xfrm>
            <a:off x="406400" y="696913"/>
            <a:ext cx="6197600" cy="3486150"/>
          </a:xfrm>
          <a:prstGeom prst="rect">
            <a:avLst/>
          </a:prstGeom>
          <a:no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4101" name="Rectangle 5"/>
          <p:cNvSpPr>
            <a:spLocks noGrp="1" noChangeArrowheads="1"/>
          </p:cNvSpPr>
          <p:nvPr>
            <p:ph type="body" sz="quarter" idx="3"/>
          </p:nvPr>
        </p:nvSpPr>
        <p:spPr bwMode="auto">
          <a:xfrm>
            <a:off x="701040" y="4415790"/>
            <a:ext cx="5608320" cy="41833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77" tIns="46589" rIns="93177" bIns="46589"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102" name="Rectangle 6"/>
          <p:cNvSpPr>
            <a:spLocks noGrp="1" noChangeArrowheads="1"/>
          </p:cNvSpPr>
          <p:nvPr>
            <p:ph type="ftr" sz="quarter" idx="4"/>
          </p:nvPr>
        </p:nvSpPr>
        <p:spPr bwMode="auto">
          <a:xfrm>
            <a:off x="0" y="8829967"/>
            <a:ext cx="3037840" cy="4648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77" tIns="46589" rIns="93177" bIns="46589" numCol="1" anchor="b" anchorCtr="0" compatLnSpc="1">
            <a:prstTxWarp prst="textNoShape">
              <a:avLst/>
            </a:prstTxWarp>
          </a:bodyPr>
          <a:lstStyle>
            <a:lvl1pPr>
              <a:defRPr sz="1200"/>
            </a:lvl1pPr>
          </a:lstStyle>
          <a:p>
            <a:endParaRPr lang="en-US"/>
          </a:p>
        </p:txBody>
      </p:sp>
      <p:sp>
        <p:nvSpPr>
          <p:cNvPr id="4103" name="Rectangle 7"/>
          <p:cNvSpPr>
            <a:spLocks noGrp="1" noChangeArrowheads="1"/>
          </p:cNvSpPr>
          <p:nvPr>
            <p:ph type="sldNum" sz="quarter" idx="5"/>
          </p:nvPr>
        </p:nvSpPr>
        <p:spPr bwMode="auto">
          <a:xfrm>
            <a:off x="3970938" y="8829967"/>
            <a:ext cx="3037840" cy="4648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77" tIns="46589" rIns="93177" bIns="46589" numCol="1" anchor="b" anchorCtr="0" compatLnSpc="1">
            <a:prstTxWarp prst="textNoShape">
              <a:avLst/>
            </a:prstTxWarp>
          </a:bodyPr>
          <a:lstStyle>
            <a:lvl1pPr algn="r">
              <a:defRPr sz="1200"/>
            </a:lvl1pPr>
          </a:lstStyle>
          <a:p>
            <a:fld id="{3C75CF05-D4EB-41BA-9F20-235FDF90A6F2}" type="slidenum">
              <a:rPr lang="en-US"/>
              <a:pPr/>
              <a:t>‹#›</a:t>
            </a:fld>
            <a:endParaRPr lang="en-US"/>
          </a:p>
        </p:txBody>
      </p:sp>
    </p:spTree>
    <p:extLst>
      <p:ext uri="{BB962C8B-B14F-4D97-AF65-F5344CB8AC3E}">
        <p14:creationId xmlns:p14="http://schemas.microsoft.com/office/powerpoint/2010/main" val="2676991261"/>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Arial" charset="0"/>
        <a:ea typeface="+mn-ea"/>
        <a:cs typeface="Arial" charset="0"/>
      </a:defRPr>
    </a:lvl1pPr>
    <a:lvl2pPr marL="457200" algn="l" rtl="0" fontAlgn="base">
      <a:spcBef>
        <a:spcPct val="30000"/>
      </a:spcBef>
      <a:spcAft>
        <a:spcPct val="0"/>
      </a:spcAft>
      <a:defRPr sz="1200" kern="1200">
        <a:solidFill>
          <a:schemeClr val="tx1"/>
        </a:solidFill>
        <a:latin typeface="Arial" charset="0"/>
        <a:ea typeface="+mn-ea"/>
        <a:cs typeface="Arial" charset="0"/>
      </a:defRPr>
    </a:lvl2pPr>
    <a:lvl3pPr marL="914400" algn="l" rtl="0" fontAlgn="base">
      <a:spcBef>
        <a:spcPct val="30000"/>
      </a:spcBef>
      <a:spcAft>
        <a:spcPct val="0"/>
      </a:spcAft>
      <a:defRPr sz="1200" kern="1200">
        <a:solidFill>
          <a:schemeClr val="tx1"/>
        </a:solidFill>
        <a:latin typeface="Arial" charset="0"/>
        <a:ea typeface="+mn-ea"/>
        <a:cs typeface="Arial" charset="0"/>
      </a:defRPr>
    </a:lvl3pPr>
    <a:lvl4pPr marL="1371600" algn="l" rtl="0" fontAlgn="base">
      <a:spcBef>
        <a:spcPct val="30000"/>
      </a:spcBef>
      <a:spcAft>
        <a:spcPct val="0"/>
      </a:spcAft>
      <a:defRPr sz="1200" kern="1200">
        <a:solidFill>
          <a:schemeClr val="tx1"/>
        </a:solidFill>
        <a:latin typeface="Arial" charset="0"/>
        <a:ea typeface="+mn-ea"/>
        <a:cs typeface="Arial" charset="0"/>
      </a:defRPr>
    </a:lvl4pPr>
    <a:lvl5pPr marL="1828800" algn="l" rtl="0" fontAlgn="base">
      <a:spcBef>
        <a:spcPct val="30000"/>
      </a:spcBef>
      <a:spcAft>
        <a:spcPct val="0"/>
      </a:spcAft>
      <a:defRPr sz="12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 MAIN TALK | Suggested 25 seconds</a:t>
            </a:r>
          </a:p>
          <a:p/>
          <a:p>
            <a:r>
              <a:t>SPEAKER NOTES</a:t>
            </a:r>
          </a:p>
          <a:p>
            <a:r>
              <a:t>How does a growing heart become a mature, functioning organ? In this study, we approached that question by connecting a spatial atlas with in vivo functional genomics. We first asked where the different cardiac cells and regulatory programs are located during postnatal development. We then used those observations to nominate candidate regulators of cardiomyocyte maturation. Finally, we developed a way to test those genes directly in the intact postnatal heart and followed selected candidates into functional phenotypes. The central story is the connection from spatial organization to candidate regulation and then to experimentally tested gene function.</a:t>
            </a:r>
          </a:p>
          <a:p/>
          <a:p>
            <a:r>
              <a:t>PUBLISHED SOURCE</a:t>
            </a:r>
          </a:p>
          <a:p>
            <a:r>
              <a:t>Wang, Dong, Song et al. Nature Cardiovascular Research (2026). DOI: 10.1038/s44161-026-00861-z.</a:t>
            </a:r>
          </a:p>
          <a:p>
            <a:r>
              <a:t>Study overview</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sz="quarter" idx="10"/>
          </p:nvPr>
        </p:nvSpPr>
        <p:spPr/>
        <p:txBody>
          <a:bodyPr/>
          <a:lstStyle/>
          <a:p>
            <a:fld id="{3C75CF05-D4EB-41BA-9F20-235FDF90A6F2}" type="slidenum">
              <a:rPr lang="en-US" smtClean="0"/>
              <a:pPr/>
              <a:t>1</a:t>
            </a:fld>
            <a:endParaRPr lang="en-US"/>
          </a:p>
        </p:txBody>
      </p:sp>
    </p:spTree>
    <p:extLst>
      <p:ext uri="{BB962C8B-B14F-4D97-AF65-F5344CB8AC3E}">
        <p14:creationId xmlns:p14="http://schemas.microsoft.com/office/powerpoint/2010/main" val="42389671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 MAIN TALK | Suggested 75 seconds</a:t>
            </a:r>
          </a:p>
          <a:p/>
          <a:p>
            <a:r>
              <a:t>SPEAKER NOTES</a:t>
            </a:r>
          </a:p>
          <a:p>
            <a:r>
              <a:t>Cardiomyocyte maturation involves several linked changes: cell growth and myofibril organization, electrical and calcium-handling development, and metabolic adaptation to sustained contraction. Our earlier work on CARM1 provided one example of intrinsic regulation. But a single regulator does not explain how these changes are coordinated across the tissue. CMs also develop alongside blood vessels, fibroblasts and other cardiac cells. We therefore wanted a framework that could connect an individual cell’s transcriptional program with its position and neighboring cells, and then test the genes suggested by that framework.</a:t>
            </a:r>
          </a:p>
          <a:p/>
          <a:p>
            <a:r>
              <a:t>PUBLISHED SOURCE</a:t>
            </a:r>
          </a:p>
          <a:p>
            <a:r>
              <a:t>Wang, Dong, Song et al. Nature Cardiovascular Research (2026). DOI: 10.1038/s44161-026-00861-z.</a:t>
            </a:r>
          </a:p>
          <a:p>
            <a:r>
              <a:t>Original background slide; paper Introduction</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sz="quarter" idx="10"/>
          </p:nvPr>
        </p:nvSpPr>
        <p:spPr/>
        <p:txBody>
          <a:bodyPr/>
          <a:lstStyle/>
          <a:p>
            <a:fld id="{F5B175F1-CC2D-496C-90CB-0065ABDB9243}" type="slidenum">
              <a:rPr lang="en-US" smtClean="0"/>
              <a:t>2</a:t>
            </a:fld>
            <a:endParaRPr lang="en-US"/>
          </a:p>
        </p:txBody>
      </p:sp>
    </p:spTree>
    <p:extLst>
      <p:ext uri="{BB962C8B-B14F-4D97-AF65-F5344CB8AC3E}">
        <p14:creationId xmlns:p14="http://schemas.microsoft.com/office/powerpoint/2010/main" val="4028428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3 | MAIN TALK | Suggested 90 seconds</a:t>
            </a:r>
          </a:p>
          <a:p/>
          <a:p>
            <a:r>
              <a:t>SPEAKER NOTES</a:t>
            </a:r>
          </a:p>
          <a:p>
            <a:r>
              <a:t>We collected hearts at P0, P7, P14 and P21 and paired single-nucleus RNA sequencing with Xenium spatial transcriptomics. The published atlas contains approximately 67,000 nuclei and 402,000 spatial profiles. Multimodal staining helps segment the unusual geometry of cardiac cells. CytoSPACE aligns the broad RNA reference with the spatial data, allowing us to place additional transcriptional information in the tissue. The embedded atlas video is retained here. The important distinction is that Xenium directly measures its panel, whereas the genome-wide spatial transcriptome is inferred through alignment. Together, the assays provide complementary molecular and anatomical information.</a:t>
            </a:r>
          </a:p>
          <a:p/>
          <a:p>
            <a:r>
              <a:t>PUBLISHED SOURCE</a:t>
            </a:r>
          </a:p>
          <a:p>
            <a:r>
              <a:t>Wang, Dong, Song et al. Nature Cardiovascular Research (2026). DOI: 10.1038/s44161-026-00861-z.</a:t>
            </a:r>
          </a:p>
          <a:p>
            <a:r>
              <a:t>Fig. 1a–e,h,i; original atlas video retained</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sz="quarter" idx="5"/>
          </p:nvPr>
        </p:nvSpPr>
        <p:spPr/>
        <p:txBody>
          <a:bodyPr/>
          <a:lstStyle/>
          <a:p>
            <a:fld id="{3C75CF05-D4EB-41BA-9F20-235FDF90A6F2}" type="slidenum">
              <a:rPr lang="en-US" smtClean="0"/>
              <a:pPr/>
              <a:t>3</a:t>
            </a:fld>
            <a:endParaRPr lang="en-US"/>
          </a:p>
        </p:txBody>
      </p:sp>
    </p:spTree>
    <p:extLst>
      <p:ext uri="{BB962C8B-B14F-4D97-AF65-F5344CB8AC3E}">
        <p14:creationId xmlns:p14="http://schemas.microsoft.com/office/powerpoint/2010/main" val="17916821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4 | MAIN TALK | Suggested 70 seconds</a:t>
            </a:r>
          </a:p>
          <a:p/>
          <a:p>
            <a:r>
              <a:t>SPEAKER NOTES</a:t>
            </a:r>
          </a:p>
          <a:p>
            <a:r>
              <a:t>The heart is organized rather than a uniform mixture of cell types. The atlas resolves the major lineages and their spatially distinct states. Cardiomyocytes, endothelial cells and fibroblasts make up the largest populations, but mural, immune and epicardial populations also contribute to the tissue architecture. On the right, the neighborhood map organizes these cells into local combinations that align with recognizable anatomy. This is the starting point for the rest of the study: position can tell us which cells are able to interact, and different regions may be governed by different regulatory programs.</a:t>
            </a:r>
          </a:p>
          <a:p/>
          <a:p>
            <a:r>
              <a:t>PUBLISHED SOURCE</a:t>
            </a:r>
          </a:p>
          <a:p>
            <a:r>
              <a:t>Wang, Dong, Song et al. Nature Cardiovascular Research (2026). DOI: 10.1038/s44161-026-00861-z.</a:t>
            </a:r>
          </a:p>
          <a:p>
            <a:r>
              <a:t>Fig. 1f,j; Fig. 2a</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sz="quarter" idx="5"/>
          </p:nvPr>
        </p:nvSpPr>
        <p:spPr/>
        <p:txBody>
          <a:bodyPr/>
          <a:lstStyle/>
          <a:p>
            <a:fld id="{BC0CB7C8-3C86-4B36-81EE-D19AEBCD84F9}" type="slidenum">
              <a:rPr lang="en-US" smtClean="0"/>
              <a:t>4</a:t>
            </a:fld>
            <a:endParaRPr lang="en-US"/>
          </a:p>
        </p:txBody>
      </p:sp>
    </p:spTree>
    <p:extLst>
      <p:ext uri="{BB962C8B-B14F-4D97-AF65-F5344CB8AC3E}">
        <p14:creationId xmlns:p14="http://schemas.microsoft.com/office/powerpoint/2010/main" val="37306513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14 | MAIN TALK | Suggested 75 seconds</a:t>
            </a:r>
          </a:p>
          <a:p/>
          <a:p>
            <a:r>
              <a:t>SPEAKER NOTES</a:t>
            </a:r>
          </a:p>
          <a:p>
            <a:r>
              <a:t>We quantified CM maturation using the published 21-gene panel measured by Xenium. These genes represent transcriptional, sarcomeric, electrophysiological and metabolic features. The published Methods calculate the index with Seurat AddModuleScore. Mapping the index shows the expected increase with age, but it also reveals heterogeneity within the same cardiac section. Thus, two CMs at the same postnatal age can have different transcriptional maturation states. This observation leads naturally to the next question: does the local cellular neighborhood help explain where the higher- and lower-scoring CMs are found?</a:t>
            </a:r>
          </a:p>
          <a:p/>
          <a:p>
            <a:r>
              <a:t>PUBLISHED SOURCE</a:t>
            </a:r>
          </a:p>
          <a:p>
            <a:r>
              <a:t>Wang, Dong, Song et al. Nature Cardiovascular Research (2026). DOI: 10.1038/s44161-026-00861-z.</a:t>
            </a:r>
          </a:p>
          <a:p>
            <a:r>
              <a:t>Fig. 4b,c; maturation Methods</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sz="quarter" idx="5"/>
          </p:nvPr>
        </p:nvSpPr>
        <p:spPr/>
        <p:txBody>
          <a:bodyPr/>
          <a:lstStyle/>
          <a:p>
            <a:fld id="{BC0CB7C8-3C86-4B36-81EE-D19AEBCD84F9}" type="slidenum">
              <a:rPr lang="en-US" smtClean="0"/>
              <a:t>5</a:t>
            </a:fld>
            <a:endParaRPr lang="en-US"/>
          </a:p>
        </p:txBody>
      </p:sp>
    </p:spTree>
    <p:extLst>
      <p:ext uri="{BB962C8B-B14F-4D97-AF65-F5344CB8AC3E}">
        <p14:creationId xmlns:p14="http://schemas.microsoft.com/office/powerpoint/2010/main" val="19863639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BD2F08-3E31-9275-0F2C-5585DB8BEA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45DD84-11EE-EDE5-9DDC-BF363F06B1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106063-EFCF-004B-60BF-99911C63190C}"/>
              </a:ext>
            </a:extLst>
          </p:cNvPr>
          <p:cNvSpPr>
            <a:spLocks noGrp="1"/>
          </p:cNvSpPr>
          <p:nvPr>
            <p:ph type="body" idx="1"/>
          </p:nvPr>
        </p:nvSpPr>
        <p:spPr/>
        <p:txBody>
          <a:bodyPr/>
          <a:lstStyle/>
          <a:p>
            <a:r>
              <a:t>SLIDE 8 | MAIN TALK | Suggested 60 seconds</a:t>
            </a:r>
          </a:p>
          <a:p/>
          <a:p>
            <a:r>
              <a:t>SPEAKER NOTES</a:t>
            </a:r>
          </a:p>
          <a:p>
            <a:r>
              <a:t>We used ligand–receptor expression together with cell positions to infer communication. The paper applies a distance penalty beyond 200 micrometers for paracrine interactions and 50 micrometers for the juxtacrine model. These are modeling thresholds rather than direct demonstrations of membrane contact. Adding spatial information makes the proposed interactions more biologically specific than considering expression alone. It allows us to compare communication within and between neighborhoods and to ask which cells are likely senders or receivers at each stage.</a:t>
            </a:r>
          </a:p>
          <a:p/>
          <a:p>
            <a:r>
              <a:t>PUBLISHED SOURCE</a:t>
            </a:r>
          </a:p>
          <a:p>
            <a:r>
              <a:t>Wang, Dong, Song et al. Nature Cardiovascular Research (2026). DOI: 10.1038/s44161-026-00861-z.</a:t>
            </a:r>
          </a:p>
          <a:p>
            <a:r>
              <a:t>Fig. 2d; original communication schematic</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a:extLst>
              <a:ext uri="{FF2B5EF4-FFF2-40B4-BE49-F238E27FC236}">
                <a16:creationId xmlns:a16="http://schemas.microsoft.com/office/drawing/2014/main" id="{2A5871C4-1575-BF90-BCAF-5C135766F755}"/>
              </a:ext>
            </a:extLst>
          </p:cNvPr>
          <p:cNvSpPr>
            <a:spLocks noGrp="1"/>
          </p:cNvSpPr>
          <p:nvPr>
            <p:ph type="sldNum" sz="quarter" idx="5"/>
          </p:nvPr>
        </p:nvSpPr>
        <p:spPr/>
        <p:txBody>
          <a:bodyPr/>
          <a:lstStyle/>
          <a:p>
            <a:fld id="{3C75CF05-D4EB-41BA-9F20-235FDF90A6F2}" type="slidenum">
              <a:rPr lang="en-US" smtClean="0"/>
              <a:pPr/>
              <a:t>6</a:t>
            </a:fld>
            <a:endParaRPr lang="en-US"/>
          </a:p>
        </p:txBody>
      </p:sp>
    </p:spTree>
    <p:extLst>
      <p:ext uri="{BB962C8B-B14F-4D97-AF65-F5344CB8AC3E}">
        <p14:creationId xmlns:p14="http://schemas.microsoft.com/office/powerpoint/2010/main" val="35150963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19 | MAIN TALK | Suggested 60 seconds</a:t>
            </a:r>
          </a:p>
          <a:p/>
          <a:p>
            <a:r>
              <a:t>SPEAKER NOTES</a:t>
            </a:r>
          </a:p>
          <a:p>
            <a:r>
              <a:t>The broader communication landscape changes as CMs develop. The paper reports declining early growth-associated cues, including endocardial-derived IGF2 and NRG1, alongside other stage-dependent signaling patterns. CMs themselves are major signal senders to neighboring CMs, so the tissue should not be viewed as a system in which muscle only receives information from supporting cells. These heatmaps summarize candidate paracrine and juxtacrine programs across stages. They identify potential extrinsic regulators that can be combined with intrinsic-network candidates for the functional screen.</a:t>
            </a:r>
          </a:p>
          <a:p/>
          <a:p>
            <a:r>
              <a:t>PUBLISHED SOURCE</a:t>
            </a:r>
          </a:p>
          <a:p>
            <a:r>
              <a:t>Wang, Dong, Song et al. Nature Cardiovascular Research (2026). DOI: 10.1038/s44161-026-00861-z.</a:t>
            </a:r>
          </a:p>
          <a:p>
            <a:r>
              <a:t>Fig. 5e; Supplementary Fig. 21; original signaling heatmaps</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sz="quarter" idx="5"/>
          </p:nvPr>
        </p:nvSpPr>
        <p:spPr/>
        <p:txBody>
          <a:bodyPr/>
          <a:lstStyle/>
          <a:p>
            <a:fld id="{3C75CF05-D4EB-41BA-9F20-235FDF90A6F2}" type="slidenum">
              <a:rPr lang="en-US" smtClean="0"/>
              <a:pPr/>
              <a:t>7</a:t>
            </a:fld>
            <a:endParaRPr lang="en-US"/>
          </a:p>
        </p:txBody>
      </p:sp>
    </p:spTree>
    <p:extLst>
      <p:ext uri="{BB962C8B-B14F-4D97-AF65-F5344CB8AC3E}">
        <p14:creationId xmlns:p14="http://schemas.microsoft.com/office/powerpoint/2010/main" val="41435458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12 | MAIN TALK | Suggested 70 seconds</a:t>
            </a:r>
          </a:p>
          <a:p/>
          <a:p>
            <a:r>
              <a:t>SPEAKER NOTES</a:t>
            </a:r>
          </a:p>
          <a:p>
            <a:r>
              <a:t>The regulatory landscape also changes over time. SCENIC identifies cell-type-specific regulon activities, meaning candidate transcription factors together with their predicted target programs. Most non-myocyte populations show more gradual changes, whereas CMs separate into early P0–P7 and later P14–P21 regulatory states. The heatmap helps identify the regulators associated with these stages. This sharp transition motivates our focus on CM maturation: the cells are not only enlarging, but reorganizing the transcriptional networks that support their function.</a:t>
            </a:r>
          </a:p>
          <a:p/>
          <a:p>
            <a:r>
              <a:t>PUBLISHED SOURCE</a:t>
            </a:r>
          </a:p>
          <a:p>
            <a:r>
              <a:t>Wang, Dong, Song et al. Nature Cardiovascular Research (2026). DOI: 10.1038/s44161-026-00861-z.</a:t>
            </a:r>
          </a:p>
          <a:p>
            <a:r>
              <a:t>Fig. 3a,b; original SCENIC panels</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sz="quarter" idx="5"/>
          </p:nvPr>
        </p:nvSpPr>
        <p:spPr/>
        <p:txBody>
          <a:bodyPr/>
          <a:lstStyle/>
          <a:p>
            <a:fld id="{3C75CF05-D4EB-41BA-9F20-235FDF90A6F2}" type="slidenum">
              <a:rPr lang="en-US" smtClean="0"/>
              <a:pPr/>
              <a:t>8</a:t>
            </a:fld>
            <a:endParaRPr lang="en-US"/>
          </a:p>
        </p:txBody>
      </p:sp>
    </p:spTree>
    <p:extLst>
      <p:ext uri="{BB962C8B-B14F-4D97-AF65-F5344CB8AC3E}">
        <p14:creationId xmlns:p14="http://schemas.microsoft.com/office/powerpoint/2010/main" val="21257611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22 | MAIN TALK | Suggested 70 seconds</a:t>
            </a:r>
          </a:p>
          <a:p/>
          <a:p>
            <a:r>
              <a:t>SPEAKER NOTES</a:t>
            </a:r>
          </a:p>
          <a:p>
            <a:r>
              <a:t>We next reconstructed the candidate intrinsic network that could control those developmental programs. The study identifies thirty-two CM-specific regulons. Seven were previously implicated in maturation, including regulators of metabolic and hormone-responsive programs, while twenty-five were not previously characterized in this context. The network summarizes how these activities change across postnatal development. Rather than selecting one familiar gene, it provides a broader candidate set that can be tested systematically. This is the intrinsic side of the same problem addressed by the spatial signaling analysis.</a:t>
            </a:r>
          </a:p>
          <a:p/>
          <a:p>
            <a:r>
              <a:t>PUBLISHED SOURCE</a:t>
            </a:r>
          </a:p>
          <a:p>
            <a:r>
              <a:t>Wang, Dong, Song et al. Nature Cardiovascular Research (2026). DOI: 10.1038/s44161-026-00861-z.</a:t>
            </a:r>
          </a:p>
          <a:p>
            <a:r>
              <a:t>Fig. 5d</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sz="quarter" idx="5"/>
          </p:nvPr>
        </p:nvSpPr>
        <p:spPr/>
        <p:txBody>
          <a:bodyPr/>
          <a:lstStyle/>
          <a:p>
            <a:fld id="{3C75CF05-D4EB-41BA-9F20-235FDF90A6F2}" type="slidenum">
              <a:rPr lang="en-US" smtClean="0"/>
              <a:pPr/>
              <a:t>9</a:t>
            </a:fld>
            <a:endParaRPr lang="en-US"/>
          </a:p>
        </p:txBody>
      </p:sp>
    </p:spTree>
    <p:extLst>
      <p:ext uri="{BB962C8B-B14F-4D97-AF65-F5344CB8AC3E}">
        <p14:creationId xmlns:p14="http://schemas.microsoft.com/office/powerpoint/2010/main" val="44253904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23 | MAIN TALK | Suggested 40 seconds</a:t>
            </a:r>
          </a:p>
          <a:p/>
          <a:p>
            <a:r>
              <a:t>SPEAKER NOTES</a:t>
            </a:r>
          </a:p>
          <a:p>
            <a:r>
              <a:t>The spatial and temporal analyses now converge on a set of candidate intrinsic and extrinsic regulators. The next challenge is experimental scale. Testing every gene separately with conventional genetics would be slow, and embryonic lethality can obscure a postnatal role. We wanted to test candidates efficiently while preserving the physiological environment of the developing heart. This motivates the second major contribution of the paper: a nuclei-based in vivo Perturb-seq platform designed for cardiomyocytes.</a:t>
            </a:r>
          </a:p>
          <a:p/>
          <a:p>
            <a:r>
              <a:t>PUBLISHED SOURCE</a:t>
            </a:r>
          </a:p>
          <a:p>
            <a:r>
              <a:t>Wang, Dong, Song et al. Nature Cardiovascular Research (2026). DOI: 10.1038/s44161-026-00861-z.</a:t>
            </a:r>
          </a:p>
          <a:p>
            <a:r>
              <a:t>Fig. 4–5; original candidate overview</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sz="quarter" idx="5"/>
          </p:nvPr>
        </p:nvSpPr>
        <p:spPr/>
        <p:txBody>
          <a:bodyPr/>
          <a:lstStyle/>
          <a:p>
            <a:fld id="{3C75CF05-D4EB-41BA-9F20-235FDF90A6F2}" type="slidenum">
              <a:rPr lang="en-US" smtClean="0"/>
              <a:pPr/>
              <a:t>10</a:t>
            </a:fld>
            <a:endParaRPr lang="en-US"/>
          </a:p>
        </p:txBody>
      </p:sp>
    </p:spTree>
    <p:extLst>
      <p:ext uri="{BB962C8B-B14F-4D97-AF65-F5344CB8AC3E}">
        <p14:creationId xmlns:p14="http://schemas.microsoft.com/office/powerpoint/2010/main" val="4565772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24 | MAIN TALK | Suggested 55 seconds</a:t>
            </a:r>
          </a:p>
          <a:p/>
          <a:p>
            <a:r>
              <a:t>SPEAKER NOTES</a:t>
            </a:r>
          </a:p>
          <a:p>
            <a:r>
              <a:t>Perturb-seq combines a pooled CRISPR screen with a single-cell transcriptomic readout. For each profiled cell, the goal is to identify the perturbation and measure the resulting RNA phenotype. This allows many candidate genes to be compared in parallel. The challenge for the postnatal heart is that CMs are large and difficult to recover reliably as intact cells. A nuclear readout is attractive, but guide detection and perturbation assignment must work well in nuclei. We therefore adapted the strategy around probe-based nuclear profiling.</a:t>
            </a:r>
          </a:p>
          <a:p/>
          <a:p>
            <a:r>
              <a:t>PUBLISHED SOURCE</a:t>
            </a:r>
          </a:p>
          <a:p>
            <a:r>
              <a:t>Wang, Dong, Song et al. Nature Cardiovascular Research (2026). DOI: 10.1038/s44161-026-00861-z.</a:t>
            </a:r>
          </a:p>
          <a:p>
            <a:r>
              <a:t>Original Perturb-seq background; paper Introduction</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sz="quarter" idx="10"/>
          </p:nvPr>
        </p:nvSpPr>
        <p:spPr/>
        <p:txBody>
          <a:bodyPr/>
          <a:lstStyle/>
          <a:p>
            <a:fld id="{3C75CF05-D4EB-41BA-9F20-235FDF90A6F2}" type="slidenum">
              <a:rPr lang="en-US" smtClean="0"/>
              <a:pPr/>
              <a:t>11</a:t>
            </a:fld>
            <a:endParaRPr lang="en-US"/>
          </a:p>
        </p:txBody>
      </p:sp>
    </p:spTree>
    <p:extLst>
      <p:ext uri="{BB962C8B-B14F-4D97-AF65-F5344CB8AC3E}">
        <p14:creationId xmlns:p14="http://schemas.microsoft.com/office/powerpoint/2010/main" val="42865514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25 | MAIN TALK | Suggested 80 seconds</a:t>
            </a:r>
          </a:p>
          <a:p/>
          <a:p>
            <a:r>
              <a:t>SPEAKER NOTES</a:t>
            </a:r>
          </a:p>
          <a:p>
            <a:r>
              <a:t>PIP-seq stands for probe-based, indel-detectable Perturb-seq. The AAV9 vector carries dual guide RNAs and CM-directed Cre. In mice with Cas9 and a Cre-dependent nuclear-envelope GFP reporter, this labels the targeted CM nuclei and enables their enrichment. A probe-based single-nucleus assay then profiles the transcriptome together with custom guide and target-site probes. The key biological advantage is that the perturbation occurs in the intact heart, while the nuclear readout makes cardiomyocytes accessible to a pooled functional-genomics strategy.</a:t>
            </a:r>
          </a:p>
          <a:p/>
          <a:p>
            <a:r>
              <a:t>PUBLISHED SOURCE</a:t>
            </a:r>
          </a:p>
          <a:p>
            <a:r>
              <a:t>Wang, Dong, Song et al. Nature Cardiovascular Research (2026). DOI: 10.1038/s44161-026-00861-z.</a:t>
            </a:r>
          </a:p>
          <a:p>
            <a:r>
              <a:t>Fig. 6a–c; original PIP-seq vector and imaging panels</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sz="quarter" idx="5"/>
          </p:nvPr>
        </p:nvSpPr>
        <p:spPr/>
        <p:txBody>
          <a:bodyPr/>
          <a:lstStyle/>
          <a:p>
            <a:fld id="{3C75CF05-D4EB-41BA-9F20-235FDF90A6F2}" type="slidenum">
              <a:rPr lang="en-US" smtClean="0"/>
              <a:pPr/>
              <a:t>12</a:t>
            </a:fld>
            <a:endParaRPr lang="en-US"/>
          </a:p>
        </p:txBody>
      </p:sp>
    </p:spTree>
    <p:extLst>
      <p:ext uri="{BB962C8B-B14F-4D97-AF65-F5344CB8AC3E}">
        <p14:creationId xmlns:p14="http://schemas.microsoft.com/office/powerpoint/2010/main" val="23412753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27 | MAIN TALK | Suggested 70 seconds</a:t>
            </a:r>
          </a:p>
          <a:p/>
          <a:p>
            <a:r>
              <a:t>SPEAKER NOTES</a:t>
            </a:r>
          </a:p>
          <a:p>
            <a:r>
              <a:t>The study screened fifty candidate regulators, including intracellular and intercellular components, and recovered 5,706 nuclei with at least one assigned guide. Non-targeting guides and known maturation regulators provided negative and positive controls. The workflow connects neonatal perturbation to the P14 transcriptional readout. The embedding summarizes the perturbation-associated RNA phenotypes. The important output is not simply cluster separation, but the ability to compare each candidate’s effect on maturation-related gene programs.</a:t>
            </a:r>
          </a:p>
          <a:p/>
          <a:p>
            <a:r>
              <a:t>PUBLISHED SOURCE</a:t>
            </a:r>
          </a:p>
          <a:p>
            <a:r>
              <a:t>Wang, Dong, Song et al. Nature Cardiovascular Research (2026). DOI: 10.1038/s44161-026-00861-z.</a:t>
            </a:r>
          </a:p>
          <a:p>
            <a:r>
              <a:t>Fig. 6d; published screen Results</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sz="quarter" idx="5"/>
          </p:nvPr>
        </p:nvSpPr>
        <p:spPr/>
        <p:txBody>
          <a:bodyPr/>
          <a:lstStyle/>
          <a:p>
            <a:fld id="{3C75CF05-D4EB-41BA-9F20-235FDF90A6F2}" type="slidenum">
              <a:rPr lang="en-US" smtClean="0"/>
              <a:pPr/>
              <a:t>13</a:t>
            </a:fld>
            <a:endParaRPr lang="en-US"/>
          </a:p>
        </p:txBody>
      </p:sp>
    </p:spTree>
    <p:extLst>
      <p:ext uri="{BB962C8B-B14F-4D97-AF65-F5344CB8AC3E}">
        <p14:creationId xmlns:p14="http://schemas.microsoft.com/office/powerpoint/2010/main" val="8325119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28 | MAIN TALK | Suggested 80 seconds</a:t>
            </a:r>
          </a:p>
          <a:p/>
          <a:p>
            <a:r>
              <a:t>SPEAKER NOTES</a:t>
            </a:r>
          </a:p>
          <a:p>
            <a:r>
              <a:t>The matrix summarizes how each perturbation changes different maturation-associated programs. Known regulators recover expected phenotypes, while new candidates show broad or selective patterns. This is why a multidimensional phenotype is useful: a gene can affect contraction, electrical development and metabolic programs differently. Among the fifty regulators, the published study identifies twenty-three genes affecting at least one program, including the two positive controls. The screen therefore nominates twenty-one additional candidates for follow-up. The next step is to test whether those RNA changes predict meaningful cellular and organ-level consequences.</a:t>
            </a:r>
          </a:p>
          <a:p/>
          <a:p>
            <a:r>
              <a:t>PUBLISHED SOURCE</a:t>
            </a:r>
          </a:p>
          <a:p>
            <a:r>
              <a:t>Wang, Dong, Song et al. Nature Cardiovascular Research (2026). DOI: 10.1038/s44161-026-00861-z.</a:t>
            </a:r>
          </a:p>
          <a:p>
            <a:r>
              <a:t>Fig. 6e; original perturbation matrix</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sz="quarter" idx="5"/>
          </p:nvPr>
        </p:nvSpPr>
        <p:spPr/>
        <p:txBody>
          <a:bodyPr/>
          <a:lstStyle/>
          <a:p>
            <a:fld id="{3C75CF05-D4EB-41BA-9F20-235FDF90A6F2}" type="slidenum">
              <a:rPr lang="en-US" smtClean="0"/>
              <a:pPr/>
              <a:t>14</a:t>
            </a:fld>
            <a:endParaRPr lang="en-US"/>
          </a:p>
        </p:txBody>
      </p:sp>
    </p:spTree>
    <p:extLst>
      <p:ext uri="{BB962C8B-B14F-4D97-AF65-F5344CB8AC3E}">
        <p14:creationId xmlns:p14="http://schemas.microsoft.com/office/powerpoint/2010/main" val="376266719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36 | MAIN TALK | Suggested 25 seconds</a:t>
            </a:r>
          </a:p>
          <a:p/>
          <a:p>
            <a:r>
              <a:t>SPEAKER NOTES</a:t>
            </a:r>
          </a:p>
          <a:p>
            <a:r>
              <a:t>There are three main contributions. First, the atlas describes postnatal cardiac development at spatial and temporal resolution. Second, it connects cellular neighborhoods and signaling candidates with intrinsic regulatory programs. Third, PIP-seq enables functional testing directly in the postnatal heart, and targeted validation demonstrates that a screen-nominated regulator affects structure, cellular performance and heart function. The resulting framework moves from tissue organization to gene function. It also provides a foundation for improving the maturation of stem-cell-derived or reprogrammed CMs, which remains a future application rather than an outcome established here.</a:t>
            </a:r>
          </a:p>
          <a:p/>
          <a:p>
            <a:r>
              <a:t>PUBLISHED SOURCE</a:t>
            </a:r>
          </a:p>
          <a:p>
            <a:r>
              <a:t>Wang, Dong, Song et al. Nature Cardiovascular Research (2026). DOI: 10.1038/s44161-026-00861-z.</a:t>
            </a:r>
          </a:p>
          <a:p>
            <a:r>
              <a:t>Study synthesis; Fig. 1–7</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sz="quarter" idx="5"/>
          </p:nvPr>
        </p:nvSpPr>
        <p:spPr/>
        <p:txBody>
          <a:bodyPr/>
          <a:lstStyle/>
          <a:p>
            <a:fld id="{3C75CF05-D4EB-41BA-9F20-235FDF90A6F2}" type="slidenum">
              <a:rPr lang="en-US" smtClean="0"/>
              <a:pPr/>
              <a:t>15</a:t>
            </a:fld>
            <a:endParaRPr lang="en-US"/>
          </a:p>
        </p:txBody>
      </p:sp>
    </p:spTree>
    <p:extLst>
      <p:ext uri="{BB962C8B-B14F-4D97-AF65-F5344CB8AC3E}">
        <p14:creationId xmlns:p14="http://schemas.microsoft.com/office/powerpoint/2010/main" val="2434221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SLIDE 37 | MAIN TALK | Suggested 20 seconds</a:t>
            </a:r>
          </a:p>
          <a:p/>
          <a:p>
            <a:r>
              <a:t>SPEAKER NOTES</a:t>
            </a:r>
          </a:p>
          <a:p>
            <a:r>
              <a:t>I would like to thank the members of the Liu and Qian laboratories, our collaborators and colleagues, and the funding organizations that supported the work. The original acknowledgment slide is retained with the supplied names, photographs and funder logos. Thank you, and I welcome your questions.</a:t>
            </a:r>
          </a:p>
          <a:p/>
          <a:p>
            <a:r>
              <a:t>PUBLISHED SOURCE</a:t>
            </a:r>
          </a:p>
          <a:p>
            <a:r>
              <a:t>Wang, Dong, Song et al. Nature Cardiovascular Research (2026). DOI: 10.1038/s44161-026-00861-z.</a:t>
            </a:r>
          </a:p>
          <a:p>
            <a:r>
              <a:t>Original acknowledgments; unchanged names, photographs and funder logos</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灯片编号占位符 3"/>
          <p:cNvSpPr>
            <a:spLocks noGrp="1"/>
          </p:cNvSpPr>
          <p:nvPr>
            <p:ph type="sldNum" sz="quarter" idx="10"/>
          </p:nvPr>
        </p:nvSpPr>
        <p:spPr/>
        <p:txBody>
          <a:bodyPr/>
          <a:lstStyle/>
          <a:p>
            <a:fld id="{66DBC2E9-7E67-4888-8579-37A521F0B274}" type="slidenum">
              <a:rPr lang="zh-CN" altLang="en-US" smtClean="0"/>
              <a:t>16</a:t>
            </a:fld>
            <a:endParaRPr lang="zh-CN" altLang="en-US"/>
          </a:p>
        </p:txBody>
      </p:sp>
    </p:spTree>
    <p:extLst>
      <p:ext uri="{BB962C8B-B14F-4D97-AF65-F5344CB8AC3E}">
        <p14:creationId xmlns:p14="http://schemas.microsoft.com/office/powerpoint/2010/main" val="3823199398"/>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MAIN TALK | Suggested 75 seconds</a:t>
            </a:r>
          </a:p>
          <a:p/>
          <a:p>
            <a:r>
              <a:t>SPEAKER NOTES</a:t>
            </a:r>
          </a:p>
          <a:p>
            <a:r>
              <a:t>Within the major lineages, the paper resolves 25 transcriptional and spatial states. Among CMs, Ankrd1-associated cells are enriched in the left ventricle and peri-arteriolar regions early in development, while Slit2-associated cells occupy trabecular myocardium. Endothelial states correspond to different vascular structures, and fibroblasts include Postn-, Col8a1-, Gfpt2- and anatomically restricted populations. The concentric plots summarize how their proportions change with age. Most states persist, but their relative representation changes substantially. These observations show that postnatal development involves both changes within cells and remodeling of the cellular environment around them.</a:t>
            </a:r>
          </a:p>
          <a:p/>
          <a:p>
            <a:r>
              <a:t>PUBLISHED SOURCE</a:t>
            </a:r>
          </a:p>
          <a:p>
            <a:r>
              <a:t>Wang, Dong, Song et al. Nature Cardiovascular Research (2026). DOI: 10.1038/s44161-026-00861-z.</a:t>
            </a:r>
          </a:p>
          <a:p>
            <a:r>
              <a:t>Fig. 1j,k</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MAIN TALK | Suggested 60 seconds</a:t>
            </a:r>
          </a:p>
          <a:p/>
          <a:p>
            <a:r>
              <a:t>SPEAKER NOTES</a:t>
            </a:r>
          </a:p>
          <a:p>
            <a:r>
              <a:t>The proliferative populations provide a useful example of temporal coordination. Proliferative CMs are most abundant at P0 and diminish by P14, consistent with the transition from hyperplastic to hypertrophic growth. Proliferative fibroblasts show a transient enrichment around P7. Endothelial proliferation is also developmentally regulated; the paper’s Ki67 staining supports an overall decline from P0 to P21. The RNA-defined proliferative state and the independent proliferation stain should not be treated as identical measurements. Together, they show that the different cellular components do not all follow the same growth schedule.</a:t>
            </a:r>
          </a:p>
          <a:p/>
          <a:p>
            <a:r>
              <a:t>PUBLISHED SOURCE</a:t>
            </a:r>
          </a:p>
          <a:p>
            <a:r>
              <a:t>Wang, Dong, Song et al. Nature Cardiovascular Research (2026). DOI: 10.1038/s44161-026-00861-z.</a:t>
            </a:r>
          </a:p>
          <a:p>
            <a:r>
              <a:t>Fig. 1l; Supplementary Fig. 10b</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 MAIN TALK | Suggested 80 seconds</a:t>
            </a:r>
          </a:p>
          <a:p/>
          <a:p>
            <a:r>
              <a:t>SPEAKER NOTES</a:t>
            </a:r>
          </a:p>
          <a:p>
            <a:r>
              <a:t>The study identifies twelve cellular neighborhoods. Eight are represented across all stages, while the timepoint-specific neighborhoods are confined to the ventricle. Their cellular compositions help explain the anatomy: an endocardial and Slit2-CM-rich niche corresponds to trabecular myocardium, and a capillary/pericyte-enriched niche emerges at P7 and expands later. Other ventricular niches differ between the early and later stages. This provides a tissue-level description of development: the local combinations of cells change as the ventricle grows and specializes. The next question is whether these neighborhoods also differ in their communication programs.</a:t>
            </a:r>
          </a:p>
          <a:p/>
          <a:p>
            <a:r>
              <a:t>PUBLISHED SOURCE</a:t>
            </a:r>
          </a:p>
          <a:p>
            <a:r>
              <a:t>Wang, Dong, Song et al. Nature Cardiovascular Research (2026). DOI: 10.1038/s44161-026-00861-z.</a:t>
            </a:r>
          </a:p>
          <a:p>
            <a:r>
              <a:t>Fig. 2a–c</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 MAIN TALK | Suggested 60 seconds</a:t>
            </a:r>
          </a:p>
          <a:p/>
          <a:p>
            <a:r>
              <a:t>SPEAKER NOTES</a:t>
            </a:r>
          </a:p>
          <a:p>
            <a:r>
              <a:t>The SEMA3 pathway illustrates why spatial resolution matters. Different ligand–receptor combinations show different distributions across the same tissue section. The paper links Sema3c–Plxnd1 activity with trabecular and compact ventricular regions, while another SEMA3 interaction is more restricted to the trabecular niche. We do not need to read every receptor name to see the main point: a pathway-level label can conceal regional specificity. Position helps distinguish which molecular interaction may be relevant to a particular developmental territory.</a:t>
            </a:r>
          </a:p>
          <a:p/>
          <a:p>
            <a:r>
              <a:t>PUBLISHED SOURCE</a:t>
            </a:r>
          </a:p>
          <a:p>
            <a:r>
              <a:t>Wang, Dong, Song et al. Nature Cardiovascular Research (2026). DOI: 10.1038/s44161-026-00861-z.</a:t>
            </a:r>
          </a:p>
          <a:p>
            <a:r>
              <a:t>Fig. 2g,h</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MAIN TALK | Suggested 70 seconds</a:t>
            </a:r>
          </a:p>
          <a:p/>
          <a:p>
            <a:r>
              <a:t>SPEAKER NOTES</a:t>
            </a:r>
          </a:p>
          <a:p>
            <a:r>
              <a:t>We then focused on coronary plexus expansion. Capillary ECs receive signals from their neighboring ECs and from ventricular CMs. The paper identifies Kitl–Kit as a prominent, relatively specific candidate interaction received by proliferative ECs, with peak inferred activity at P7. The spatial maps show where this activity occurs during development. This example turns a broad question about angiogenesis into a more specific one: which extracellular cue is associated with a defined proliferative endothelial state, and which downstream transcriptional program might respond to that cue?</a:t>
            </a:r>
          </a:p>
          <a:p/>
          <a:p>
            <a:r>
              <a:t>PUBLISHED SOURCE</a:t>
            </a:r>
          </a:p>
          <a:p>
            <a:r>
              <a:t>Wang, Dong, Song et al. Nature Cardiovascular Research (2026). DOI: 10.1038/s44161-026-00861-z.</a:t>
            </a:r>
          </a:p>
          <a:p>
            <a:r>
              <a:t>Fig. 2k,l</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 MAIN TALK | Suggested 70 seconds</a:t>
            </a:r>
          </a:p>
          <a:p/>
          <a:p>
            <a:r>
              <a:t>SPEAKER NOTES</a:t>
            </a:r>
          </a:p>
          <a:p>
            <a:r>
              <a:t>To connect a signaling proposal with a transcriptional response, we developed SigNET. The method integrates receptor-associated expression patterns with SCENIC-derived regulatory networks. Applied to KITL–KIT, it nominates ELK3 and an associated endothelial migration and sprouting program. The diagram summarizes the resulting working model. This illustrates the role of SigNET in the study: it does not simply list nearby ligands and receptors, but nominates regulatory programs that could connect the extracellular environment to cell behavior. Those links then become candidates for functional experiments.</a:t>
            </a:r>
          </a:p>
          <a:p/>
          <a:p>
            <a:r>
              <a:t>PUBLISHED SOURCE</a:t>
            </a:r>
          </a:p>
          <a:p>
            <a:r>
              <a:t>Wang, Dong, Song et al. Nature Cardiovascular Research (2026). DOI: 10.1038/s44161-026-00861-z.</a:t>
            </a:r>
          </a:p>
          <a:p>
            <a:r>
              <a:t>Fig. 3e–h</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 MAIN TALK | Suggested 55 seconds</a:t>
            </a:r>
          </a:p>
          <a:p/>
          <a:p>
            <a:r>
              <a:t>SPEAKER NOTES</a:t>
            </a:r>
          </a:p>
          <a:p>
            <a:r>
              <a:t>Temporal change is not the whole story. Regulon activity is also spatially organized. The paper highlights Rfx2 activity in atrial regions and Foxc1 activity near inner chamber linings and the outflow tract. This demonstrates that regulatory activity can have a clear anatomical pattern, even when we consider cells at the same developmental stage. It reinforces the need to examine time and space together rather than reduce every transcriptional difference to age. That combined view is particularly important when we turn to cardiomyocyte maturation.</a:t>
            </a:r>
          </a:p>
          <a:p/>
          <a:p>
            <a:r>
              <a:t>PUBLISHED SOURCE</a:t>
            </a:r>
          </a:p>
          <a:p>
            <a:r>
              <a:t>Wang, Dong, Song et al. Nature Cardiovascular Research (2026). DOI: 10.1038/s44161-026-00861-z.</a:t>
            </a:r>
          </a:p>
          <a:p>
            <a:r>
              <a:t>Fig. 3c,d</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 MAIN TALK | Suggested 70 seconds</a:t>
            </a:r>
          </a:p>
          <a:p/>
          <a:p>
            <a:r>
              <a:t>SPEAKER NOTES</a:t>
            </a:r>
          </a:p>
          <a:p>
            <a:r>
              <a:t>The spatial maps and score distributions show a progressive shift from P0 to P21. The paper also benchmarks the index against an independent developmental bulk RNA-seq dataset and performs leave-one-gene-out checks, supporting its use as a temporal transcriptional proxy. These are the paper’s published data, not our separate reanalysis. At the same time, the within-stage spread remains substantial. The developmental trend gives us confidence that the index is informative, while the spatial heterogeneity suggests an additional role for regional context.</a:t>
            </a:r>
          </a:p>
          <a:p/>
          <a:p>
            <a:r>
              <a:t>PUBLISHED SOURCE</a:t>
            </a:r>
          </a:p>
          <a:p>
            <a:r>
              <a:t>Wang, Dong, Song et al. Nature Cardiovascular Research (2026). DOI: 10.1038/s44161-026-00861-z.</a:t>
            </a:r>
          </a:p>
          <a:p>
            <a:r>
              <a:t>Fig. 4c,d; Supplementary Fig. 19</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 MAIN TALK | Suggested 80 seconds</a:t>
            </a:r>
          </a:p>
          <a:p/>
          <a:p>
            <a:r>
              <a:t>SPEAKER NOTES</a:t>
            </a:r>
          </a:p>
          <a:p>
            <a:r>
              <a:t>In the P7 heart, CMs positioned closer to capillary ECs, pericytes and proliferative ECs have higher maturation scores. The paper assigns neighborhood levels from a spatial graph; these levels are ordinal graph steps, not fixed micrometer distances. The plots summarize maturation by neighborhood level. The result associates a microvascular environment with CM maturation and motivates examination of local signaling. It does not alone distinguish vascular support, a local instructive cue, reciprocal CM–vascular communication or shared regional development. The next analysis asks which contact-associated candidates fit this spatial pattern.</a:t>
            </a:r>
          </a:p>
          <a:p/>
          <a:p>
            <a:r>
              <a:t>PUBLISHED SOURCE</a:t>
            </a:r>
          </a:p>
          <a:p>
            <a:r>
              <a:t>Wang, Dong, Song et al. Nature Cardiovascular Research (2026). DOI: 10.1038/s44161-026-00861-z.</a:t>
            </a:r>
          </a:p>
          <a:p>
            <a:r>
              <a:t>Fig. 4e</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 MAIN TALK | Suggested 70 seconds</a:t>
            </a:r>
          </a:p>
          <a:p/>
          <a:p>
            <a:r>
              <a:t>SPEAKER NOTES</a:t>
            </a:r>
          </a:p>
          <a:p>
            <a:r>
              <a:t>Among the candidate juxtacrine pathways, PTPRM-compatible activity becomes spatially localized between adjacent capillary ECs and CMs from P7 onward. PTPRM is a transmembrane protein tyrosine phosphatase with roles in differentiation and migration. The expression plots and local map connect the molecular candidate with the microvascular relationship we just saw. The paper further detects PTPRM protein at EC–CM boundaries. Together, these observations prioritize a specific contact-associated candidate, rather than treating every nearby endothelial cell as an equivalent source of maturation support.</a:t>
            </a:r>
          </a:p>
          <a:p/>
          <a:p>
            <a:r>
              <a:t>PUBLISHED SOURCE</a:t>
            </a:r>
          </a:p>
          <a:p>
            <a:r>
              <a:t>Wang, Dong, Song et al. Nature Cardiovascular Research (2026). DOI: 10.1038/s44161-026-00861-z.</a:t>
            </a:r>
          </a:p>
          <a:p>
            <a:r>
              <a:t>Fig. 4f–h</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 MAIN TALK | Suggested 70 seconds</a:t>
            </a:r>
          </a:p>
          <a:p/>
          <a:p>
            <a:r>
              <a:t>SPEAKER NOTES</a:t>
            </a:r>
          </a:p>
          <a:p>
            <a:r>
              <a:t>SigNET nominates MEIS1 as a candidate downstream transcriptional link. That is biologically plausible because MEIS1 has an established role in postnatal CM cell-cycle exit. The target program includes growth- and proliferation-related functions. In the published follow-up, Ptprm perturbation increases cell-cycle-associated RNA and reduces Meis1 and maturation-associated transcripts at P8. This supports a role for the candidate in the maturation-associated program. The complete source-to-receptor-to-mediator chain remains a model, but this example shows how the atlas can lead from a spatial association to a focused genetic test.</a:t>
            </a:r>
          </a:p>
          <a:p/>
          <a:p>
            <a:r>
              <a:t>PUBLISHED SOURCE</a:t>
            </a:r>
          </a:p>
          <a:p>
            <a:r>
              <a:t>Wang, Dong, Song et al. Nature Cardiovascular Research (2026). DOI: 10.1038/s44161-026-00861-z.</a:t>
            </a:r>
          </a:p>
          <a:p>
            <a:r>
              <a:t>Fig. 4i,j; Extended Data Fig. 7</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 MAIN TALK | Suggested 60 seconds</a:t>
            </a:r>
          </a:p>
          <a:p/>
          <a:p>
            <a:r>
              <a:t>SPEAKER NOTES</a:t>
            </a:r>
          </a:p>
          <a:p>
            <a:r>
              <a:t>The study used random-forest models to relate COMMOT-inferred ligand–receptor activities to individual-CM maturation indices. The model performance and feature-importance plots identify signaling activities associated with the score. NAMPT–INSR is among the highlighted candidates, while BMP-associated features show a different relationship. The useful biological output is a prioritized list of pathways to test. Predictive importance alone does not establish that changing a ligand or receptor will cause the predicted maturation effect, which is why the next part of the work moves into perturbation.</a:t>
            </a:r>
          </a:p>
          <a:p/>
          <a:p>
            <a:r>
              <a:t>PUBLISHED SOURCE</a:t>
            </a:r>
          </a:p>
          <a:p>
            <a:r>
              <a:t>Wang, Dong, Song et al. Nature Cardiovascular Research (2026). DOI: 10.1038/s44161-026-00861-z.</a:t>
            </a:r>
          </a:p>
          <a:p>
            <a:r>
              <a:t>Fig. 5f–h</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 MAIN TALK | Suggested 70 seconds</a:t>
            </a:r>
          </a:p>
          <a:p/>
          <a:p>
            <a:r>
              <a:t>SPEAKER NOTES</a:t>
            </a:r>
          </a:p>
          <a:p>
            <a:r>
              <a:t>WGCNA identifies four temporally regulated CM gene modules. The modules increasing around P7 and P14 include programs related to contraction, membrane potential and fatty-acid transport, whereas another module declines and includes WNT-related processes. This provides a complementary view of maturation as coordinated but distinct transcriptional programs. It also gives us meaningful phenotype modules for the functional screen: a regulator may influence several aspects of maturation or preferentially affect one component. These broader RNA modules are separate from the 21-gene Xenium index used in the spatial analysis.</a:t>
            </a:r>
          </a:p>
          <a:p/>
          <a:p>
            <a:r>
              <a:t>PUBLISHED SOURCE</a:t>
            </a:r>
          </a:p>
          <a:p>
            <a:r>
              <a:t>Wang, Dong, Song et al. Nature Cardiovascular Research (2026). DOI: 10.1038/s44161-026-00861-z.</a:t>
            </a:r>
          </a:p>
          <a:p>
            <a:r>
              <a:t>Fig. 5a–c</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26 | MAIN TALK | Suggested 65 seconds</a:t>
            </a:r>
          </a:p>
          <a:p/>
          <a:p>
            <a:r>
              <a:t>SPEAKER NOTES</a:t>
            </a:r>
          </a:p>
          <a:p>
            <a:r>
              <a:t>The platform uses two complementary probe designs. Guide-detection probes recover perturbation identity. Perturbation-detection probes bind a wild-type target sequence and can lose signal when an indel disrupts complementarity at that site. The latter gives additional RNA-based evidence of a perturbation beyond detecting the guide alone. It is not an absolute biallelic-editing measurement, so the study also uses controls and targeted validation. This design is particularly useful in nuclei, where guide transcripts are otherwise difficult to capture efficiently.</a:t>
            </a:r>
          </a:p>
          <a:p/>
          <a:p>
            <a:r>
              <a:t>PUBLISHED SOURCE</a:t>
            </a:r>
          </a:p>
          <a:p>
            <a:r>
              <a:t>Wang, Dong, Song et al. Nature Cardiovascular Research (2026). DOI: 10.1038/s44161-026-00861-z.</a:t>
            </a:r>
          </a:p>
          <a:p>
            <a:r>
              <a:t>Fig. 6c; Supplementary Fig. 24d</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29 | MAIN TALK | Suggested 60 seconds</a:t>
            </a:r>
          </a:p>
          <a:p/>
          <a:p>
            <a:r>
              <a:t>SPEAKER NOTES</a:t>
            </a:r>
          </a:p>
          <a:p>
            <a:r>
              <a:t>The number of dysregulated programs and the similarity between perturbation fingerprints help prioritize candidates. Some genes have broad effects across the maturation program. Others resemble known metabolic regulators or affect more specific components. These patterns suggest both distinct and cooperative roles for the candidate genes. They also guide experimental design: a broad transcriptional phenotype should be followed with several independent functional assays. We selected Rreb1 for detailed validation because its postnatal role was poorly defined and conventional loss is embryonically lethal.</a:t>
            </a:r>
          </a:p>
          <a:p/>
          <a:p>
            <a:r>
              <a:t>PUBLISHED SOURCE</a:t>
            </a:r>
          </a:p>
          <a:p>
            <a:r>
              <a:t>Wang, Dong, Song et al. Nature Cardiovascular Research (2026). DOI: 10.1038/s44161-026-00861-z.</a:t>
            </a:r>
          </a:p>
          <a:p>
            <a:r>
              <a:t>Fig. 6f,g</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30 | MAIN TALK | Suggested 75 seconds</a:t>
            </a:r>
          </a:p>
          <a:p/>
          <a:p>
            <a:r>
              <a:t>SPEAKER NOTES</a:t>
            </a:r>
          </a:p>
          <a:p>
            <a:r>
              <a:t>To study Rreb1 after birth, the authors injected the targeting virus into neonatal hearts and evaluated CMs at P14, with additional maturation and heart-function assays at P35. GFP-positive, sgRreb1-targeted CMs were smaller than GFP-negative CMs in the same heart. The within-heart comparison helps reduce variability between animals. This is a structural phenotype consistent with the screen, but cell size alone is not sufficient to establish the full maturation phenotype. We therefore followed the candidate across additional structural, electrical and metabolic measurements.</a:t>
            </a:r>
          </a:p>
          <a:p/>
          <a:p>
            <a:r>
              <a:t>PUBLISHED SOURCE</a:t>
            </a:r>
          </a:p>
          <a:p>
            <a:r>
              <a:t>Wang, Dong, Song et al. Nature Cardiovascular Research (2026). DOI: 10.1038/s44161-026-00861-z.</a:t>
            </a:r>
          </a:p>
          <a:p>
            <a:r>
              <a:t>Fig. 7a–c</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31 | MAIN TALK | Suggested 65 seconds</a:t>
            </a:r>
          </a:p>
          <a:p/>
          <a:p>
            <a:r>
              <a:t>SPEAKER NOTES</a:t>
            </a:r>
          </a:p>
          <a:p>
            <a:r>
              <a:t>At P35, Rreb1-targeted CMs show more disrupted T-tubule structure than neighboring comparison cells. T-tubules are important for organizing excitation–contraction coupling, so this extends the growth phenotype to a specific component of mature cellular architecture. The images and quantification agree with impaired structural development. We next asked whether these changes were accompanied by altered electrical behavior, contraction and mitochondrial performance.</a:t>
            </a:r>
          </a:p>
          <a:p/>
          <a:p>
            <a:r>
              <a:t>PUBLISHED SOURCE</a:t>
            </a:r>
          </a:p>
          <a:p>
            <a:r>
              <a:t>Wang, Dong, Song et al. Nature Cardiovascular Research (2026). DOI: 10.1038/s44161-026-00861-z.</a:t>
            </a:r>
          </a:p>
          <a:p>
            <a:r>
              <a:t>Fig. 7d,e</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32 | MAIN TALK | Suggested 65 seconds</a:t>
            </a:r>
          </a:p>
          <a:p/>
          <a:p>
            <a:r>
              <a:t>SPEAKER NOTES</a:t>
            </a:r>
          </a:p>
          <a:p>
            <a:r>
              <a:t>The published fluorescence-based electrical and contraction assays show changes after Rreb1 perturbation. These measurements extend the phenotype beyond RNA and morphology. The traces should be interpreted according to the assay: voltage-sensitive fluorescence is not a calibrated membrane-voltage measurement, and the contraction signal describes behavior rather than direct force. Together with the structural results, however, they support a broad contribution of the regulator to postnatal CM performance.</a:t>
            </a:r>
          </a:p>
          <a:p/>
          <a:p>
            <a:r>
              <a:t>PUBLISHED SOURCE</a:t>
            </a:r>
          </a:p>
          <a:p>
            <a:r>
              <a:t>Wang, Dong, Song et al. Nature Cardiovascular Research (2026). DOI: 10.1038/s44161-026-00861-z.</a:t>
            </a:r>
          </a:p>
          <a:p>
            <a:r>
              <a:t>Fig. 7f,g</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33 | MAIN TALK | Suggested 60 seconds</a:t>
            </a:r>
          </a:p>
          <a:p/>
          <a:p>
            <a:r>
              <a:t>SPEAKER NOTES</a:t>
            </a:r>
          </a:p>
          <a:p>
            <a:r>
              <a:t>Maturation also requires the energetic capacity to sustain contraction. In the mitochondrial stress test, Rreb1-targeted cells show reduced maximal respiration compared with non-targeting controls. This adds a metabolic dimension to the phenotype. The candidate identified through the RNA screen therefore affects structural organization, cellular activity and energetic capacity. The next question is whether these cellular effects translate into a measurable consequence for the intact heart.</a:t>
            </a:r>
          </a:p>
          <a:p/>
          <a:p>
            <a:r>
              <a:t>PUBLISHED SOURCE</a:t>
            </a:r>
          </a:p>
          <a:p>
            <a:r>
              <a:t>Wang, Dong, Song et al. Nature Cardiovascular Research (2026). DOI: 10.1038/s44161-026-00861-z.</a:t>
            </a:r>
          </a:p>
          <a:p>
            <a:r>
              <a:t>Fig. 7h</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34 | MAIN TALK | Suggested 75 seconds</a:t>
            </a:r>
          </a:p>
          <a:p/>
          <a:p>
            <a:r>
              <a:t>SPEAKER NOTES</a:t>
            </a:r>
          </a:p>
          <a:p>
            <a:r>
              <a:t>At the later heart-level assessment, Rreb1 perturbation reduces fractional shortening and ejection fraction. The final paper reports seven non-targeting control mice and ten sgRreb1 mice for these comparisons. This is a particularly important validation step: the screen-nominated candidate is associated not just with an RNA signature but with impaired organ performance after targeted intervention. The higher-dose heart-function experiment is distinct from the mosaic within-heart cell comparisons. Together, the independent readouts establish a requirement for Rreb1 in normal postnatal cardiac maturation and function.</a:t>
            </a:r>
          </a:p>
          <a:p/>
          <a:p>
            <a:r>
              <a:t>PUBLISHED SOURCE</a:t>
            </a:r>
          </a:p>
          <a:p>
            <a:r>
              <a:t>Wang, Dong, Song et al. Nature Cardiovascular Research (2026). DOI: 10.1038/s44161-026-00861-z.</a:t>
            </a:r>
          </a:p>
          <a:p>
            <a:r>
              <a:t>Fig. 7i–k</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35 | MAIN TALK | Suggested 80 seconds</a:t>
            </a:r>
          </a:p>
          <a:p/>
          <a:p>
            <a:r>
              <a:t>SPEAKER NOTES</a:t>
            </a:r>
          </a:p>
          <a:p>
            <a:r>
              <a:t>Independent RNA sequencing of CM nuclei at the later stage shows coordinated suppression of maturation-linked genes after Rreb1 loss, consistent with the PIP-seq phenotype. Intersecting these downregulated genes with predicted Rreb1 targets identifies fourteen candidate targets, including Thra. The thyroid-hormone-associated program provides a plausible route connecting the regulator with several maturation processes. The figure summarizes the proposed model. The gene’s requirement is supported by the functional experiments; the precise downstream mediation remains a mechanistic direction for further work.</a:t>
            </a:r>
          </a:p>
          <a:p/>
          <a:p>
            <a:r>
              <a:t>PUBLISHED SOURCE</a:t>
            </a:r>
          </a:p>
          <a:p>
            <a:r>
              <a:t>Wang, Dong, Song et al. Nature Cardiovascular Research (2026). DOI: 10.1038/s44161-026-00861-z.</a:t>
            </a:r>
          </a:p>
          <a:p>
            <a:r>
              <a:t>Fig. 7l–o</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38 | BACKUP | Suggested 0 seconds</a:t>
            </a:r>
          </a:p>
          <a:p/>
          <a:p>
            <a:r>
              <a:t>SPEAKER NOTES</a:t>
            </a:r>
          </a:p>
          <a:p>
            <a:r>
              <a:t>The final paper uses twenty-one maturation genes embedded in the Xenium panel. The published Methods specify Seurat AddModuleScore: mean normalized module expression minus expression-matched control expression. The paper benchmarks the index against independent developmental bulk RNA-seq and reports a mean leave-one-out correlation of 0.997, with nearly all exclusions above 0.95. Those are the paper’s checks; no figures or results from our separate score reconstruction are included in this presentation.</a:t>
            </a:r>
          </a:p>
          <a:p/>
          <a:p>
            <a:r>
              <a:t>PUBLISHED SOURCE</a:t>
            </a:r>
          </a:p>
          <a:p>
            <a:r>
              <a:t>Wang, Dong, Song et al. Nature Cardiovascular Research (2026). DOI: 10.1038/s44161-026-00861-z.</a:t>
            </a:r>
          </a:p>
          <a:p>
            <a:r>
              <a:t>Maturation Methods; Fig. 4b; Supplementary Fig. 19</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39 | BACKUP | Suggested 0 seconds</a:t>
            </a:r>
          </a:p>
          <a:p/>
          <a:p>
            <a:r>
              <a:t>SPEAKER NOTES</a:t>
            </a:r>
          </a:p>
          <a:p>
            <a:r>
              <a:t>Of forty-three genes with detectable perturbation-detection probes, thirty-seven showed at least fifty percent reduced probe signal in the published comparison. This is a target-probe reduction result, not a direct whole-population biallelic-editing percentage. Positive controls and independent targeted validation provide additional evidence. The Rreb1 follow-up demonstrates why the screen should be used to nominate candidates that are then tested through orthogonal functional assays.</a:t>
            </a:r>
          </a:p>
          <a:p/>
          <a:p>
            <a:r>
              <a:t>PUBLISHED SOURCE</a:t>
            </a:r>
          </a:p>
          <a:p>
            <a:r>
              <a:t>Wang, Dong, Song et al. Nature Cardiovascular Research (2026). DOI: 10.1038/s44161-026-00861-z.</a:t>
            </a:r>
          </a:p>
          <a:p>
            <a:r>
              <a:t>PIP-seq Methods; Supplementary Fig. 24d</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40 | BACKUP | Suggested 0 seconds</a:t>
            </a:r>
          </a:p>
          <a:p/>
          <a:p>
            <a:r>
              <a:t>SPEAKER NOTES</a:t>
            </a:r>
          </a:p>
          <a:p>
            <a:r>
              <a:t>The distance penalties constrain modeled paracrine and juxtacrine activities. SCENIC nominates transcription-factor target programs, and SigNET connects receptor-associated patterns with these regulatory networks. The methods generate biologically focused hypotheses. Spatial compatibility and predictive importance do not establish each molecular step, so perturbation and functional validation remain necessary. All slides in this revised deck follow the published heart-atlas study; our later exploratory reanalysis is excluded.</a:t>
            </a:r>
          </a:p>
          <a:p/>
          <a:p>
            <a:r>
              <a:t>PUBLISHED SOURCE</a:t>
            </a:r>
          </a:p>
          <a:p>
            <a:r>
              <a:t>Wang, Dong, Song et al. Nature Cardiovascular Research (2026). DOI: 10.1038/s44161-026-00861-z.</a:t>
            </a:r>
          </a:p>
          <a:p>
            <a:r>
              <a:t>Fig. 2d; Fig. 3e; Methods</a:t>
            </a:r>
          </a:p>
          <a:p/>
          <a:p>
            <a:r>
              <a:t>FIGURE PROVENANCE</a:t>
            </a:r>
          </a:p>
          <a:p>
            <a:r>
              <a:t>Original supplied PowerPoint and author-supplied manuscript artwork. Headline claims and counts checked against the final published PMC13561863 article. No separate reanalysis results are included.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0">
          <a:blip r:embed="rId2"/>
          <a:srcRect/>
          <a:stretch>
            <a:fillRect/>
          </a:stretch>
        </a:blipFill>
        <a:effectLst/>
      </p:bgPr>
    </p:bg>
    <p:spTree>
      <p:nvGrpSpPr>
        <p:cNvPr id="1" name=""/>
        <p:cNvGrpSpPr/>
        <p:nvPr/>
      </p:nvGrpSpPr>
      <p:grpSpPr>
        <a:xfrm>
          <a:off x="0" y="0"/>
          <a:ext cx="0" cy="0"/>
          <a:chOff x="0" y="0"/>
          <a:chExt cx="0" cy="0"/>
        </a:xfrm>
      </p:grpSpPr>
      <p:sp>
        <p:nvSpPr>
          <p:cNvPr id="9218" name="Rectangle 2"/>
          <p:cNvSpPr>
            <a:spLocks noGrp="1" noChangeArrowheads="1"/>
          </p:cNvSpPr>
          <p:nvPr>
            <p:ph type="ctrTitle"/>
          </p:nvPr>
        </p:nvSpPr>
        <p:spPr>
          <a:xfrm>
            <a:off x="914400" y="1524001"/>
            <a:ext cx="10363200" cy="1470025"/>
          </a:xfrm>
        </p:spPr>
        <p:txBody>
          <a:bodyPr/>
          <a:lstStyle>
            <a:lvl1pPr>
              <a:defRPr sz="3600">
                <a:solidFill>
                  <a:schemeClr val="bg1"/>
                </a:solidFill>
              </a:defRPr>
            </a:lvl1pPr>
          </a:lstStyle>
          <a:p>
            <a:pPr lvl="0"/>
            <a:r>
              <a:rPr lang="en-US" noProof="0"/>
              <a:t>Click to edit Master title style</a:t>
            </a:r>
          </a:p>
        </p:txBody>
      </p:sp>
      <p:sp>
        <p:nvSpPr>
          <p:cNvPr id="9219" name="Rectangle 3"/>
          <p:cNvSpPr>
            <a:spLocks noGrp="1" noChangeArrowheads="1"/>
          </p:cNvSpPr>
          <p:nvPr>
            <p:ph type="subTitle" idx="1"/>
          </p:nvPr>
        </p:nvSpPr>
        <p:spPr>
          <a:xfrm>
            <a:off x="1828800" y="3048000"/>
            <a:ext cx="8534400" cy="2895600"/>
          </a:xfrm>
        </p:spPr>
        <p:txBody>
          <a:bodyPr/>
          <a:lstStyle>
            <a:lvl1pPr marL="0" indent="0" algn="ctr">
              <a:buFontTx/>
              <a:buNone/>
              <a:defRPr b="1">
                <a:solidFill>
                  <a:srgbClr val="E7E58C"/>
                </a:solidFill>
              </a:defRPr>
            </a:lvl1pPr>
          </a:lstStyle>
          <a:p>
            <a:pPr lvl="0"/>
            <a:r>
              <a:rPr lang="en-US" noProof="0"/>
              <a:t>Click to edit Master subtitle style</a:t>
            </a:r>
          </a:p>
        </p:txBody>
      </p:sp>
      <p:sp>
        <p:nvSpPr>
          <p:cNvPr id="9220" name="Rectangle 4"/>
          <p:cNvSpPr>
            <a:spLocks noGrp="1" noChangeArrowheads="1"/>
          </p:cNvSpPr>
          <p:nvPr>
            <p:ph type="dt" sz="half" idx="2"/>
          </p:nvPr>
        </p:nvSpPr>
        <p:spPr>
          <a:xfrm>
            <a:off x="609600" y="6245225"/>
            <a:ext cx="2844800" cy="476250"/>
          </a:xfrm>
        </p:spPr>
        <p:txBody>
          <a:bodyPr/>
          <a:lstStyle>
            <a:lvl1pPr>
              <a:defRPr>
                <a:solidFill>
                  <a:schemeClr val="bg1"/>
                </a:solidFill>
              </a:defRPr>
            </a:lvl1pPr>
          </a:lstStyle>
          <a:p>
            <a:fld id="{4EB40125-7F13-44A6-BAB7-8F4B151C061C}" type="datetime1">
              <a:rPr lang="en-US"/>
              <a:pPr/>
              <a:t>10/29/2026</a:t>
            </a:fld>
            <a:endParaRPr lang="en-US"/>
          </a:p>
        </p:txBody>
      </p:sp>
      <p:sp>
        <p:nvSpPr>
          <p:cNvPr id="9221" name="Rectangle 5"/>
          <p:cNvSpPr>
            <a:spLocks noGrp="1" noChangeArrowheads="1"/>
          </p:cNvSpPr>
          <p:nvPr>
            <p:ph type="ftr" sz="quarter" idx="3"/>
          </p:nvPr>
        </p:nvSpPr>
        <p:spPr>
          <a:xfrm>
            <a:off x="4165600" y="6245225"/>
            <a:ext cx="3860800" cy="476250"/>
          </a:xfrm>
        </p:spPr>
        <p:txBody>
          <a:bodyPr/>
          <a:lstStyle>
            <a:lvl1pPr>
              <a:defRPr>
                <a:solidFill>
                  <a:schemeClr val="bg1"/>
                </a:solidFill>
              </a:defRPr>
            </a:lvl1pPr>
          </a:lstStyle>
          <a:p>
            <a:endParaRPr lang="en-US"/>
          </a:p>
        </p:txBody>
      </p:sp>
      <p:sp>
        <p:nvSpPr>
          <p:cNvPr id="9222" name="Rectangle 6"/>
          <p:cNvSpPr>
            <a:spLocks noGrp="1" noChangeArrowheads="1"/>
          </p:cNvSpPr>
          <p:nvPr>
            <p:ph type="sldNum" sz="quarter" idx="4"/>
          </p:nvPr>
        </p:nvSpPr>
        <p:spPr>
          <a:xfrm>
            <a:off x="8737600" y="6245225"/>
            <a:ext cx="2844800" cy="476250"/>
          </a:xfrm>
        </p:spPr>
        <p:txBody>
          <a:bodyPr/>
          <a:lstStyle>
            <a:lvl1pPr>
              <a:defRPr>
                <a:solidFill>
                  <a:schemeClr val="bg1"/>
                </a:solidFill>
              </a:defRPr>
            </a:lvl1pPr>
          </a:lstStyle>
          <a:p>
            <a:fld id="{0CC45DAC-79B2-48E1-B622-F75E12243423}" type="slidenum">
              <a:rPr lang="en-US"/>
              <a:pPr/>
              <a:t>‹#›</a:t>
            </a:fld>
            <a:endParaRPr lang="en-US"/>
          </a:p>
        </p:txBody>
      </p:sp>
      <p:pic>
        <p:nvPicPr>
          <p:cNvPr id="9225" name="Picture 9" descr="UNC_logo_whit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737600" y="152400"/>
            <a:ext cx="3175000" cy="81915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611CFDE-973F-4ABD-8E33-F53F70E52EFC}" type="datetime1">
              <a:rPr lang="en-US"/>
              <a:pPr/>
              <a:t>10/29/2026</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56AB63A3-EE60-48B4-91D6-039F992FB1F9}" type="slidenum">
              <a:rPr lang="en-US"/>
              <a:pPr/>
              <a:t>‹#›</a:t>
            </a:fld>
            <a:endParaRPr lang="en-US"/>
          </a:p>
        </p:txBody>
      </p:sp>
    </p:spTree>
    <p:extLst>
      <p:ext uri="{BB962C8B-B14F-4D97-AF65-F5344CB8AC3E}">
        <p14:creationId xmlns:p14="http://schemas.microsoft.com/office/powerpoint/2010/main" val="28338536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D8352F25-63C5-43EB-9F8A-B22C0A1EE369}" type="datetime1">
              <a:rPr lang="en-US"/>
              <a:pPr/>
              <a:t>10/29/2026</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387DE9D5-C0C2-4072-872F-D8533F99B02D}" type="slidenum">
              <a:rPr lang="en-US"/>
              <a:pPr/>
              <a:t>‹#›</a:t>
            </a:fld>
            <a:endParaRPr lang="en-US"/>
          </a:p>
        </p:txBody>
      </p:sp>
    </p:spTree>
    <p:extLst>
      <p:ext uri="{BB962C8B-B14F-4D97-AF65-F5344CB8AC3E}">
        <p14:creationId xmlns:p14="http://schemas.microsoft.com/office/powerpoint/2010/main" val="34001373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743200" y="1143000"/>
            <a:ext cx="4368800" cy="5105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7315200" y="1143000"/>
            <a:ext cx="4368800" cy="5105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lvl1pPr>
              <a:defRPr/>
            </a:lvl1pPr>
          </a:lstStyle>
          <a:p>
            <a:fld id="{9462E44A-2614-49F5-AF6C-1C8877036FE2}" type="datetime1">
              <a:rPr lang="en-US"/>
              <a:pPr/>
              <a:t>10/29/2026</a:t>
            </a:fld>
            <a:endParaRPr lang="en-US"/>
          </a:p>
        </p:txBody>
      </p:sp>
      <p:sp>
        <p:nvSpPr>
          <p:cNvPr id="6" name="Footer Placeholder 5"/>
          <p:cNvSpPr>
            <a:spLocks noGrp="1"/>
          </p:cNvSpPr>
          <p:nvPr>
            <p:ph type="ftr" sz="quarter" idx="11"/>
          </p:nvPr>
        </p:nvSpPr>
        <p:spPr/>
        <p:txBody>
          <a:bodyPr/>
          <a:lstStyle>
            <a:lvl1pPr>
              <a:defRPr/>
            </a:lvl1pPr>
          </a:lstStyle>
          <a:p>
            <a:endParaRPr lang="en-US"/>
          </a:p>
        </p:txBody>
      </p:sp>
      <p:sp>
        <p:nvSpPr>
          <p:cNvPr id="7" name="Slide Number Placeholder 6"/>
          <p:cNvSpPr>
            <a:spLocks noGrp="1"/>
          </p:cNvSpPr>
          <p:nvPr>
            <p:ph type="sldNum" sz="quarter" idx="12"/>
          </p:nvPr>
        </p:nvSpPr>
        <p:spPr/>
        <p:txBody>
          <a:bodyPr/>
          <a:lstStyle>
            <a:lvl1pPr>
              <a:defRPr/>
            </a:lvl1pPr>
          </a:lstStyle>
          <a:p>
            <a:fld id="{F3B93EFF-AE0B-471C-BAEB-0F91D60D2906}" type="slidenum">
              <a:rPr lang="en-US"/>
              <a:pPr/>
              <a:t>‹#›</a:t>
            </a:fld>
            <a:endParaRPr lang="en-US"/>
          </a:p>
        </p:txBody>
      </p:sp>
    </p:spTree>
    <p:extLst>
      <p:ext uri="{BB962C8B-B14F-4D97-AF65-F5344CB8AC3E}">
        <p14:creationId xmlns:p14="http://schemas.microsoft.com/office/powerpoint/2010/main" val="31786794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lvl1pPr>
              <a:defRPr/>
            </a:lvl1pPr>
          </a:lstStyle>
          <a:p>
            <a:fld id="{FC9683C6-E118-4B84-8FD6-350D4DD62461}" type="datetime1">
              <a:rPr lang="en-US"/>
              <a:pPr/>
              <a:t>10/29/2026</a:t>
            </a:fld>
            <a:endParaRPr lang="en-US"/>
          </a:p>
        </p:txBody>
      </p:sp>
      <p:sp>
        <p:nvSpPr>
          <p:cNvPr id="8" name="Footer Placeholder 7"/>
          <p:cNvSpPr>
            <a:spLocks noGrp="1"/>
          </p:cNvSpPr>
          <p:nvPr>
            <p:ph type="ftr" sz="quarter" idx="11"/>
          </p:nvPr>
        </p:nvSpPr>
        <p:spPr/>
        <p:txBody>
          <a:bodyPr/>
          <a:lstStyle>
            <a:lvl1pPr>
              <a:defRPr/>
            </a:lvl1pPr>
          </a:lstStyle>
          <a:p>
            <a:endParaRPr lang="en-US"/>
          </a:p>
        </p:txBody>
      </p:sp>
      <p:sp>
        <p:nvSpPr>
          <p:cNvPr id="9" name="Slide Number Placeholder 8"/>
          <p:cNvSpPr>
            <a:spLocks noGrp="1"/>
          </p:cNvSpPr>
          <p:nvPr>
            <p:ph type="sldNum" sz="quarter" idx="12"/>
          </p:nvPr>
        </p:nvSpPr>
        <p:spPr/>
        <p:txBody>
          <a:bodyPr/>
          <a:lstStyle>
            <a:lvl1pPr>
              <a:defRPr/>
            </a:lvl1pPr>
          </a:lstStyle>
          <a:p>
            <a:fld id="{5EE20196-352E-4F31-86C2-0B7CCCB8235C}" type="slidenum">
              <a:rPr lang="en-US"/>
              <a:pPr/>
              <a:t>‹#›</a:t>
            </a:fld>
            <a:endParaRPr lang="en-US"/>
          </a:p>
        </p:txBody>
      </p:sp>
    </p:spTree>
    <p:extLst>
      <p:ext uri="{BB962C8B-B14F-4D97-AF65-F5344CB8AC3E}">
        <p14:creationId xmlns:p14="http://schemas.microsoft.com/office/powerpoint/2010/main" val="37044715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lvl1pPr>
              <a:defRPr/>
            </a:lvl1pPr>
          </a:lstStyle>
          <a:p>
            <a:fld id="{4AB4F4C3-78F5-42B8-9D14-37BCEAFFEBC3}" type="datetime1">
              <a:rPr lang="en-US"/>
              <a:pPr/>
              <a:t>10/29/2026</a:t>
            </a:fld>
            <a:endParaRPr lang="en-US"/>
          </a:p>
        </p:txBody>
      </p:sp>
      <p:sp>
        <p:nvSpPr>
          <p:cNvPr id="4" name="Footer Placeholder 3"/>
          <p:cNvSpPr>
            <a:spLocks noGrp="1"/>
          </p:cNvSpPr>
          <p:nvPr>
            <p:ph type="ftr" sz="quarter" idx="11"/>
          </p:nvPr>
        </p:nvSpPr>
        <p:spPr/>
        <p:txBody>
          <a:bodyPr/>
          <a:lstStyle>
            <a:lvl1pPr>
              <a:defRPr/>
            </a:lvl1pPr>
          </a:lstStyle>
          <a:p>
            <a:endParaRPr lang="en-US"/>
          </a:p>
        </p:txBody>
      </p:sp>
      <p:sp>
        <p:nvSpPr>
          <p:cNvPr id="5" name="Slide Number Placeholder 4"/>
          <p:cNvSpPr>
            <a:spLocks noGrp="1"/>
          </p:cNvSpPr>
          <p:nvPr>
            <p:ph type="sldNum" sz="quarter" idx="12"/>
          </p:nvPr>
        </p:nvSpPr>
        <p:spPr/>
        <p:txBody>
          <a:bodyPr/>
          <a:lstStyle>
            <a:lvl1pPr>
              <a:defRPr/>
            </a:lvl1pPr>
          </a:lstStyle>
          <a:p>
            <a:fld id="{C95BB872-BF44-44EE-91ED-070AC0DB9CDB}" type="slidenum">
              <a:rPr lang="en-US"/>
              <a:pPr/>
              <a:t>‹#›</a:t>
            </a:fld>
            <a:endParaRPr lang="en-US"/>
          </a:p>
        </p:txBody>
      </p:sp>
    </p:spTree>
    <p:extLst>
      <p:ext uri="{BB962C8B-B14F-4D97-AF65-F5344CB8AC3E}">
        <p14:creationId xmlns:p14="http://schemas.microsoft.com/office/powerpoint/2010/main" val="38222893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vl1pPr>
          </a:lstStyle>
          <a:p>
            <a:fld id="{5894AC9F-61F9-44C7-8672-DF7F3A5EB475}" type="datetime1">
              <a:rPr lang="en-US"/>
              <a:pPr/>
              <a:t>10/29/2026</a:t>
            </a:fld>
            <a:endParaRPr lang="en-US"/>
          </a:p>
        </p:txBody>
      </p:sp>
      <p:sp>
        <p:nvSpPr>
          <p:cNvPr id="3" name="Footer Placeholder 2"/>
          <p:cNvSpPr>
            <a:spLocks noGrp="1"/>
          </p:cNvSpPr>
          <p:nvPr>
            <p:ph type="ftr" sz="quarter" idx="11"/>
          </p:nvPr>
        </p:nvSpPr>
        <p:spPr/>
        <p:txBody>
          <a:bodyPr/>
          <a:lstStyle>
            <a:lvl1pPr>
              <a:defRPr/>
            </a:lvl1pPr>
          </a:lstStyle>
          <a:p>
            <a:endParaRPr lang="en-US"/>
          </a:p>
        </p:txBody>
      </p:sp>
      <p:sp>
        <p:nvSpPr>
          <p:cNvPr id="4" name="Slide Number Placeholder 3"/>
          <p:cNvSpPr>
            <a:spLocks noGrp="1"/>
          </p:cNvSpPr>
          <p:nvPr>
            <p:ph type="sldNum" sz="quarter" idx="12"/>
          </p:nvPr>
        </p:nvSpPr>
        <p:spPr/>
        <p:txBody>
          <a:bodyPr/>
          <a:lstStyle>
            <a:lvl1pPr>
              <a:defRPr/>
            </a:lvl1pPr>
          </a:lstStyle>
          <a:p>
            <a:fld id="{ACD74F45-5E00-458E-AEAF-0075668EBB28}" type="slidenum">
              <a:rPr lang="en-US"/>
              <a:pPr/>
              <a:t>‹#›</a:t>
            </a:fld>
            <a:endParaRPr lang="en-US"/>
          </a:p>
        </p:txBody>
      </p:sp>
    </p:spTree>
    <p:extLst>
      <p:ext uri="{BB962C8B-B14F-4D97-AF65-F5344CB8AC3E}">
        <p14:creationId xmlns:p14="http://schemas.microsoft.com/office/powerpoint/2010/main" val="23984142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lvl1pPr>
          </a:lstStyle>
          <a:p>
            <a:fld id="{F42464CF-F010-4991-9D0D-CA98840F62F5}" type="datetime1">
              <a:rPr lang="en-US"/>
              <a:pPr/>
              <a:t>10/29/2026</a:t>
            </a:fld>
            <a:endParaRPr lang="en-US"/>
          </a:p>
        </p:txBody>
      </p:sp>
      <p:sp>
        <p:nvSpPr>
          <p:cNvPr id="6" name="Footer Placeholder 5"/>
          <p:cNvSpPr>
            <a:spLocks noGrp="1"/>
          </p:cNvSpPr>
          <p:nvPr>
            <p:ph type="ftr" sz="quarter" idx="11"/>
          </p:nvPr>
        </p:nvSpPr>
        <p:spPr/>
        <p:txBody>
          <a:bodyPr/>
          <a:lstStyle>
            <a:lvl1pPr>
              <a:defRPr/>
            </a:lvl1pPr>
          </a:lstStyle>
          <a:p>
            <a:endParaRPr lang="en-US"/>
          </a:p>
        </p:txBody>
      </p:sp>
      <p:sp>
        <p:nvSpPr>
          <p:cNvPr id="7" name="Slide Number Placeholder 6"/>
          <p:cNvSpPr>
            <a:spLocks noGrp="1"/>
          </p:cNvSpPr>
          <p:nvPr>
            <p:ph type="sldNum" sz="quarter" idx="12"/>
          </p:nvPr>
        </p:nvSpPr>
        <p:spPr/>
        <p:txBody>
          <a:bodyPr/>
          <a:lstStyle>
            <a:lvl1pPr>
              <a:defRPr/>
            </a:lvl1pPr>
          </a:lstStyle>
          <a:p>
            <a:fld id="{8EBB0E7A-710F-40B8-86F5-4686BA678573}" type="slidenum">
              <a:rPr lang="en-US"/>
              <a:pPr/>
              <a:t>‹#›</a:t>
            </a:fld>
            <a:endParaRPr lang="en-US"/>
          </a:p>
        </p:txBody>
      </p:sp>
    </p:spTree>
    <p:extLst>
      <p:ext uri="{BB962C8B-B14F-4D97-AF65-F5344CB8AC3E}">
        <p14:creationId xmlns:p14="http://schemas.microsoft.com/office/powerpoint/2010/main" val="12454154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lvl1pPr>
          </a:lstStyle>
          <a:p>
            <a:fld id="{39C876D6-4019-4424-8939-52A05CCA40BB}" type="datetime1">
              <a:rPr lang="en-US"/>
              <a:pPr/>
              <a:t>10/29/2026</a:t>
            </a:fld>
            <a:endParaRPr lang="en-US"/>
          </a:p>
        </p:txBody>
      </p:sp>
      <p:sp>
        <p:nvSpPr>
          <p:cNvPr id="6" name="Footer Placeholder 5"/>
          <p:cNvSpPr>
            <a:spLocks noGrp="1"/>
          </p:cNvSpPr>
          <p:nvPr>
            <p:ph type="ftr" sz="quarter" idx="11"/>
          </p:nvPr>
        </p:nvSpPr>
        <p:spPr/>
        <p:txBody>
          <a:bodyPr/>
          <a:lstStyle>
            <a:lvl1pPr>
              <a:defRPr/>
            </a:lvl1pPr>
          </a:lstStyle>
          <a:p>
            <a:endParaRPr lang="en-US"/>
          </a:p>
        </p:txBody>
      </p:sp>
      <p:sp>
        <p:nvSpPr>
          <p:cNvPr id="7" name="Slide Number Placeholder 6"/>
          <p:cNvSpPr>
            <a:spLocks noGrp="1"/>
          </p:cNvSpPr>
          <p:nvPr>
            <p:ph type="sldNum" sz="quarter" idx="12"/>
          </p:nvPr>
        </p:nvSpPr>
        <p:spPr/>
        <p:txBody>
          <a:bodyPr/>
          <a:lstStyle>
            <a:lvl1pPr>
              <a:defRPr/>
            </a:lvl1pPr>
          </a:lstStyle>
          <a:p>
            <a:fld id="{7CD4886C-93FB-4B4B-8F62-47983C1CE64C}" type="slidenum">
              <a:rPr lang="en-US"/>
              <a:pPr/>
              <a:t>‹#›</a:t>
            </a:fld>
            <a:endParaRPr lang="en-US"/>
          </a:p>
        </p:txBody>
      </p:sp>
    </p:spTree>
    <p:extLst>
      <p:ext uri="{BB962C8B-B14F-4D97-AF65-F5344CB8AC3E}">
        <p14:creationId xmlns:p14="http://schemas.microsoft.com/office/powerpoint/2010/main" val="14547825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3036672-F5A3-4FA5-933C-B04C0352F0BC}" type="datetime1">
              <a:rPr lang="en-US"/>
              <a:pPr/>
              <a:t>10/29/2026</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F30E402E-A5D9-42BD-9F1A-312CF033512E}" type="slidenum">
              <a:rPr lang="en-US"/>
              <a:pPr/>
              <a:t>‹#›</a:t>
            </a:fld>
            <a:endParaRPr lang="en-US"/>
          </a:p>
        </p:txBody>
      </p:sp>
    </p:spTree>
    <p:extLst>
      <p:ext uri="{BB962C8B-B14F-4D97-AF65-F5344CB8AC3E}">
        <p14:creationId xmlns:p14="http://schemas.microsoft.com/office/powerpoint/2010/main" val="20818596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23400" y="152400"/>
            <a:ext cx="2260600" cy="6096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641600" y="152400"/>
            <a:ext cx="6578600" cy="6096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39F81A7-C202-4AB2-BD3C-92764C183D5E}" type="datetime1">
              <a:rPr lang="en-US"/>
              <a:pPr/>
              <a:t>10/29/2026</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0C5ADE44-5E93-4592-AC86-372A390E9E60}" type="slidenum">
              <a:rPr lang="en-US"/>
              <a:pPr/>
              <a:t>‹#›</a:t>
            </a:fld>
            <a:endParaRPr lang="en-US"/>
          </a:p>
        </p:txBody>
      </p:sp>
    </p:spTree>
    <p:extLst>
      <p:ext uri="{BB962C8B-B14F-4D97-AF65-F5344CB8AC3E}">
        <p14:creationId xmlns:p14="http://schemas.microsoft.com/office/powerpoint/2010/main" val="18113777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F5C5A4D5-22DB-4294-9D80-D186081F8BE0}" type="datetime1">
              <a:rPr lang="en-US"/>
              <a:pPr/>
              <a:t>10/29/2026</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5C1DDB1A-DAD6-44B0-8690-A61DD370EF2E}" type="slidenum">
              <a:rPr lang="en-US"/>
              <a:pPr/>
              <a:t>‹#›</a:t>
            </a:fld>
            <a:endParaRPr lang="en-US"/>
          </a:p>
        </p:txBody>
      </p:sp>
    </p:spTree>
    <p:extLst>
      <p:ext uri="{BB962C8B-B14F-4D97-AF65-F5344CB8AC3E}">
        <p14:creationId xmlns:p14="http://schemas.microsoft.com/office/powerpoint/2010/main" val="3349702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BB2C54A-E28D-4904-9A14-6F605DD774D6}" type="datetime1">
              <a:rPr lang="en-US"/>
              <a:pPr/>
              <a:t>10/29/2026</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0C3A586C-0FF0-4206-B0EB-E9C01C5061B6}" type="slidenum">
              <a:rPr lang="en-US"/>
              <a:pPr/>
              <a:t>‹#›</a:t>
            </a:fld>
            <a:endParaRPr lang="en-US"/>
          </a:p>
        </p:txBody>
      </p:sp>
    </p:spTree>
    <p:extLst>
      <p:ext uri="{BB962C8B-B14F-4D97-AF65-F5344CB8AC3E}">
        <p14:creationId xmlns:p14="http://schemas.microsoft.com/office/powerpoint/2010/main" val="34724272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C4555052-AA66-48B0-B586-50F76BEF607C}" type="datetime1">
              <a:rPr lang="en-US"/>
              <a:pPr/>
              <a:t>10/29/2026</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C30E2596-9450-4E4B-9D2E-05EBE43311EE}" type="slidenum">
              <a:rPr lang="en-US"/>
              <a:pPr/>
              <a:t>‹#›</a:t>
            </a:fld>
            <a:endParaRPr lang="en-US"/>
          </a:p>
        </p:txBody>
      </p:sp>
    </p:spTree>
    <p:extLst>
      <p:ext uri="{BB962C8B-B14F-4D97-AF65-F5344CB8AC3E}">
        <p14:creationId xmlns:p14="http://schemas.microsoft.com/office/powerpoint/2010/main" val="370434820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508000" y="1417638"/>
            <a:ext cx="5537200" cy="48307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0" y="1417638"/>
            <a:ext cx="5537200" cy="483076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lvl1pPr>
              <a:defRPr/>
            </a:lvl1pPr>
          </a:lstStyle>
          <a:p>
            <a:fld id="{455C2F06-C3B2-4268-BE22-0F7180ABF4D1}" type="datetime1">
              <a:rPr lang="en-US"/>
              <a:pPr/>
              <a:t>10/29/2026</a:t>
            </a:fld>
            <a:endParaRPr lang="en-US"/>
          </a:p>
        </p:txBody>
      </p:sp>
      <p:sp>
        <p:nvSpPr>
          <p:cNvPr id="6" name="Footer Placeholder 5"/>
          <p:cNvSpPr>
            <a:spLocks noGrp="1"/>
          </p:cNvSpPr>
          <p:nvPr>
            <p:ph type="ftr" sz="quarter" idx="11"/>
          </p:nvPr>
        </p:nvSpPr>
        <p:spPr/>
        <p:txBody>
          <a:bodyPr/>
          <a:lstStyle>
            <a:lvl1pPr>
              <a:defRPr/>
            </a:lvl1pPr>
          </a:lstStyle>
          <a:p>
            <a:endParaRPr lang="en-US"/>
          </a:p>
        </p:txBody>
      </p:sp>
      <p:sp>
        <p:nvSpPr>
          <p:cNvPr id="7" name="Slide Number Placeholder 6"/>
          <p:cNvSpPr>
            <a:spLocks noGrp="1"/>
          </p:cNvSpPr>
          <p:nvPr>
            <p:ph type="sldNum" sz="quarter" idx="12"/>
          </p:nvPr>
        </p:nvSpPr>
        <p:spPr/>
        <p:txBody>
          <a:bodyPr/>
          <a:lstStyle>
            <a:lvl1pPr>
              <a:defRPr/>
            </a:lvl1pPr>
          </a:lstStyle>
          <a:p>
            <a:fld id="{A2F9880F-DAE2-4D2E-8D2B-D275A0A272E7}" type="slidenum">
              <a:rPr lang="en-US"/>
              <a:pPr/>
              <a:t>‹#›</a:t>
            </a:fld>
            <a:endParaRPr lang="en-US"/>
          </a:p>
        </p:txBody>
      </p:sp>
    </p:spTree>
    <p:extLst>
      <p:ext uri="{BB962C8B-B14F-4D97-AF65-F5344CB8AC3E}">
        <p14:creationId xmlns:p14="http://schemas.microsoft.com/office/powerpoint/2010/main" val="304814021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lvl1pPr>
              <a:defRPr/>
            </a:lvl1pPr>
          </a:lstStyle>
          <a:p>
            <a:fld id="{672D6A9B-354F-4686-ADE2-E32124ACDA47}" type="datetime1">
              <a:rPr lang="en-US"/>
              <a:pPr/>
              <a:t>10/29/2026</a:t>
            </a:fld>
            <a:endParaRPr lang="en-US"/>
          </a:p>
        </p:txBody>
      </p:sp>
      <p:sp>
        <p:nvSpPr>
          <p:cNvPr id="8" name="Footer Placeholder 7"/>
          <p:cNvSpPr>
            <a:spLocks noGrp="1"/>
          </p:cNvSpPr>
          <p:nvPr>
            <p:ph type="ftr" sz="quarter" idx="11"/>
          </p:nvPr>
        </p:nvSpPr>
        <p:spPr/>
        <p:txBody>
          <a:bodyPr/>
          <a:lstStyle>
            <a:lvl1pPr>
              <a:defRPr/>
            </a:lvl1pPr>
          </a:lstStyle>
          <a:p>
            <a:endParaRPr lang="en-US"/>
          </a:p>
        </p:txBody>
      </p:sp>
      <p:sp>
        <p:nvSpPr>
          <p:cNvPr id="9" name="Slide Number Placeholder 8"/>
          <p:cNvSpPr>
            <a:spLocks noGrp="1"/>
          </p:cNvSpPr>
          <p:nvPr>
            <p:ph type="sldNum" sz="quarter" idx="12"/>
          </p:nvPr>
        </p:nvSpPr>
        <p:spPr/>
        <p:txBody>
          <a:bodyPr/>
          <a:lstStyle>
            <a:lvl1pPr>
              <a:defRPr/>
            </a:lvl1pPr>
          </a:lstStyle>
          <a:p>
            <a:fld id="{A9764F6A-501A-4695-A26B-A26D01DAFC02}" type="slidenum">
              <a:rPr lang="en-US"/>
              <a:pPr/>
              <a:t>‹#›</a:t>
            </a:fld>
            <a:endParaRPr lang="en-US"/>
          </a:p>
        </p:txBody>
      </p:sp>
    </p:spTree>
    <p:extLst>
      <p:ext uri="{BB962C8B-B14F-4D97-AF65-F5344CB8AC3E}">
        <p14:creationId xmlns:p14="http://schemas.microsoft.com/office/powerpoint/2010/main" val="392603902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lvl1pPr>
              <a:defRPr/>
            </a:lvl1pPr>
          </a:lstStyle>
          <a:p>
            <a:fld id="{15ED2A4E-6238-4D7A-96A0-8CF15C714747}" type="datetime1">
              <a:rPr lang="en-US"/>
              <a:pPr/>
              <a:t>10/29/2026</a:t>
            </a:fld>
            <a:endParaRPr lang="en-US"/>
          </a:p>
        </p:txBody>
      </p:sp>
      <p:sp>
        <p:nvSpPr>
          <p:cNvPr id="4" name="Footer Placeholder 3"/>
          <p:cNvSpPr>
            <a:spLocks noGrp="1"/>
          </p:cNvSpPr>
          <p:nvPr>
            <p:ph type="ftr" sz="quarter" idx="11"/>
          </p:nvPr>
        </p:nvSpPr>
        <p:spPr/>
        <p:txBody>
          <a:bodyPr/>
          <a:lstStyle>
            <a:lvl1pPr>
              <a:defRPr/>
            </a:lvl1pPr>
          </a:lstStyle>
          <a:p>
            <a:endParaRPr lang="en-US"/>
          </a:p>
        </p:txBody>
      </p:sp>
      <p:sp>
        <p:nvSpPr>
          <p:cNvPr id="5" name="Slide Number Placeholder 4"/>
          <p:cNvSpPr>
            <a:spLocks noGrp="1"/>
          </p:cNvSpPr>
          <p:nvPr>
            <p:ph type="sldNum" sz="quarter" idx="12"/>
          </p:nvPr>
        </p:nvSpPr>
        <p:spPr/>
        <p:txBody>
          <a:bodyPr/>
          <a:lstStyle>
            <a:lvl1pPr>
              <a:defRPr/>
            </a:lvl1pPr>
          </a:lstStyle>
          <a:p>
            <a:fld id="{DF559E08-4194-4C67-9A7B-5E9C025BBBDD}" type="slidenum">
              <a:rPr lang="en-US"/>
              <a:pPr/>
              <a:t>‹#›</a:t>
            </a:fld>
            <a:endParaRPr lang="en-US"/>
          </a:p>
        </p:txBody>
      </p:sp>
    </p:spTree>
    <p:extLst>
      <p:ext uri="{BB962C8B-B14F-4D97-AF65-F5344CB8AC3E}">
        <p14:creationId xmlns:p14="http://schemas.microsoft.com/office/powerpoint/2010/main" val="404336279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vl1pPr>
          </a:lstStyle>
          <a:p>
            <a:fld id="{DC25E456-A5BD-4B1F-9922-B27A83107837}" type="datetime1">
              <a:rPr lang="en-US"/>
              <a:pPr/>
              <a:t>10/29/2026</a:t>
            </a:fld>
            <a:endParaRPr lang="en-US"/>
          </a:p>
        </p:txBody>
      </p:sp>
      <p:sp>
        <p:nvSpPr>
          <p:cNvPr id="3" name="Footer Placeholder 2"/>
          <p:cNvSpPr>
            <a:spLocks noGrp="1"/>
          </p:cNvSpPr>
          <p:nvPr>
            <p:ph type="ftr" sz="quarter" idx="11"/>
          </p:nvPr>
        </p:nvSpPr>
        <p:spPr/>
        <p:txBody>
          <a:bodyPr/>
          <a:lstStyle>
            <a:lvl1pPr>
              <a:defRPr/>
            </a:lvl1pPr>
          </a:lstStyle>
          <a:p>
            <a:endParaRPr lang="en-US"/>
          </a:p>
        </p:txBody>
      </p:sp>
      <p:sp>
        <p:nvSpPr>
          <p:cNvPr id="4" name="Slide Number Placeholder 3"/>
          <p:cNvSpPr>
            <a:spLocks noGrp="1"/>
          </p:cNvSpPr>
          <p:nvPr>
            <p:ph type="sldNum" sz="quarter" idx="12"/>
          </p:nvPr>
        </p:nvSpPr>
        <p:spPr/>
        <p:txBody>
          <a:bodyPr/>
          <a:lstStyle>
            <a:lvl1pPr>
              <a:defRPr/>
            </a:lvl1pPr>
          </a:lstStyle>
          <a:p>
            <a:fld id="{21B528F2-F409-4128-AE8C-73EF09DAD1FC}" type="slidenum">
              <a:rPr lang="en-US"/>
              <a:pPr/>
              <a:t>‹#›</a:t>
            </a:fld>
            <a:endParaRPr lang="en-US"/>
          </a:p>
        </p:txBody>
      </p:sp>
    </p:spTree>
    <p:extLst>
      <p:ext uri="{BB962C8B-B14F-4D97-AF65-F5344CB8AC3E}">
        <p14:creationId xmlns:p14="http://schemas.microsoft.com/office/powerpoint/2010/main" val="36011096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lvl1pPr>
          </a:lstStyle>
          <a:p>
            <a:fld id="{BEDD0143-DC3E-4EC6-9F48-48B6665F7301}" type="datetime1">
              <a:rPr lang="en-US"/>
              <a:pPr/>
              <a:t>10/29/2026</a:t>
            </a:fld>
            <a:endParaRPr lang="en-US"/>
          </a:p>
        </p:txBody>
      </p:sp>
      <p:sp>
        <p:nvSpPr>
          <p:cNvPr id="6" name="Footer Placeholder 5"/>
          <p:cNvSpPr>
            <a:spLocks noGrp="1"/>
          </p:cNvSpPr>
          <p:nvPr>
            <p:ph type="ftr" sz="quarter" idx="11"/>
          </p:nvPr>
        </p:nvSpPr>
        <p:spPr/>
        <p:txBody>
          <a:bodyPr/>
          <a:lstStyle>
            <a:lvl1pPr>
              <a:defRPr/>
            </a:lvl1pPr>
          </a:lstStyle>
          <a:p>
            <a:endParaRPr lang="en-US"/>
          </a:p>
        </p:txBody>
      </p:sp>
      <p:sp>
        <p:nvSpPr>
          <p:cNvPr id="7" name="Slide Number Placeholder 6"/>
          <p:cNvSpPr>
            <a:spLocks noGrp="1"/>
          </p:cNvSpPr>
          <p:nvPr>
            <p:ph type="sldNum" sz="quarter" idx="12"/>
          </p:nvPr>
        </p:nvSpPr>
        <p:spPr/>
        <p:txBody>
          <a:bodyPr/>
          <a:lstStyle>
            <a:lvl1pPr>
              <a:defRPr/>
            </a:lvl1pPr>
          </a:lstStyle>
          <a:p>
            <a:fld id="{2D33B6BF-CD30-4EB0-80A4-3EE6E252142E}" type="slidenum">
              <a:rPr lang="en-US"/>
              <a:pPr/>
              <a:t>‹#›</a:t>
            </a:fld>
            <a:endParaRPr lang="en-US"/>
          </a:p>
        </p:txBody>
      </p:sp>
    </p:spTree>
    <p:extLst>
      <p:ext uri="{BB962C8B-B14F-4D97-AF65-F5344CB8AC3E}">
        <p14:creationId xmlns:p14="http://schemas.microsoft.com/office/powerpoint/2010/main" val="194521676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lvl1pPr>
          </a:lstStyle>
          <a:p>
            <a:fld id="{1BD3821B-510B-469F-8236-A5D95798D7D4}" type="datetime1">
              <a:rPr lang="en-US"/>
              <a:pPr/>
              <a:t>10/29/2026</a:t>
            </a:fld>
            <a:endParaRPr lang="en-US"/>
          </a:p>
        </p:txBody>
      </p:sp>
      <p:sp>
        <p:nvSpPr>
          <p:cNvPr id="6" name="Footer Placeholder 5"/>
          <p:cNvSpPr>
            <a:spLocks noGrp="1"/>
          </p:cNvSpPr>
          <p:nvPr>
            <p:ph type="ftr" sz="quarter" idx="11"/>
          </p:nvPr>
        </p:nvSpPr>
        <p:spPr/>
        <p:txBody>
          <a:bodyPr/>
          <a:lstStyle>
            <a:lvl1pPr>
              <a:defRPr/>
            </a:lvl1pPr>
          </a:lstStyle>
          <a:p>
            <a:endParaRPr lang="en-US"/>
          </a:p>
        </p:txBody>
      </p:sp>
      <p:sp>
        <p:nvSpPr>
          <p:cNvPr id="7" name="Slide Number Placeholder 6"/>
          <p:cNvSpPr>
            <a:spLocks noGrp="1"/>
          </p:cNvSpPr>
          <p:nvPr>
            <p:ph type="sldNum" sz="quarter" idx="12"/>
          </p:nvPr>
        </p:nvSpPr>
        <p:spPr/>
        <p:txBody>
          <a:bodyPr/>
          <a:lstStyle>
            <a:lvl1pPr>
              <a:defRPr/>
            </a:lvl1pPr>
          </a:lstStyle>
          <a:p>
            <a:fld id="{7125BAB3-FE89-4894-A884-41D108665273}" type="slidenum">
              <a:rPr lang="en-US"/>
              <a:pPr/>
              <a:t>‹#›</a:t>
            </a:fld>
            <a:endParaRPr lang="en-US"/>
          </a:p>
        </p:txBody>
      </p:sp>
    </p:spTree>
    <p:extLst>
      <p:ext uri="{BB962C8B-B14F-4D97-AF65-F5344CB8AC3E}">
        <p14:creationId xmlns:p14="http://schemas.microsoft.com/office/powerpoint/2010/main" val="288420427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11366078-B265-4984-BB18-33981B66E184}" type="datetime1">
              <a:rPr lang="en-US"/>
              <a:pPr/>
              <a:t>10/29/2026</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83F836CC-B783-4E69-9EFD-8D3AF9DBFA31}" type="slidenum">
              <a:rPr lang="en-US"/>
              <a:pPr/>
              <a:t>‹#›</a:t>
            </a:fld>
            <a:endParaRPr lang="en-US"/>
          </a:p>
        </p:txBody>
      </p:sp>
    </p:spTree>
    <p:extLst>
      <p:ext uri="{BB962C8B-B14F-4D97-AF65-F5344CB8AC3E}">
        <p14:creationId xmlns:p14="http://schemas.microsoft.com/office/powerpoint/2010/main" val="42640374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66200" y="685800"/>
            <a:ext cx="2819400" cy="55626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508000" y="685800"/>
            <a:ext cx="8255000" cy="55626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4AFEDE01-382B-426E-A4ED-08E2FC7AA3FD}" type="datetime1">
              <a:rPr lang="en-US"/>
              <a:pPr/>
              <a:t>10/29/2026</a:t>
            </a:fld>
            <a:endParaRPr lang="en-US"/>
          </a:p>
        </p:txBody>
      </p:sp>
      <p:sp>
        <p:nvSpPr>
          <p:cNvPr id="5" name="Footer Placeholder 4"/>
          <p:cNvSpPr>
            <a:spLocks noGrp="1"/>
          </p:cNvSpPr>
          <p:nvPr>
            <p:ph type="ftr" sz="quarter" idx="11"/>
          </p:nvPr>
        </p:nvSpPr>
        <p:spPr/>
        <p:txBody>
          <a:bodyPr/>
          <a:lstStyle>
            <a:lvl1pPr>
              <a:defRPr/>
            </a:lvl1pPr>
          </a:lstStyle>
          <a:p>
            <a:endParaRPr lang="en-US"/>
          </a:p>
        </p:txBody>
      </p:sp>
      <p:sp>
        <p:nvSpPr>
          <p:cNvPr id="6" name="Slide Number Placeholder 5"/>
          <p:cNvSpPr>
            <a:spLocks noGrp="1"/>
          </p:cNvSpPr>
          <p:nvPr>
            <p:ph type="sldNum" sz="quarter" idx="12"/>
          </p:nvPr>
        </p:nvSpPr>
        <p:spPr/>
        <p:txBody>
          <a:bodyPr/>
          <a:lstStyle>
            <a:lvl1pPr>
              <a:defRPr/>
            </a:lvl1pPr>
          </a:lstStyle>
          <a:p>
            <a:fld id="{D5C7457E-0227-44F2-8F92-A042A287554D}" type="slidenum">
              <a:rPr lang="en-US"/>
              <a:pPr/>
              <a:t>‹#›</a:t>
            </a:fld>
            <a:endParaRPr lang="en-US"/>
          </a:p>
        </p:txBody>
      </p:sp>
    </p:spTree>
    <p:extLst>
      <p:ext uri="{BB962C8B-B14F-4D97-AF65-F5344CB8AC3E}">
        <p14:creationId xmlns:p14="http://schemas.microsoft.com/office/powerpoint/2010/main" val="10009308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 Id="rId13"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3"/>
          <a:srcRect/>
          <a:stretch>
            <a:fillRect/>
          </a:stretch>
        </a:blip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2641600" y="152400"/>
            <a:ext cx="9042400" cy="838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Rectangle 3"/>
          <p:cNvSpPr>
            <a:spLocks noGrp="1" noChangeArrowheads="1"/>
          </p:cNvSpPr>
          <p:nvPr>
            <p:ph type="body" idx="1"/>
          </p:nvPr>
        </p:nvSpPr>
        <p:spPr bwMode="auto">
          <a:xfrm>
            <a:off x="2743200" y="1143000"/>
            <a:ext cx="8940800" cy="5105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2641600" y="6384926"/>
            <a:ext cx="20320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a:solidFill>
                  <a:schemeClr val="bg2"/>
                </a:solidFill>
              </a:defRPr>
            </a:lvl1pPr>
          </a:lstStyle>
          <a:p>
            <a:fld id="{BCDA53CE-C54A-4C5E-B47A-953013324F1B}" type="datetime1">
              <a:rPr lang="en-US"/>
              <a:pPr/>
              <a:t>10/29/2026</a:t>
            </a:fld>
            <a:endParaRPr lang="en-US"/>
          </a:p>
        </p:txBody>
      </p:sp>
      <p:sp>
        <p:nvSpPr>
          <p:cNvPr id="1029" name="Rectangle 5"/>
          <p:cNvSpPr>
            <a:spLocks noGrp="1" noChangeArrowheads="1"/>
          </p:cNvSpPr>
          <p:nvPr>
            <p:ph type="ftr" sz="quarter" idx="3"/>
          </p:nvPr>
        </p:nvSpPr>
        <p:spPr bwMode="auto">
          <a:xfrm>
            <a:off x="4876800" y="6384926"/>
            <a:ext cx="48768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200">
                <a:solidFill>
                  <a:schemeClr val="bg2"/>
                </a:solidFill>
              </a:defRPr>
            </a:lvl1pPr>
          </a:lstStyle>
          <a:p>
            <a:endParaRPr lang="en-US"/>
          </a:p>
        </p:txBody>
      </p:sp>
      <p:sp>
        <p:nvSpPr>
          <p:cNvPr id="1030" name="Rectangle 6"/>
          <p:cNvSpPr>
            <a:spLocks noGrp="1" noChangeArrowheads="1"/>
          </p:cNvSpPr>
          <p:nvPr>
            <p:ph type="sldNum" sz="quarter" idx="4"/>
          </p:nvPr>
        </p:nvSpPr>
        <p:spPr bwMode="auto">
          <a:xfrm>
            <a:off x="9956800" y="6384926"/>
            <a:ext cx="17272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a:solidFill>
                  <a:schemeClr val="bg2"/>
                </a:solidFill>
              </a:defRPr>
            </a:lvl1pPr>
          </a:lstStyle>
          <a:p>
            <a:fld id="{C086A3F3-6F7D-404F-90EA-E2AB1B080ABC}"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Lst>
  <p:hf hdr="0" ftr="0"/>
  <p:txStyles>
    <p:titleStyle>
      <a:lvl1pPr algn="ctr" rtl="0" fontAlgn="base">
        <a:spcBef>
          <a:spcPct val="0"/>
        </a:spcBef>
        <a:spcAft>
          <a:spcPct val="0"/>
        </a:spcAft>
        <a:defRPr sz="3400" b="1">
          <a:solidFill>
            <a:srgbClr val="284B90"/>
          </a:solidFill>
          <a:effectLst>
            <a:outerShdw blurRad="38100" dist="38100" dir="2700000" algn="tl">
              <a:srgbClr val="C0C0C0"/>
            </a:outerShdw>
          </a:effectLst>
          <a:latin typeface="+mj-lt"/>
          <a:ea typeface="+mj-ea"/>
          <a:cs typeface="+mj-cs"/>
        </a:defRPr>
      </a:lvl1pPr>
      <a:lvl2pPr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2pPr>
      <a:lvl3pPr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3pPr>
      <a:lvl4pPr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4pPr>
      <a:lvl5pPr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5pPr>
      <a:lvl6pPr marL="457200"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6pPr>
      <a:lvl7pPr marL="914400"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7pPr>
      <a:lvl8pPr marL="1371600"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8pPr>
      <a:lvl9pPr marL="1828800"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9pPr>
    </p:titleStyle>
    <p:bodyStyle>
      <a:lvl1pPr marL="342900" indent="-342900" algn="l" rtl="0" fontAlgn="base">
        <a:spcBef>
          <a:spcPct val="20000"/>
        </a:spcBef>
        <a:spcAft>
          <a:spcPct val="0"/>
        </a:spcAft>
        <a:buClr>
          <a:schemeClr val="bg2"/>
        </a:buClr>
        <a:buChar char="•"/>
        <a:defRPr sz="2400">
          <a:solidFill>
            <a:srgbClr val="335FB7"/>
          </a:solidFill>
          <a:latin typeface="+mn-lt"/>
          <a:ea typeface="+mn-ea"/>
          <a:cs typeface="+mn-cs"/>
        </a:defRPr>
      </a:lvl1pPr>
      <a:lvl2pPr marL="742950" indent="-285750" algn="l" rtl="0" fontAlgn="base">
        <a:spcBef>
          <a:spcPct val="20000"/>
        </a:spcBef>
        <a:spcAft>
          <a:spcPct val="0"/>
        </a:spcAft>
        <a:buClr>
          <a:srgbClr val="B2B2B2"/>
        </a:buClr>
        <a:buFont typeface="Arial" charset="0"/>
        <a:buChar char="»"/>
        <a:defRPr sz="2200">
          <a:solidFill>
            <a:srgbClr val="414141"/>
          </a:solidFill>
          <a:latin typeface="+mn-lt"/>
          <a:cs typeface="+mn-cs"/>
        </a:defRPr>
      </a:lvl2pPr>
      <a:lvl3pPr marL="1143000" indent="-228600" algn="l" rtl="0" fontAlgn="base">
        <a:spcBef>
          <a:spcPct val="20000"/>
        </a:spcBef>
        <a:spcAft>
          <a:spcPct val="0"/>
        </a:spcAft>
        <a:buClr>
          <a:srgbClr val="B2B2B2"/>
        </a:buClr>
        <a:buChar char="•"/>
        <a:defRPr sz="2000">
          <a:solidFill>
            <a:srgbClr val="414141"/>
          </a:solidFill>
          <a:latin typeface="+mn-lt"/>
          <a:cs typeface="+mn-cs"/>
        </a:defRPr>
      </a:lvl3pPr>
      <a:lvl4pPr marL="1600200" indent="-228600" algn="l" rtl="0" fontAlgn="base">
        <a:spcBef>
          <a:spcPct val="20000"/>
        </a:spcBef>
        <a:spcAft>
          <a:spcPct val="0"/>
        </a:spcAft>
        <a:buClr>
          <a:srgbClr val="B2B2B2"/>
        </a:buClr>
        <a:buFont typeface="Arial" charset="0"/>
        <a:buChar char="»"/>
        <a:defRPr>
          <a:solidFill>
            <a:srgbClr val="414141"/>
          </a:solidFill>
          <a:latin typeface="+mn-lt"/>
          <a:cs typeface="+mn-cs"/>
        </a:defRPr>
      </a:lvl4pPr>
      <a:lvl5pPr marL="2057400" indent="-228600" algn="l" rtl="0" fontAlgn="base">
        <a:spcBef>
          <a:spcPct val="20000"/>
        </a:spcBef>
        <a:spcAft>
          <a:spcPct val="0"/>
        </a:spcAft>
        <a:buClr>
          <a:srgbClr val="B2B2B2"/>
        </a:buClr>
        <a:buChar char="•"/>
        <a:defRPr>
          <a:solidFill>
            <a:srgbClr val="414141"/>
          </a:solidFill>
          <a:latin typeface="+mn-lt"/>
          <a:cs typeface="+mn-cs"/>
        </a:defRPr>
      </a:lvl5pPr>
      <a:lvl6pPr marL="2514600" indent="-228600" algn="l" rtl="0" fontAlgn="base">
        <a:spcBef>
          <a:spcPct val="20000"/>
        </a:spcBef>
        <a:spcAft>
          <a:spcPct val="0"/>
        </a:spcAft>
        <a:buClr>
          <a:srgbClr val="B2B2B2"/>
        </a:buClr>
        <a:buChar char="•"/>
        <a:defRPr>
          <a:solidFill>
            <a:srgbClr val="414141"/>
          </a:solidFill>
          <a:latin typeface="+mn-lt"/>
          <a:cs typeface="+mn-cs"/>
        </a:defRPr>
      </a:lvl6pPr>
      <a:lvl7pPr marL="2971800" indent="-228600" algn="l" rtl="0" fontAlgn="base">
        <a:spcBef>
          <a:spcPct val="20000"/>
        </a:spcBef>
        <a:spcAft>
          <a:spcPct val="0"/>
        </a:spcAft>
        <a:buClr>
          <a:srgbClr val="B2B2B2"/>
        </a:buClr>
        <a:buChar char="•"/>
        <a:defRPr>
          <a:solidFill>
            <a:srgbClr val="414141"/>
          </a:solidFill>
          <a:latin typeface="+mn-lt"/>
          <a:cs typeface="+mn-cs"/>
        </a:defRPr>
      </a:lvl7pPr>
      <a:lvl8pPr marL="3429000" indent="-228600" algn="l" rtl="0" fontAlgn="base">
        <a:spcBef>
          <a:spcPct val="20000"/>
        </a:spcBef>
        <a:spcAft>
          <a:spcPct val="0"/>
        </a:spcAft>
        <a:buClr>
          <a:srgbClr val="B2B2B2"/>
        </a:buClr>
        <a:buChar char="•"/>
        <a:defRPr>
          <a:solidFill>
            <a:srgbClr val="414141"/>
          </a:solidFill>
          <a:latin typeface="+mn-lt"/>
          <a:cs typeface="+mn-cs"/>
        </a:defRPr>
      </a:lvl8pPr>
      <a:lvl9pPr marL="3886200" indent="-228600" algn="l" rtl="0" fontAlgn="base">
        <a:spcBef>
          <a:spcPct val="20000"/>
        </a:spcBef>
        <a:spcAft>
          <a:spcPct val="0"/>
        </a:spcAft>
        <a:buClr>
          <a:srgbClr val="B2B2B2"/>
        </a:buClr>
        <a:buChar char="•"/>
        <a:defRPr>
          <a:solidFill>
            <a:srgbClr val="414141"/>
          </a:solidFill>
          <a:latin typeface="+mn-lt"/>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blipFill dpi="0" rotWithShape="0">
          <a:blip r:embed="rId13"/>
          <a:srcRect/>
          <a:stretch>
            <a:fillRect/>
          </a:stretch>
        </a:blipFill>
        <a:effectLst/>
      </p:bgPr>
    </p:bg>
    <p:spTree>
      <p:nvGrpSpPr>
        <p:cNvPr id="1" name=""/>
        <p:cNvGrpSpPr/>
        <p:nvPr/>
      </p:nvGrpSpPr>
      <p:grpSpPr>
        <a:xfrm>
          <a:off x="0" y="0"/>
          <a:ext cx="0" cy="0"/>
          <a:chOff x="0" y="0"/>
          <a:chExt cx="0" cy="0"/>
        </a:xfrm>
      </p:grpSpPr>
      <p:sp>
        <p:nvSpPr>
          <p:cNvPr id="33794" name="Rectangle 2"/>
          <p:cNvSpPr>
            <a:spLocks noGrp="1" noChangeArrowheads="1"/>
          </p:cNvSpPr>
          <p:nvPr>
            <p:ph type="title"/>
          </p:nvPr>
        </p:nvSpPr>
        <p:spPr bwMode="auto">
          <a:xfrm>
            <a:off x="609600" y="685800"/>
            <a:ext cx="10972800" cy="6556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33795" name="Rectangle 3"/>
          <p:cNvSpPr>
            <a:spLocks noGrp="1" noChangeArrowheads="1"/>
          </p:cNvSpPr>
          <p:nvPr>
            <p:ph type="body" idx="1"/>
          </p:nvPr>
        </p:nvSpPr>
        <p:spPr bwMode="auto">
          <a:xfrm>
            <a:off x="508000" y="1417638"/>
            <a:ext cx="11277600" cy="4830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796" name="Rectangle 4"/>
          <p:cNvSpPr>
            <a:spLocks noGrp="1" noChangeArrowheads="1"/>
          </p:cNvSpPr>
          <p:nvPr>
            <p:ph type="dt" sz="half" idx="2"/>
          </p:nvPr>
        </p:nvSpPr>
        <p:spPr bwMode="auto">
          <a:xfrm>
            <a:off x="508000" y="6388100"/>
            <a:ext cx="2641600" cy="393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a:solidFill>
                  <a:schemeClr val="bg2"/>
                </a:solidFill>
              </a:defRPr>
            </a:lvl1pPr>
          </a:lstStyle>
          <a:p>
            <a:fld id="{3176C2E1-3319-4A81-ACF3-FBE386705C94}" type="datetime1">
              <a:rPr lang="en-US"/>
              <a:pPr/>
              <a:t>10/29/2026</a:t>
            </a:fld>
            <a:endParaRPr lang="en-US"/>
          </a:p>
        </p:txBody>
      </p:sp>
      <p:sp>
        <p:nvSpPr>
          <p:cNvPr id="33797" name="Rectangle 5"/>
          <p:cNvSpPr>
            <a:spLocks noGrp="1" noChangeArrowheads="1"/>
          </p:cNvSpPr>
          <p:nvPr>
            <p:ph type="ftr" sz="quarter" idx="3"/>
          </p:nvPr>
        </p:nvSpPr>
        <p:spPr bwMode="auto">
          <a:xfrm>
            <a:off x="3454400" y="6384926"/>
            <a:ext cx="53848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a:solidFill>
                  <a:schemeClr val="bg2"/>
                </a:solidFill>
              </a:defRPr>
            </a:lvl1pPr>
          </a:lstStyle>
          <a:p>
            <a:endParaRPr lang="en-US"/>
          </a:p>
        </p:txBody>
      </p:sp>
      <p:sp>
        <p:nvSpPr>
          <p:cNvPr id="33798" name="Rectangle 6"/>
          <p:cNvSpPr>
            <a:spLocks noGrp="1" noChangeArrowheads="1"/>
          </p:cNvSpPr>
          <p:nvPr>
            <p:ph type="sldNum" sz="quarter" idx="4"/>
          </p:nvPr>
        </p:nvSpPr>
        <p:spPr bwMode="auto">
          <a:xfrm>
            <a:off x="9144000" y="6384926"/>
            <a:ext cx="2641600" cy="396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a:solidFill>
                  <a:schemeClr val="bg2"/>
                </a:solidFill>
              </a:defRPr>
            </a:lvl1pPr>
          </a:lstStyle>
          <a:p>
            <a:fld id="{F63FC11C-0073-4B58-8AC5-425947C2DA8F}"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p:txStyles>
    <p:titleStyle>
      <a:lvl1pPr algn="ctr" rtl="0" fontAlgn="base">
        <a:spcBef>
          <a:spcPct val="0"/>
        </a:spcBef>
        <a:spcAft>
          <a:spcPct val="0"/>
        </a:spcAft>
        <a:defRPr sz="3400" b="1">
          <a:solidFill>
            <a:srgbClr val="284B90"/>
          </a:solidFill>
          <a:effectLst>
            <a:outerShdw blurRad="38100" dist="38100" dir="2700000" algn="tl">
              <a:srgbClr val="C0C0C0"/>
            </a:outerShdw>
          </a:effectLst>
          <a:latin typeface="+mj-lt"/>
          <a:ea typeface="+mj-ea"/>
          <a:cs typeface="+mj-cs"/>
        </a:defRPr>
      </a:lvl1pPr>
      <a:lvl2pPr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2pPr>
      <a:lvl3pPr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3pPr>
      <a:lvl4pPr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4pPr>
      <a:lvl5pPr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5pPr>
      <a:lvl6pPr marL="457200"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6pPr>
      <a:lvl7pPr marL="914400"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7pPr>
      <a:lvl8pPr marL="1371600"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8pPr>
      <a:lvl9pPr marL="1828800"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9pPr>
    </p:titleStyle>
    <p:bodyStyle>
      <a:lvl1pPr marL="342900" indent="-342900" algn="l" rtl="0" fontAlgn="base">
        <a:spcBef>
          <a:spcPct val="20000"/>
        </a:spcBef>
        <a:spcAft>
          <a:spcPct val="0"/>
        </a:spcAft>
        <a:buClr>
          <a:schemeClr val="bg2"/>
        </a:buClr>
        <a:buChar char="•"/>
        <a:defRPr sz="2400">
          <a:solidFill>
            <a:srgbClr val="335FB7"/>
          </a:solidFill>
          <a:latin typeface="+mn-lt"/>
          <a:ea typeface="+mn-ea"/>
          <a:cs typeface="+mn-cs"/>
        </a:defRPr>
      </a:lvl1pPr>
      <a:lvl2pPr marL="742950" indent="-285750" algn="l" rtl="0" fontAlgn="base">
        <a:spcBef>
          <a:spcPct val="20000"/>
        </a:spcBef>
        <a:spcAft>
          <a:spcPct val="0"/>
        </a:spcAft>
        <a:buClr>
          <a:srgbClr val="B2B2B2"/>
        </a:buClr>
        <a:buFont typeface="Arial" charset="0"/>
        <a:buChar char="»"/>
        <a:defRPr sz="2200">
          <a:solidFill>
            <a:srgbClr val="414141"/>
          </a:solidFill>
          <a:latin typeface="+mn-lt"/>
          <a:cs typeface="+mn-cs"/>
        </a:defRPr>
      </a:lvl2pPr>
      <a:lvl3pPr marL="1143000" indent="-228600" algn="l" rtl="0" fontAlgn="base">
        <a:spcBef>
          <a:spcPct val="20000"/>
        </a:spcBef>
        <a:spcAft>
          <a:spcPct val="0"/>
        </a:spcAft>
        <a:buClr>
          <a:srgbClr val="B2B2B2"/>
        </a:buClr>
        <a:buChar char="•"/>
        <a:defRPr sz="2000">
          <a:solidFill>
            <a:srgbClr val="414141"/>
          </a:solidFill>
          <a:latin typeface="+mn-lt"/>
          <a:cs typeface="+mn-cs"/>
        </a:defRPr>
      </a:lvl3pPr>
      <a:lvl4pPr marL="1600200" indent="-228600" algn="l" rtl="0" fontAlgn="base">
        <a:spcBef>
          <a:spcPct val="20000"/>
        </a:spcBef>
        <a:spcAft>
          <a:spcPct val="0"/>
        </a:spcAft>
        <a:buClr>
          <a:srgbClr val="B2B2B2"/>
        </a:buClr>
        <a:buFont typeface="Arial" charset="0"/>
        <a:buChar char="»"/>
        <a:defRPr>
          <a:solidFill>
            <a:srgbClr val="414141"/>
          </a:solidFill>
          <a:latin typeface="+mn-lt"/>
          <a:cs typeface="+mn-cs"/>
        </a:defRPr>
      </a:lvl4pPr>
      <a:lvl5pPr marL="2057400" indent="-228600" algn="l" rtl="0" fontAlgn="base">
        <a:spcBef>
          <a:spcPct val="20000"/>
        </a:spcBef>
        <a:spcAft>
          <a:spcPct val="0"/>
        </a:spcAft>
        <a:buClr>
          <a:srgbClr val="B2B2B2"/>
        </a:buClr>
        <a:buChar char="•"/>
        <a:defRPr>
          <a:solidFill>
            <a:srgbClr val="414141"/>
          </a:solidFill>
          <a:latin typeface="+mn-lt"/>
          <a:cs typeface="+mn-cs"/>
        </a:defRPr>
      </a:lvl5pPr>
      <a:lvl6pPr marL="2514600" indent="-228600" algn="l" rtl="0" fontAlgn="base">
        <a:spcBef>
          <a:spcPct val="20000"/>
        </a:spcBef>
        <a:spcAft>
          <a:spcPct val="0"/>
        </a:spcAft>
        <a:buClr>
          <a:srgbClr val="B2B2B2"/>
        </a:buClr>
        <a:buChar char="•"/>
        <a:defRPr>
          <a:solidFill>
            <a:srgbClr val="414141"/>
          </a:solidFill>
          <a:latin typeface="+mn-lt"/>
          <a:cs typeface="+mn-cs"/>
        </a:defRPr>
      </a:lvl6pPr>
      <a:lvl7pPr marL="2971800" indent="-228600" algn="l" rtl="0" fontAlgn="base">
        <a:spcBef>
          <a:spcPct val="20000"/>
        </a:spcBef>
        <a:spcAft>
          <a:spcPct val="0"/>
        </a:spcAft>
        <a:buClr>
          <a:srgbClr val="B2B2B2"/>
        </a:buClr>
        <a:buChar char="•"/>
        <a:defRPr>
          <a:solidFill>
            <a:srgbClr val="414141"/>
          </a:solidFill>
          <a:latin typeface="+mn-lt"/>
          <a:cs typeface="+mn-cs"/>
        </a:defRPr>
      </a:lvl7pPr>
      <a:lvl8pPr marL="3429000" indent="-228600" algn="l" rtl="0" fontAlgn="base">
        <a:spcBef>
          <a:spcPct val="20000"/>
        </a:spcBef>
        <a:spcAft>
          <a:spcPct val="0"/>
        </a:spcAft>
        <a:buClr>
          <a:srgbClr val="B2B2B2"/>
        </a:buClr>
        <a:buChar char="•"/>
        <a:defRPr>
          <a:solidFill>
            <a:srgbClr val="414141"/>
          </a:solidFill>
          <a:latin typeface="+mn-lt"/>
          <a:cs typeface="+mn-cs"/>
        </a:defRPr>
      </a:lvl8pPr>
      <a:lvl9pPr marL="3886200" indent="-228600" algn="l" rtl="0" fontAlgn="base">
        <a:spcBef>
          <a:spcPct val="20000"/>
        </a:spcBef>
        <a:spcAft>
          <a:spcPct val="0"/>
        </a:spcAft>
        <a:buClr>
          <a:srgbClr val="B2B2B2"/>
        </a:buClr>
        <a:buChar char="•"/>
        <a:defRPr>
          <a:solidFill>
            <a:srgbClr val="414141"/>
          </a:solidFill>
          <a:latin typeface="+mn-lt"/>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xml"/><Relationship Id="rId3" Type="http://schemas.openxmlformats.org/officeDocument/2006/relationships/image" Target="../media/image5.jpg"/><Relationship Id="rId4" Type="http://schemas.openxmlformats.org/officeDocument/2006/relationships/image" Target="../media/image6.png"/><Relationship Id="rId5" Type="http://schemas.openxmlformats.org/officeDocument/2006/relationships/image" Target="../media/image7.emf"/><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17.xml"/><Relationship Id="rId4" Type="http://schemas.openxmlformats.org/officeDocument/2006/relationships/notesSlide" Target="../notesSlides/notesSlide3.xml"/><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 Id="rId3" Type="http://schemas.openxmlformats.org/officeDocument/2006/relationships/image" Target="../media/image15.svg"/><Relationship Id="rId4" Type="http://schemas.openxmlformats.org/officeDocument/2006/relationships/image" Target="../media/image16.svg"/><Relationship Id="rId5" Type="http://schemas.openxmlformats.org/officeDocument/2006/relationships/image" Target="../media/image17.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6.xml"/><Relationship Id="rId3" Type="http://schemas.openxmlformats.org/officeDocument/2006/relationships/image" Target="../media/image17.svg"/><Relationship Id="rId4" Type="http://schemas.openxmlformats.org/officeDocument/2006/relationships/image" Target="../media/image18.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 Id="rId3"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9.xml"/><Relationship Id="rId3" Type="http://schemas.openxmlformats.org/officeDocument/2006/relationships/image" Target="../media/image2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0.xml"/><Relationship Id="rId3" Type="http://schemas.openxmlformats.org/officeDocument/2006/relationships/image" Target="../media/image19.png"/><Relationship Id="rId4"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1.xml"/><Relationship Id="rId3" Type="http://schemas.openxmlformats.org/officeDocument/2006/relationships/image" Target="../media/image24.emf"/><Relationship Id="rId4" Type="http://schemas.openxmlformats.org/officeDocument/2006/relationships/image" Target="../media/image25.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3.xml"/><Relationship Id="rId3" Type="http://schemas.openxmlformats.org/officeDocument/2006/relationships/image" Target="../media/image31.png"/><Relationship Id="rId4" Type="http://schemas.openxmlformats.org/officeDocument/2006/relationships/image" Target="../media/image28.png"/><Relationship Id="rId5" Type="http://schemas.openxmlformats.org/officeDocument/2006/relationships/image" Target="../media/image32.svg"/><Relationship Id="rId6" Type="http://schemas.openxmlformats.org/officeDocument/2006/relationships/image" Target="../media/image33.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5.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 Id="rId3"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4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4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4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6.png"/><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6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6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63.png"/><Relationship Id="rId3" Type="http://schemas.openxmlformats.org/officeDocument/2006/relationships/image" Target="../media/image64.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6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66.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67.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68.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69.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7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7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74.png"/><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p:cNvSpPr>
            <a:spLocks noGrp="1" noChangeArrowheads="1"/>
          </p:cNvSpPr>
          <p:nvPr>
            <p:ph type="subTitle" idx="1"/>
          </p:nvPr>
        </p:nvSpPr>
        <p:spPr>
          <a:xfrm>
            <a:off x="2294163" y="2819400"/>
            <a:ext cx="7603671" cy="1752600"/>
          </a:xfrm>
        </p:spPr>
        <p:txBody>
          <a:bodyPr>
            <a:noAutofit/>
          </a:bodyPr>
          <a:lstStyle/>
          <a:p>
            <a:r>
              <a:rPr lang="en-US" sz="2000" b="1" dirty="0">
                <a:solidFill>
                  <a:schemeClr val="accent6">
                    <a:lumMod val="60000"/>
                    <a:lumOff val="40000"/>
                  </a:schemeClr>
                </a:solidFill>
              </a:rPr>
              <a:t>Jiandong Liu, Ph.D.</a:t>
            </a:r>
          </a:p>
          <a:p>
            <a:r>
              <a:rPr lang="en-US" sz="2000" b="1" dirty="0">
                <a:solidFill>
                  <a:schemeClr val="accent6">
                    <a:lumMod val="60000"/>
                    <a:lumOff val="40000"/>
                  </a:schemeClr>
                </a:solidFill>
              </a:rPr>
              <a:t>McAllister Heart Institute</a:t>
            </a:r>
          </a:p>
          <a:p>
            <a:r>
              <a:rPr lang="en-US" sz="2000" b="1" dirty="0">
                <a:solidFill>
                  <a:schemeClr val="accent6">
                    <a:lumMod val="60000"/>
                    <a:lumOff val="40000"/>
                  </a:schemeClr>
                </a:solidFill>
              </a:rPr>
              <a:t>Department of Pathology and Laboratory Medicine</a:t>
            </a:r>
          </a:p>
          <a:p>
            <a:r>
              <a:rPr lang="en-US" sz="2000" b="1" dirty="0">
                <a:solidFill>
                  <a:schemeClr val="accent6">
                    <a:lumMod val="60000"/>
                    <a:lumOff val="40000"/>
                  </a:schemeClr>
                </a:solidFill>
              </a:rPr>
              <a:t>University of North Carolina at Chapel Hill</a:t>
            </a:r>
          </a:p>
        </p:txBody>
      </p:sp>
      <p:sp>
        <p:nvSpPr>
          <p:cNvPr id="2" name="Title 1">
            <a:extLst>
              <a:ext uri="{FF2B5EF4-FFF2-40B4-BE49-F238E27FC236}">
                <a16:creationId xmlns:a16="http://schemas.microsoft.com/office/drawing/2014/main" id="{FFCFAA54-2626-60F2-8D88-CC55FF6AB159}"/>
              </a:ext>
            </a:extLst>
          </p:cNvPr>
          <p:cNvSpPr txBox="1">
            <a:spLocks/>
          </p:cNvSpPr>
          <p:nvPr/>
        </p:nvSpPr>
        <p:spPr bwMode="auto">
          <a:xfrm>
            <a:off x="548640" y="932688"/>
            <a:ext cx="11064240" cy="8229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fontAlgn="base">
              <a:spcBef>
                <a:spcPct val="0"/>
              </a:spcBef>
              <a:spcAft>
                <a:spcPct val="0"/>
              </a:spcAft>
              <a:defRPr sz="3400" b="1">
                <a:solidFill>
                  <a:srgbClr val="284B90"/>
                </a:solidFill>
                <a:effectLst>
                  <a:outerShdw blurRad="38100" dist="38100" dir="2700000" algn="tl">
                    <a:srgbClr val="C0C0C0"/>
                  </a:outerShdw>
                </a:effectLst>
                <a:latin typeface="+mj-lt"/>
                <a:ea typeface="+mj-ea"/>
                <a:cs typeface="+mj-cs"/>
              </a:defRPr>
            </a:lvl1pPr>
            <a:lvl2pPr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2pPr>
            <a:lvl3pPr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3pPr>
            <a:lvl4pPr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4pPr>
            <a:lvl5pPr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5pPr>
            <a:lvl6pPr marL="457200"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6pPr>
            <a:lvl7pPr marL="914400"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7pPr>
            <a:lvl8pPr marL="1371600"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8pPr>
            <a:lvl9pPr marL="1828800"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9pPr>
          </a:lstStyle>
          <a:p>
            <a:pPr algn="ctr">
              <a:defRPr sz="3400" b="1">
                <a:solidFill>
                  <a:srgbClr val="285180"/>
                </a:solidFill>
                <a:latin typeface="Arial"/>
              </a:defRPr>
            </a:pPr>
            <a:r>
              <a:t>Decoding Postnatal Heart Maturation</a:t>
            </a:r>
            <a:endParaRPr lang="en-US" sz="4000" dirty="0">
              <a:effectLst/>
              <a:cs typeface="Times New Roman" pitchFamily="18" charset="0"/>
            </a:endParaRPr>
          </a:p>
        </p:txBody>
      </p:sp>
      <p:sp>
        <p:nvSpPr>
          <p:cNvPr id="5" name="TextBox 4"/>
          <p:cNvSpPr txBox="1"/>
          <p:nvPr/>
        </p:nvSpPr>
        <p:spPr>
          <a:xfrm>
            <a:off x="685800" y="1856231"/>
            <a:ext cx="10817352" cy="585216"/>
          </a:xfrm>
          <a:prstGeom prst="rect">
            <a:avLst/>
          </a:prstGeom>
          <a:noFill/>
        </p:spPr>
        <p:txBody>
          <a:bodyPr wrap="square" lIns="0" rIns="0" tIns="0" bIns="0">
            <a:spAutoFit/>
          </a:bodyPr>
          <a:lstStyle/>
          <a:p>
            <a:pPr algn="ctr">
              <a:spcAft>
                <a:spcPts val="500"/>
              </a:spcAft>
              <a:defRPr sz="2500" b="0">
                <a:solidFill>
                  <a:srgbClr val="285180"/>
                </a:solidFill>
                <a:latin typeface="Arial"/>
              </a:defRPr>
            </a:pPr>
            <a:r>
              <a:t>From a Spatial Atlas to In Vivo Functional Genomics</a:t>
            </a:r>
          </a:p>
        </p:txBody>
      </p:sp>
      <p:sp>
        <p:nvSpPr>
          <p:cNvPr id="6" name="TextBox 5"/>
          <p:cNvSpPr txBox="1"/>
          <p:nvPr/>
        </p:nvSpPr>
        <p:spPr>
          <a:xfrm>
            <a:off x="914400" y="5212080"/>
            <a:ext cx="10360152" cy="548640"/>
          </a:xfrm>
          <a:prstGeom prst="rect">
            <a:avLst/>
          </a:prstGeom>
          <a:noFill/>
        </p:spPr>
        <p:txBody>
          <a:bodyPr wrap="square" lIns="0" rIns="0" tIns="0" bIns="0">
            <a:spAutoFit/>
          </a:bodyPr>
          <a:lstStyle/>
          <a:p>
            <a:pPr algn="ctr">
              <a:spcAft>
                <a:spcPts val="500"/>
              </a:spcAft>
              <a:defRPr sz="2000" b="0">
                <a:solidFill>
                  <a:srgbClr val="285180"/>
                </a:solidFill>
                <a:latin typeface="Arial"/>
              </a:defRPr>
            </a:pPr>
            <a:r>
              <a:t>Wang, Dong, Song et al.</a:t>
            </a:r>
          </a:p>
          <a:p>
            <a:pPr algn="ctr">
              <a:spcAft>
                <a:spcPts val="500"/>
              </a:spcAft>
              <a:defRPr sz="2000" b="0">
                <a:solidFill>
                  <a:srgbClr val="285180"/>
                </a:solidFill>
                <a:latin typeface="Arial"/>
              </a:defRPr>
            </a:pPr>
            <a:r>
              <a:t>Nature Cardiovascular Research, 2026</a:t>
            </a:r>
          </a:p>
        </p:txBody>
      </p:sp>
    </p:spTree>
    <p:extLst>
      <p:ext uri="{BB962C8B-B14F-4D97-AF65-F5344CB8AC3E}">
        <p14:creationId xmlns:p14="http://schemas.microsoft.com/office/powerpoint/2010/main" val="19613188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B48CB8B-71DE-48F3-644F-266F0EEC3004}"/>
              </a:ext>
            </a:extLst>
          </p:cNvPr>
          <p:cNvSpPr txBox="1"/>
          <p:nvPr/>
        </p:nvSpPr>
        <p:spPr>
          <a:xfrm>
            <a:off x="3857615" y="5121600"/>
            <a:ext cx="3332964" cy="600164"/>
          </a:xfrm>
          <a:prstGeom prst="rect">
            <a:avLst/>
          </a:prstGeom>
          <a:noFill/>
        </p:spPr>
        <p:txBody>
          <a:bodyPr wrap="none" rtlCol="0">
            <a:spAutoFit/>
          </a:bodyPr>
          <a:lstStyle/>
          <a:p>
            <a:r>
              <a:rPr lang="en-US" sz="1100" b="1" dirty="0">
                <a:solidFill>
                  <a:srgbClr val="212121"/>
                </a:solidFill>
              </a:rPr>
              <a:t>Kolanowski T et al., Int. J. </a:t>
            </a:r>
            <a:r>
              <a:rPr lang="en-US" sz="1100" b="1" dirty="0" err="1">
                <a:solidFill>
                  <a:srgbClr val="212121"/>
                </a:solidFill>
              </a:rPr>
              <a:t>Cardiol</a:t>
            </a:r>
            <a:r>
              <a:rPr lang="en-US" sz="1100" b="1" dirty="0">
                <a:solidFill>
                  <a:srgbClr val="212121"/>
                </a:solidFill>
              </a:rPr>
              <a:t>. 241:379-386</a:t>
            </a:r>
            <a:r>
              <a:rPr lang="en-US" sz="1100" b="1" i="0" u="none" strike="noStrike" dirty="0">
                <a:solidFill>
                  <a:srgbClr val="212121"/>
                </a:solidFill>
                <a:effectLst/>
              </a:rPr>
              <a:t> </a:t>
            </a:r>
            <a:endParaRPr lang="en-US" sz="1100" b="1" dirty="0"/>
          </a:p>
          <a:p>
            <a:r>
              <a:rPr lang="en-US" sz="1100" b="1" i="0" u="none" strike="noStrike" dirty="0">
                <a:solidFill>
                  <a:srgbClr val="212121"/>
                </a:solidFill>
                <a:effectLst/>
              </a:rPr>
              <a:t>Guo Y and Pu WT. Circ Res. 126:1086-1106</a:t>
            </a:r>
          </a:p>
          <a:p>
            <a:r>
              <a:rPr lang="en-US" sz="1100" b="1" i="0" u="none" strike="noStrike" dirty="0">
                <a:solidFill>
                  <a:srgbClr val="212121"/>
                </a:solidFill>
                <a:effectLst/>
              </a:rPr>
              <a:t>Doyle MJ  et al., Stem Cell Rev Rep.11:710-27.</a:t>
            </a:r>
          </a:p>
        </p:txBody>
      </p:sp>
      <p:grpSp>
        <p:nvGrpSpPr>
          <p:cNvPr id="7" name="Group 6">
            <a:extLst>
              <a:ext uri="{FF2B5EF4-FFF2-40B4-BE49-F238E27FC236}">
                <a16:creationId xmlns:a16="http://schemas.microsoft.com/office/drawing/2014/main" id="{C0878114-696B-5EF1-3172-FDC6F62DFEBB}"/>
              </a:ext>
            </a:extLst>
          </p:cNvPr>
          <p:cNvGrpSpPr/>
          <p:nvPr/>
        </p:nvGrpSpPr>
        <p:grpSpPr>
          <a:xfrm>
            <a:off x="3613626" y="1866738"/>
            <a:ext cx="4086697" cy="2924723"/>
            <a:chOff x="3618197" y="1843789"/>
            <a:chExt cx="4086697" cy="2924723"/>
          </a:xfrm>
        </p:grpSpPr>
        <p:grpSp>
          <p:nvGrpSpPr>
            <p:cNvPr id="3" name="Group 2"/>
            <p:cNvGrpSpPr/>
            <p:nvPr/>
          </p:nvGrpSpPr>
          <p:grpSpPr>
            <a:xfrm>
              <a:off x="3689647" y="1843789"/>
              <a:ext cx="4015247" cy="919753"/>
              <a:chOff x="6131591" y="1752600"/>
              <a:chExt cx="4015247" cy="919753"/>
            </a:xfrm>
          </p:grpSpPr>
          <p:grpSp>
            <p:nvGrpSpPr>
              <p:cNvPr id="210" name="Group 209">
                <a:extLst>
                  <a:ext uri="{FF2B5EF4-FFF2-40B4-BE49-F238E27FC236}">
                    <a16:creationId xmlns:a16="http://schemas.microsoft.com/office/drawing/2014/main" id="{FC026BD3-5C7B-0740-86C9-BB7D44F49A28}"/>
                  </a:ext>
                </a:extLst>
              </p:cNvPr>
              <p:cNvGrpSpPr/>
              <p:nvPr/>
            </p:nvGrpSpPr>
            <p:grpSpPr>
              <a:xfrm>
                <a:off x="9549650" y="1752600"/>
                <a:ext cx="597188" cy="919753"/>
                <a:chOff x="9851538" y="1519680"/>
                <a:chExt cx="1904825" cy="2933697"/>
              </a:xfrm>
            </p:grpSpPr>
            <p:sp>
              <p:nvSpPr>
                <p:cNvPr id="245" name="Freeform 244">
                  <a:extLst>
                    <a:ext uri="{FF2B5EF4-FFF2-40B4-BE49-F238E27FC236}">
                      <a16:creationId xmlns:a16="http://schemas.microsoft.com/office/drawing/2014/main" id="{35B8BF37-E611-9647-8E8D-D10B079B3BA3}"/>
                    </a:ext>
                  </a:extLst>
                </p:cNvPr>
                <p:cNvSpPr/>
                <p:nvPr/>
              </p:nvSpPr>
              <p:spPr>
                <a:xfrm>
                  <a:off x="9949005" y="1627829"/>
                  <a:ext cx="754691" cy="806452"/>
                </a:xfrm>
                <a:custGeom>
                  <a:avLst/>
                  <a:gdLst>
                    <a:gd name="connsiteX0" fmla="*/ 714876 w 754691"/>
                    <a:gd name="connsiteY0" fmla="*/ 287468 h 806452"/>
                    <a:gd name="connsiteX1" fmla="*/ 751946 w 754691"/>
                    <a:gd name="connsiteY1" fmla="*/ 188614 h 806452"/>
                    <a:gd name="connsiteX2" fmla="*/ 751946 w 754691"/>
                    <a:gd name="connsiteY2" fmla="*/ 114474 h 806452"/>
                    <a:gd name="connsiteX3" fmla="*/ 739590 w 754691"/>
                    <a:gd name="connsiteY3" fmla="*/ 52690 h 806452"/>
                    <a:gd name="connsiteX4" fmla="*/ 739590 w 754691"/>
                    <a:gd name="connsiteY4" fmla="*/ 65047 h 806452"/>
                    <a:gd name="connsiteX5" fmla="*/ 690163 w 754691"/>
                    <a:gd name="connsiteY5" fmla="*/ 15620 h 806452"/>
                    <a:gd name="connsiteX6" fmla="*/ 640736 w 754691"/>
                    <a:gd name="connsiteY6" fmla="*/ 3263 h 806452"/>
                    <a:gd name="connsiteX7" fmla="*/ 578952 w 754691"/>
                    <a:gd name="connsiteY7" fmla="*/ 3263 h 806452"/>
                    <a:gd name="connsiteX8" fmla="*/ 467741 w 754691"/>
                    <a:gd name="connsiteY8" fmla="*/ 40333 h 806452"/>
                    <a:gd name="connsiteX9" fmla="*/ 356530 w 754691"/>
                    <a:gd name="connsiteY9" fmla="*/ 77403 h 806452"/>
                    <a:gd name="connsiteX10" fmla="*/ 232963 w 754691"/>
                    <a:gd name="connsiteY10" fmla="*/ 163901 h 806452"/>
                    <a:gd name="connsiteX11" fmla="*/ 158822 w 754691"/>
                    <a:gd name="connsiteY11" fmla="*/ 213328 h 806452"/>
                    <a:gd name="connsiteX12" fmla="*/ 84681 w 754691"/>
                    <a:gd name="connsiteY12" fmla="*/ 336895 h 806452"/>
                    <a:gd name="connsiteX13" fmla="*/ 47611 w 754691"/>
                    <a:gd name="connsiteY13" fmla="*/ 448106 h 806452"/>
                    <a:gd name="connsiteX14" fmla="*/ 47611 w 754691"/>
                    <a:gd name="connsiteY14" fmla="*/ 546960 h 806452"/>
                    <a:gd name="connsiteX15" fmla="*/ 22898 w 754691"/>
                    <a:gd name="connsiteY15" fmla="*/ 670528 h 806452"/>
                    <a:gd name="connsiteX16" fmla="*/ 10541 w 754691"/>
                    <a:gd name="connsiteY16" fmla="*/ 757025 h 806452"/>
                    <a:gd name="connsiteX17" fmla="*/ 10541 w 754691"/>
                    <a:gd name="connsiteY17" fmla="*/ 806452 h 806452"/>
                    <a:gd name="connsiteX18" fmla="*/ 146465 w 754691"/>
                    <a:gd name="connsiteY18" fmla="*/ 757025 h 806452"/>
                    <a:gd name="connsiteX19" fmla="*/ 245319 w 754691"/>
                    <a:gd name="connsiteY19" fmla="*/ 695241 h 806452"/>
                    <a:gd name="connsiteX20" fmla="*/ 368887 w 754691"/>
                    <a:gd name="connsiteY20" fmla="*/ 645814 h 806452"/>
                    <a:gd name="connsiteX21" fmla="*/ 430671 w 754691"/>
                    <a:gd name="connsiteY21" fmla="*/ 608744 h 806452"/>
                    <a:gd name="connsiteX22" fmla="*/ 504811 w 754691"/>
                    <a:gd name="connsiteY22" fmla="*/ 559317 h 806452"/>
                    <a:gd name="connsiteX23" fmla="*/ 554238 w 754691"/>
                    <a:gd name="connsiteY23" fmla="*/ 509890 h 806452"/>
                    <a:gd name="connsiteX24" fmla="*/ 566595 w 754691"/>
                    <a:gd name="connsiteY24" fmla="*/ 497533 h 806452"/>
                    <a:gd name="connsiteX25" fmla="*/ 616022 w 754691"/>
                    <a:gd name="connsiteY25" fmla="*/ 485176 h 806452"/>
                    <a:gd name="connsiteX26" fmla="*/ 653092 w 754691"/>
                    <a:gd name="connsiteY26" fmla="*/ 448106 h 806452"/>
                    <a:gd name="connsiteX27" fmla="*/ 677806 w 754691"/>
                    <a:gd name="connsiteY27" fmla="*/ 398679 h 806452"/>
                    <a:gd name="connsiteX28" fmla="*/ 714876 w 754691"/>
                    <a:gd name="connsiteY28" fmla="*/ 287468 h 8064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754691" h="806452">
                      <a:moveTo>
                        <a:pt x="714876" y="287468"/>
                      </a:moveTo>
                      <a:cubicBezTo>
                        <a:pt x="727233" y="252457"/>
                        <a:pt x="751946" y="188614"/>
                        <a:pt x="751946" y="188614"/>
                      </a:cubicBezTo>
                      <a:cubicBezTo>
                        <a:pt x="758124" y="159782"/>
                        <a:pt x="751946" y="114474"/>
                        <a:pt x="751946" y="114474"/>
                      </a:cubicBezTo>
                      <a:cubicBezTo>
                        <a:pt x="749887" y="91820"/>
                        <a:pt x="741649" y="60928"/>
                        <a:pt x="739590" y="52690"/>
                      </a:cubicBezTo>
                      <a:cubicBezTo>
                        <a:pt x="737531" y="44452"/>
                        <a:pt x="739590" y="65047"/>
                        <a:pt x="739590" y="65047"/>
                      </a:cubicBezTo>
                      <a:cubicBezTo>
                        <a:pt x="731352" y="58869"/>
                        <a:pt x="690163" y="15620"/>
                        <a:pt x="690163" y="15620"/>
                      </a:cubicBezTo>
                      <a:cubicBezTo>
                        <a:pt x="673687" y="5323"/>
                        <a:pt x="640736" y="3263"/>
                        <a:pt x="640736" y="3263"/>
                      </a:cubicBezTo>
                      <a:cubicBezTo>
                        <a:pt x="622201" y="1203"/>
                        <a:pt x="607784" y="-2915"/>
                        <a:pt x="578952" y="3263"/>
                      </a:cubicBezTo>
                      <a:cubicBezTo>
                        <a:pt x="550120" y="9441"/>
                        <a:pt x="467741" y="40333"/>
                        <a:pt x="467741" y="40333"/>
                      </a:cubicBezTo>
                      <a:cubicBezTo>
                        <a:pt x="430671" y="52690"/>
                        <a:pt x="395660" y="56808"/>
                        <a:pt x="356530" y="77403"/>
                      </a:cubicBezTo>
                      <a:cubicBezTo>
                        <a:pt x="317400" y="97998"/>
                        <a:pt x="232963" y="163901"/>
                        <a:pt x="232963" y="163901"/>
                      </a:cubicBezTo>
                      <a:cubicBezTo>
                        <a:pt x="200012" y="186555"/>
                        <a:pt x="183536" y="184496"/>
                        <a:pt x="158822" y="213328"/>
                      </a:cubicBezTo>
                      <a:cubicBezTo>
                        <a:pt x="134108" y="242160"/>
                        <a:pt x="103216" y="297765"/>
                        <a:pt x="84681" y="336895"/>
                      </a:cubicBezTo>
                      <a:cubicBezTo>
                        <a:pt x="66146" y="376025"/>
                        <a:pt x="53789" y="413095"/>
                        <a:pt x="47611" y="448106"/>
                      </a:cubicBezTo>
                      <a:cubicBezTo>
                        <a:pt x="41433" y="483117"/>
                        <a:pt x="51730" y="509890"/>
                        <a:pt x="47611" y="546960"/>
                      </a:cubicBezTo>
                      <a:cubicBezTo>
                        <a:pt x="43492" y="584030"/>
                        <a:pt x="29076" y="635517"/>
                        <a:pt x="22898" y="670528"/>
                      </a:cubicBezTo>
                      <a:cubicBezTo>
                        <a:pt x="16720" y="705539"/>
                        <a:pt x="10541" y="757025"/>
                        <a:pt x="10541" y="757025"/>
                      </a:cubicBezTo>
                      <a:cubicBezTo>
                        <a:pt x="8482" y="779679"/>
                        <a:pt x="-12113" y="806452"/>
                        <a:pt x="10541" y="806452"/>
                      </a:cubicBezTo>
                      <a:cubicBezTo>
                        <a:pt x="33195" y="806452"/>
                        <a:pt x="107335" y="775560"/>
                        <a:pt x="146465" y="757025"/>
                      </a:cubicBezTo>
                      <a:cubicBezTo>
                        <a:pt x="185595" y="738490"/>
                        <a:pt x="208249" y="713776"/>
                        <a:pt x="245319" y="695241"/>
                      </a:cubicBezTo>
                      <a:cubicBezTo>
                        <a:pt x="282389" y="676706"/>
                        <a:pt x="368887" y="645814"/>
                        <a:pt x="368887" y="645814"/>
                      </a:cubicBezTo>
                      <a:cubicBezTo>
                        <a:pt x="399779" y="631398"/>
                        <a:pt x="430671" y="608744"/>
                        <a:pt x="430671" y="608744"/>
                      </a:cubicBezTo>
                      <a:cubicBezTo>
                        <a:pt x="453325" y="594328"/>
                        <a:pt x="504811" y="559317"/>
                        <a:pt x="504811" y="559317"/>
                      </a:cubicBezTo>
                      <a:cubicBezTo>
                        <a:pt x="525406" y="542841"/>
                        <a:pt x="554238" y="509890"/>
                        <a:pt x="554238" y="509890"/>
                      </a:cubicBezTo>
                      <a:lnTo>
                        <a:pt x="566595" y="497533"/>
                      </a:lnTo>
                      <a:cubicBezTo>
                        <a:pt x="576892" y="493414"/>
                        <a:pt x="616022" y="485176"/>
                        <a:pt x="616022" y="485176"/>
                      </a:cubicBezTo>
                      <a:cubicBezTo>
                        <a:pt x="630438" y="476938"/>
                        <a:pt x="653092" y="448106"/>
                        <a:pt x="653092" y="448106"/>
                      </a:cubicBezTo>
                      <a:cubicBezTo>
                        <a:pt x="663389" y="433690"/>
                        <a:pt x="667509" y="423392"/>
                        <a:pt x="677806" y="398679"/>
                      </a:cubicBezTo>
                      <a:cubicBezTo>
                        <a:pt x="688103" y="373966"/>
                        <a:pt x="702519" y="322479"/>
                        <a:pt x="714876" y="287468"/>
                      </a:cubicBezTo>
                      <a:close/>
                    </a:path>
                  </a:pathLst>
                </a:custGeom>
                <a:solidFill>
                  <a:srgbClr val="C98588"/>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 name="Freeform 245">
                  <a:extLst>
                    <a:ext uri="{FF2B5EF4-FFF2-40B4-BE49-F238E27FC236}">
                      <a16:creationId xmlns:a16="http://schemas.microsoft.com/office/drawing/2014/main" id="{C825B7F7-F504-7B40-A496-8FF555BAB951}"/>
                    </a:ext>
                  </a:extLst>
                </p:cNvPr>
                <p:cNvSpPr/>
                <p:nvPr/>
              </p:nvSpPr>
              <p:spPr>
                <a:xfrm>
                  <a:off x="10130711" y="1864040"/>
                  <a:ext cx="421959" cy="298392"/>
                </a:xfrm>
                <a:custGeom>
                  <a:avLst/>
                  <a:gdLst>
                    <a:gd name="connsiteX0" fmla="*/ 360175 w 421959"/>
                    <a:gd name="connsiteY0" fmla="*/ 75971 h 298392"/>
                    <a:gd name="connsiteX1" fmla="*/ 286035 w 421959"/>
                    <a:gd name="connsiteY1" fmla="*/ 113041 h 298392"/>
                    <a:gd name="connsiteX2" fmla="*/ 236608 w 421959"/>
                    <a:gd name="connsiteY2" fmla="*/ 137755 h 298392"/>
                    <a:gd name="connsiteX3" fmla="*/ 162467 w 421959"/>
                    <a:gd name="connsiteY3" fmla="*/ 125398 h 298392"/>
                    <a:gd name="connsiteX4" fmla="*/ 100684 w 421959"/>
                    <a:gd name="connsiteY4" fmla="*/ 88328 h 298392"/>
                    <a:gd name="connsiteX5" fmla="*/ 63613 w 421959"/>
                    <a:gd name="connsiteY5" fmla="*/ 63614 h 298392"/>
                    <a:gd name="connsiteX6" fmla="*/ 26543 w 421959"/>
                    <a:gd name="connsiteY6" fmla="*/ 75971 h 298392"/>
                    <a:gd name="connsiteX7" fmla="*/ 1830 w 421959"/>
                    <a:gd name="connsiteY7" fmla="*/ 113041 h 298392"/>
                    <a:gd name="connsiteX8" fmla="*/ 26543 w 421959"/>
                    <a:gd name="connsiteY8" fmla="*/ 137755 h 298392"/>
                    <a:gd name="connsiteX9" fmla="*/ 75970 w 421959"/>
                    <a:gd name="connsiteY9" fmla="*/ 150111 h 298392"/>
                    <a:gd name="connsiteX10" fmla="*/ 26543 w 421959"/>
                    <a:gd name="connsiteY10" fmla="*/ 187182 h 298392"/>
                    <a:gd name="connsiteX11" fmla="*/ 1830 w 421959"/>
                    <a:gd name="connsiteY11" fmla="*/ 236609 h 298392"/>
                    <a:gd name="connsiteX12" fmla="*/ 1830 w 421959"/>
                    <a:gd name="connsiteY12" fmla="*/ 273679 h 298392"/>
                    <a:gd name="connsiteX13" fmla="*/ 1830 w 421959"/>
                    <a:gd name="connsiteY13" fmla="*/ 298392 h 298392"/>
                    <a:gd name="connsiteX14" fmla="*/ 63613 w 421959"/>
                    <a:gd name="connsiteY14" fmla="*/ 261322 h 298392"/>
                    <a:gd name="connsiteX15" fmla="*/ 88327 w 421959"/>
                    <a:gd name="connsiteY15" fmla="*/ 236609 h 298392"/>
                    <a:gd name="connsiteX16" fmla="*/ 125397 w 421959"/>
                    <a:gd name="connsiteY16" fmla="*/ 236609 h 298392"/>
                    <a:gd name="connsiteX17" fmla="*/ 211894 w 421959"/>
                    <a:gd name="connsiteY17" fmla="*/ 248965 h 298392"/>
                    <a:gd name="connsiteX18" fmla="*/ 273678 w 421959"/>
                    <a:gd name="connsiteY18" fmla="*/ 211895 h 298392"/>
                    <a:gd name="connsiteX19" fmla="*/ 323105 w 421959"/>
                    <a:gd name="connsiteY19" fmla="*/ 174825 h 298392"/>
                    <a:gd name="connsiteX20" fmla="*/ 372532 w 421959"/>
                    <a:gd name="connsiteY20" fmla="*/ 125398 h 298392"/>
                    <a:gd name="connsiteX21" fmla="*/ 409603 w 421959"/>
                    <a:gd name="connsiteY21" fmla="*/ 100684 h 298392"/>
                    <a:gd name="connsiteX22" fmla="*/ 421959 w 421959"/>
                    <a:gd name="connsiteY22" fmla="*/ 26544 h 298392"/>
                    <a:gd name="connsiteX23" fmla="*/ 397246 w 421959"/>
                    <a:gd name="connsiteY23" fmla="*/ 1830 h 298392"/>
                    <a:gd name="connsiteX24" fmla="*/ 384889 w 421959"/>
                    <a:gd name="connsiteY24" fmla="*/ 1830 h 298392"/>
                    <a:gd name="connsiteX25" fmla="*/ 360175 w 421959"/>
                    <a:gd name="connsiteY25" fmla="*/ 75971 h 2983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421959" h="298392">
                      <a:moveTo>
                        <a:pt x="360175" y="75971"/>
                      </a:moveTo>
                      <a:lnTo>
                        <a:pt x="286035" y="113041"/>
                      </a:lnTo>
                      <a:lnTo>
                        <a:pt x="236608" y="137755"/>
                      </a:lnTo>
                      <a:cubicBezTo>
                        <a:pt x="216013" y="139815"/>
                        <a:pt x="162467" y="125398"/>
                        <a:pt x="162467" y="125398"/>
                      </a:cubicBezTo>
                      <a:cubicBezTo>
                        <a:pt x="139813" y="117160"/>
                        <a:pt x="100684" y="88328"/>
                        <a:pt x="100684" y="88328"/>
                      </a:cubicBezTo>
                      <a:cubicBezTo>
                        <a:pt x="84208" y="78031"/>
                        <a:pt x="63613" y="63614"/>
                        <a:pt x="63613" y="63614"/>
                      </a:cubicBezTo>
                      <a:cubicBezTo>
                        <a:pt x="51256" y="61554"/>
                        <a:pt x="26543" y="75971"/>
                        <a:pt x="26543" y="75971"/>
                      </a:cubicBezTo>
                      <a:cubicBezTo>
                        <a:pt x="16246" y="84209"/>
                        <a:pt x="1830" y="113041"/>
                        <a:pt x="1830" y="113041"/>
                      </a:cubicBezTo>
                      <a:lnTo>
                        <a:pt x="26543" y="137755"/>
                      </a:lnTo>
                      <a:cubicBezTo>
                        <a:pt x="38900" y="143933"/>
                        <a:pt x="75970" y="150111"/>
                        <a:pt x="75970" y="150111"/>
                      </a:cubicBezTo>
                      <a:cubicBezTo>
                        <a:pt x="75970" y="158349"/>
                        <a:pt x="26543" y="187182"/>
                        <a:pt x="26543" y="187182"/>
                      </a:cubicBezTo>
                      <a:cubicBezTo>
                        <a:pt x="14186" y="201598"/>
                        <a:pt x="1830" y="236609"/>
                        <a:pt x="1830" y="236609"/>
                      </a:cubicBezTo>
                      <a:cubicBezTo>
                        <a:pt x="-2289" y="251025"/>
                        <a:pt x="1830" y="273679"/>
                        <a:pt x="1830" y="273679"/>
                      </a:cubicBezTo>
                      <a:lnTo>
                        <a:pt x="1830" y="298392"/>
                      </a:lnTo>
                      <a:cubicBezTo>
                        <a:pt x="12127" y="296333"/>
                        <a:pt x="63613" y="261322"/>
                        <a:pt x="63613" y="261322"/>
                      </a:cubicBezTo>
                      <a:cubicBezTo>
                        <a:pt x="78029" y="251025"/>
                        <a:pt x="88327" y="236609"/>
                        <a:pt x="88327" y="236609"/>
                      </a:cubicBezTo>
                      <a:cubicBezTo>
                        <a:pt x="98624" y="232490"/>
                        <a:pt x="104803" y="234550"/>
                        <a:pt x="125397" y="236609"/>
                      </a:cubicBezTo>
                      <a:cubicBezTo>
                        <a:pt x="145991" y="238668"/>
                        <a:pt x="211894" y="248965"/>
                        <a:pt x="211894" y="248965"/>
                      </a:cubicBezTo>
                      <a:cubicBezTo>
                        <a:pt x="236607" y="244846"/>
                        <a:pt x="273678" y="211895"/>
                        <a:pt x="273678" y="211895"/>
                      </a:cubicBezTo>
                      <a:cubicBezTo>
                        <a:pt x="292213" y="199538"/>
                        <a:pt x="323105" y="174825"/>
                        <a:pt x="323105" y="174825"/>
                      </a:cubicBezTo>
                      <a:cubicBezTo>
                        <a:pt x="339581" y="160409"/>
                        <a:pt x="372532" y="125398"/>
                        <a:pt x="372532" y="125398"/>
                      </a:cubicBezTo>
                      <a:cubicBezTo>
                        <a:pt x="386948" y="113041"/>
                        <a:pt x="409603" y="100684"/>
                        <a:pt x="409603" y="100684"/>
                      </a:cubicBezTo>
                      <a:cubicBezTo>
                        <a:pt x="417841" y="84208"/>
                        <a:pt x="421959" y="26544"/>
                        <a:pt x="421959" y="26544"/>
                      </a:cubicBezTo>
                      <a:cubicBezTo>
                        <a:pt x="419900" y="10068"/>
                        <a:pt x="397246" y="1830"/>
                        <a:pt x="397246" y="1830"/>
                      </a:cubicBezTo>
                      <a:cubicBezTo>
                        <a:pt x="391068" y="-2289"/>
                        <a:pt x="384889" y="1830"/>
                        <a:pt x="384889" y="1830"/>
                      </a:cubicBezTo>
                      <a:cubicBezTo>
                        <a:pt x="382830" y="12127"/>
                        <a:pt x="383859" y="37870"/>
                        <a:pt x="360175" y="7597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7" name="Freeform 246">
                  <a:extLst>
                    <a:ext uri="{FF2B5EF4-FFF2-40B4-BE49-F238E27FC236}">
                      <a16:creationId xmlns:a16="http://schemas.microsoft.com/office/drawing/2014/main" id="{E86EF64E-D767-034D-AAAA-24B13B30CC8E}"/>
                    </a:ext>
                  </a:extLst>
                </p:cNvPr>
                <p:cNvSpPr/>
                <p:nvPr/>
              </p:nvSpPr>
              <p:spPr>
                <a:xfrm>
                  <a:off x="10602097" y="1519680"/>
                  <a:ext cx="704335" cy="2793816"/>
                </a:xfrm>
                <a:custGeom>
                  <a:avLst/>
                  <a:gdLst>
                    <a:gd name="connsiteX0" fmla="*/ 148281 w 704335"/>
                    <a:gd name="connsiteY0" fmla="*/ 494471 h 2793816"/>
                    <a:gd name="connsiteX1" fmla="*/ 234779 w 704335"/>
                    <a:gd name="connsiteY1" fmla="*/ 383261 h 2793816"/>
                    <a:gd name="connsiteX2" fmla="*/ 284206 w 704335"/>
                    <a:gd name="connsiteY2" fmla="*/ 321477 h 2793816"/>
                    <a:gd name="connsiteX3" fmla="*/ 321276 w 704335"/>
                    <a:gd name="connsiteY3" fmla="*/ 247336 h 2793816"/>
                    <a:gd name="connsiteX4" fmla="*/ 345989 w 704335"/>
                    <a:gd name="connsiteY4" fmla="*/ 185552 h 2793816"/>
                    <a:gd name="connsiteX5" fmla="*/ 383060 w 704335"/>
                    <a:gd name="connsiteY5" fmla="*/ 148482 h 2793816"/>
                    <a:gd name="connsiteX6" fmla="*/ 395417 w 704335"/>
                    <a:gd name="connsiteY6" fmla="*/ 123769 h 2793816"/>
                    <a:gd name="connsiteX7" fmla="*/ 432487 w 704335"/>
                    <a:gd name="connsiteY7" fmla="*/ 86698 h 2793816"/>
                    <a:gd name="connsiteX8" fmla="*/ 494271 w 704335"/>
                    <a:gd name="connsiteY8" fmla="*/ 24915 h 2793816"/>
                    <a:gd name="connsiteX9" fmla="*/ 568411 w 704335"/>
                    <a:gd name="connsiteY9" fmla="*/ 201 h 2793816"/>
                    <a:gd name="connsiteX10" fmla="*/ 630195 w 704335"/>
                    <a:gd name="connsiteY10" fmla="*/ 12558 h 2793816"/>
                    <a:gd name="connsiteX11" fmla="*/ 679622 w 704335"/>
                    <a:gd name="connsiteY11" fmla="*/ 24915 h 2793816"/>
                    <a:gd name="connsiteX12" fmla="*/ 704335 w 704335"/>
                    <a:gd name="connsiteY12" fmla="*/ 49628 h 2793816"/>
                    <a:gd name="connsiteX13" fmla="*/ 679622 w 704335"/>
                    <a:gd name="connsiteY13" fmla="*/ 123769 h 2793816"/>
                    <a:gd name="connsiteX14" fmla="*/ 580768 w 704335"/>
                    <a:gd name="connsiteY14" fmla="*/ 197909 h 2793816"/>
                    <a:gd name="connsiteX15" fmla="*/ 481914 w 704335"/>
                    <a:gd name="connsiteY15" fmla="*/ 247336 h 2793816"/>
                    <a:gd name="connsiteX16" fmla="*/ 407773 w 704335"/>
                    <a:gd name="connsiteY16" fmla="*/ 309120 h 2793816"/>
                    <a:gd name="connsiteX17" fmla="*/ 333633 w 704335"/>
                    <a:gd name="connsiteY17" fmla="*/ 383261 h 2793816"/>
                    <a:gd name="connsiteX18" fmla="*/ 296562 w 704335"/>
                    <a:gd name="connsiteY18" fmla="*/ 469758 h 2793816"/>
                    <a:gd name="connsiteX19" fmla="*/ 321276 w 704335"/>
                    <a:gd name="connsiteY19" fmla="*/ 519185 h 2793816"/>
                    <a:gd name="connsiteX20" fmla="*/ 358346 w 704335"/>
                    <a:gd name="connsiteY20" fmla="*/ 568612 h 2793816"/>
                    <a:gd name="connsiteX21" fmla="*/ 383060 w 704335"/>
                    <a:gd name="connsiteY21" fmla="*/ 667466 h 2793816"/>
                    <a:gd name="connsiteX22" fmla="*/ 383060 w 704335"/>
                    <a:gd name="connsiteY22" fmla="*/ 716893 h 2793816"/>
                    <a:gd name="connsiteX23" fmla="*/ 358346 w 704335"/>
                    <a:gd name="connsiteY23" fmla="*/ 778677 h 2793816"/>
                    <a:gd name="connsiteX24" fmla="*/ 321276 w 704335"/>
                    <a:gd name="connsiteY24" fmla="*/ 791034 h 2793816"/>
                    <a:gd name="connsiteX25" fmla="*/ 296562 w 704335"/>
                    <a:gd name="connsiteY25" fmla="*/ 778677 h 2793816"/>
                    <a:gd name="connsiteX26" fmla="*/ 308919 w 704335"/>
                    <a:gd name="connsiteY26" fmla="*/ 729250 h 2793816"/>
                    <a:gd name="connsiteX27" fmla="*/ 308919 w 704335"/>
                    <a:gd name="connsiteY27" fmla="*/ 692179 h 2793816"/>
                    <a:gd name="connsiteX28" fmla="*/ 308919 w 704335"/>
                    <a:gd name="connsiteY28" fmla="*/ 679823 h 2793816"/>
                    <a:gd name="connsiteX29" fmla="*/ 308919 w 704335"/>
                    <a:gd name="connsiteY29" fmla="*/ 655109 h 2793816"/>
                    <a:gd name="connsiteX30" fmla="*/ 296562 w 704335"/>
                    <a:gd name="connsiteY30" fmla="*/ 630396 h 2793816"/>
                    <a:gd name="connsiteX31" fmla="*/ 284206 w 704335"/>
                    <a:gd name="connsiteY31" fmla="*/ 630396 h 2793816"/>
                    <a:gd name="connsiteX32" fmla="*/ 259492 w 704335"/>
                    <a:gd name="connsiteY32" fmla="*/ 741606 h 2793816"/>
                    <a:gd name="connsiteX33" fmla="*/ 259492 w 704335"/>
                    <a:gd name="connsiteY33" fmla="*/ 852817 h 2793816"/>
                    <a:gd name="connsiteX34" fmla="*/ 271849 w 704335"/>
                    <a:gd name="connsiteY34" fmla="*/ 926958 h 2793816"/>
                    <a:gd name="connsiteX35" fmla="*/ 296562 w 704335"/>
                    <a:gd name="connsiteY35" fmla="*/ 1001098 h 2793816"/>
                    <a:gd name="connsiteX36" fmla="*/ 308919 w 704335"/>
                    <a:gd name="connsiteY36" fmla="*/ 1025812 h 2793816"/>
                    <a:gd name="connsiteX37" fmla="*/ 296562 w 704335"/>
                    <a:gd name="connsiteY37" fmla="*/ 1062882 h 2793816"/>
                    <a:gd name="connsiteX38" fmla="*/ 247135 w 704335"/>
                    <a:gd name="connsiteY38" fmla="*/ 1112309 h 2793816"/>
                    <a:gd name="connsiteX39" fmla="*/ 210065 w 704335"/>
                    <a:gd name="connsiteY39" fmla="*/ 1211163 h 2793816"/>
                    <a:gd name="connsiteX40" fmla="*/ 234779 w 704335"/>
                    <a:gd name="connsiteY40" fmla="*/ 1272947 h 2793816"/>
                    <a:gd name="connsiteX41" fmla="*/ 271849 w 704335"/>
                    <a:gd name="connsiteY41" fmla="*/ 1297661 h 2793816"/>
                    <a:gd name="connsiteX42" fmla="*/ 284206 w 704335"/>
                    <a:gd name="connsiteY42" fmla="*/ 1371801 h 2793816"/>
                    <a:gd name="connsiteX43" fmla="*/ 234779 w 704335"/>
                    <a:gd name="connsiteY43" fmla="*/ 1470655 h 2793816"/>
                    <a:gd name="connsiteX44" fmla="*/ 234779 w 704335"/>
                    <a:gd name="connsiteY44" fmla="*/ 1569509 h 2793816"/>
                    <a:gd name="connsiteX45" fmla="*/ 296562 w 704335"/>
                    <a:gd name="connsiteY45" fmla="*/ 1631293 h 2793816"/>
                    <a:gd name="connsiteX46" fmla="*/ 358346 w 704335"/>
                    <a:gd name="connsiteY46" fmla="*/ 1668363 h 2793816"/>
                    <a:gd name="connsiteX47" fmla="*/ 370703 w 704335"/>
                    <a:gd name="connsiteY47" fmla="*/ 1730147 h 2793816"/>
                    <a:gd name="connsiteX48" fmla="*/ 370703 w 704335"/>
                    <a:gd name="connsiteY48" fmla="*/ 1779574 h 2793816"/>
                    <a:gd name="connsiteX49" fmla="*/ 321276 w 704335"/>
                    <a:gd name="connsiteY49" fmla="*/ 1767217 h 2793816"/>
                    <a:gd name="connsiteX50" fmla="*/ 284206 w 704335"/>
                    <a:gd name="connsiteY50" fmla="*/ 1730147 h 2793816"/>
                    <a:gd name="connsiteX51" fmla="*/ 222422 w 704335"/>
                    <a:gd name="connsiteY51" fmla="*/ 1742504 h 2793816"/>
                    <a:gd name="connsiteX52" fmla="*/ 197708 w 704335"/>
                    <a:gd name="connsiteY52" fmla="*/ 1791931 h 2793816"/>
                    <a:gd name="connsiteX53" fmla="*/ 197708 w 704335"/>
                    <a:gd name="connsiteY53" fmla="*/ 1878428 h 2793816"/>
                    <a:gd name="connsiteX54" fmla="*/ 210065 w 704335"/>
                    <a:gd name="connsiteY54" fmla="*/ 1952569 h 2793816"/>
                    <a:gd name="connsiteX55" fmla="*/ 234779 w 704335"/>
                    <a:gd name="connsiteY55" fmla="*/ 2076136 h 2793816"/>
                    <a:gd name="connsiteX56" fmla="*/ 247135 w 704335"/>
                    <a:gd name="connsiteY56" fmla="*/ 2224417 h 2793816"/>
                    <a:gd name="connsiteX57" fmla="*/ 247135 w 704335"/>
                    <a:gd name="connsiteY57" fmla="*/ 2323271 h 2793816"/>
                    <a:gd name="connsiteX58" fmla="*/ 247135 w 704335"/>
                    <a:gd name="connsiteY58" fmla="*/ 2434482 h 2793816"/>
                    <a:gd name="connsiteX59" fmla="*/ 247135 w 704335"/>
                    <a:gd name="connsiteY59" fmla="*/ 2545693 h 2793816"/>
                    <a:gd name="connsiteX60" fmla="*/ 247135 w 704335"/>
                    <a:gd name="connsiteY60" fmla="*/ 2681617 h 2793816"/>
                    <a:gd name="connsiteX61" fmla="*/ 197708 w 704335"/>
                    <a:gd name="connsiteY61" fmla="*/ 2780471 h 2793816"/>
                    <a:gd name="connsiteX62" fmla="*/ 160638 w 704335"/>
                    <a:gd name="connsiteY62" fmla="*/ 2792828 h 2793816"/>
                    <a:gd name="connsiteX63" fmla="*/ 135925 w 704335"/>
                    <a:gd name="connsiteY63" fmla="*/ 2792828 h 2793816"/>
                    <a:gd name="connsiteX64" fmla="*/ 148281 w 704335"/>
                    <a:gd name="connsiteY64" fmla="*/ 2743401 h 2793816"/>
                    <a:gd name="connsiteX65" fmla="*/ 148281 w 704335"/>
                    <a:gd name="connsiteY65" fmla="*/ 2706331 h 2793816"/>
                    <a:gd name="connsiteX66" fmla="*/ 123568 w 704335"/>
                    <a:gd name="connsiteY66" fmla="*/ 2669261 h 2793816"/>
                    <a:gd name="connsiteX67" fmla="*/ 98854 w 704335"/>
                    <a:gd name="connsiteY67" fmla="*/ 2607477 h 2793816"/>
                    <a:gd name="connsiteX68" fmla="*/ 61784 w 704335"/>
                    <a:gd name="connsiteY68" fmla="*/ 2520979 h 2793816"/>
                    <a:gd name="connsiteX69" fmla="*/ 37071 w 704335"/>
                    <a:gd name="connsiteY69" fmla="*/ 2422125 h 2793816"/>
                    <a:gd name="connsiteX70" fmla="*/ 24714 w 704335"/>
                    <a:gd name="connsiteY70" fmla="*/ 2310915 h 2793816"/>
                    <a:gd name="connsiteX71" fmla="*/ 12357 w 704335"/>
                    <a:gd name="connsiteY71" fmla="*/ 2113206 h 2793816"/>
                    <a:gd name="connsiteX72" fmla="*/ 12357 w 704335"/>
                    <a:gd name="connsiteY72" fmla="*/ 1903142 h 2793816"/>
                    <a:gd name="connsiteX73" fmla="*/ 24714 w 704335"/>
                    <a:gd name="connsiteY73" fmla="*/ 1705434 h 2793816"/>
                    <a:gd name="connsiteX74" fmla="*/ 49427 w 704335"/>
                    <a:gd name="connsiteY74" fmla="*/ 1569509 h 2793816"/>
                    <a:gd name="connsiteX75" fmla="*/ 74141 w 704335"/>
                    <a:gd name="connsiteY75" fmla="*/ 1396515 h 2793816"/>
                    <a:gd name="connsiteX76" fmla="*/ 98854 w 704335"/>
                    <a:gd name="connsiteY76" fmla="*/ 1211163 h 2793816"/>
                    <a:gd name="connsiteX77" fmla="*/ 98854 w 704335"/>
                    <a:gd name="connsiteY77" fmla="*/ 1025812 h 2793816"/>
                    <a:gd name="connsiteX78" fmla="*/ 123568 w 704335"/>
                    <a:gd name="connsiteY78" fmla="*/ 988742 h 2793816"/>
                    <a:gd name="connsiteX79" fmla="*/ 135925 w 704335"/>
                    <a:gd name="connsiteY79" fmla="*/ 939315 h 2793816"/>
                    <a:gd name="connsiteX80" fmla="*/ 111211 w 704335"/>
                    <a:gd name="connsiteY80" fmla="*/ 889888 h 2793816"/>
                    <a:gd name="connsiteX81" fmla="*/ 86498 w 704335"/>
                    <a:gd name="connsiteY81" fmla="*/ 852817 h 2793816"/>
                    <a:gd name="connsiteX82" fmla="*/ 37071 w 704335"/>
                    <a:gd name="connsiteY82" fmla="*/ 828104 h 2793816"/>
                    <a:gd name="connsiteX83" fmla="*/ 12357 w 704335"/>
                    <a:gd name="connsiteY83" fmla="*/ 852817 h 2793816"/>
                    <a:gd name="connsiteX84" fmla="*/ 0 w 704335"/>
                    <a:gd name="connsiteY84" fmla="*/ 840461 h 2793816"/>
                    <a:gd name="connsiteX85" fmla="*/ 12357 w 704335"/>
                    <a:gd name="connsiteY85" fmla="*/ 828104 h 2793816"/>
                    <a:gd name="connsiteX86" fmla="*/ 74141 w 704335"/>
                    <a:gd name="connsiteY86" fmla="*/ 815747 h 2793816"/>
                    <a:gd name="connsiteX87" fmla="*/ 172995 w 704335"/>
                    <a:gd name="connsiteY87" fmla="*/ 791034 h 2793816"/>
                    <a:gd name="connsiteX88" fmla="*/ 123568 w 704335"/>
                    <a:gd name="connsiteY88" fmla="*/ 741606 h 2793816"/>
                    <a:gd name="connsiteX89" fmla="*/ 37071 w 704335"/>
                    <a:gd name="connsiteY89" fmla="*/ 679823 h 2793816"/>
                    <a:gd name="connsiteX90" fmla="*/ 12357 w 704335"/>
                    <a:gd name="connsiteY90" fmla="*/ 655109 h 2793816"/>
                    <a:gd name="connsiteX91" fmla="*/ 37071 w 704335"/>
                    <a:gd name="connsiteY91" fmla="*/ 618039 h 2793816"/>
                    <a:gd name="connsiteX92" fmla="*/ 49427 w 704335"/>
                    <a:gd name="connsiteY92" fmla="*/ 568612 h 2793816"/>
                    <a:gd name="connsiteX93" fmla="*/ 148281 w 704335"/>
                    <a:gd name="connsiteY93" fmla="*/ 494471 h 2793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Lst>
                  <a:rect l="l" t="t" r="r" b="b"/>
                  <a:pathLst>
                    <a:path w="704335" h="2793816">
                      <a:moveTo>
                        <a:pt x="148281" y="494471"/>
                      </a:moveTo>
                      <a:cubicBezTo>
                        <a:pt x="179173" y="463579"/>
                        <a:pt x="234779" y="383261"/>
                        <a:pt x="234779" y="383261"/>
                      </a:cubicBezTo>
                      <a:cubicBezTo>
                        <a:pt x="257433" y="354429"/>
                        <a:pt x="284206" y="321477"/>
                        <a:pt x="284206" y="321477"/>
                      </a:cubicBezTo>
                      <a:cubicBezTo>
                        <a:pt x="298622" y="298823"/>
                        <a:pt x="321276" y="247336"/>
                        <a:pt x="321276" y="247336"/>
                      </a:cubicBezTo>
                      <a:cubicBezTo>
                        <a:pt x="331573" y="224682"/>
                        <a:pt x="335692" y="202028"/>
                        <a:pt x="345989" y="185552"/>
                      </a:cubicBezTo>
                      <a:cubicBezTo>
                        <a:pt x="356286" y="169076"/>
                        <a:pt x="383060" y="148482"/>
                        <a:pt x="383060" y="148482"/>
                      </a:cubicBezTo>
                      <a:cubicBezTo>
                        <a:pt x="391298" y="138185"/>
                        <a:pt x="395417" y="123769"/>
                        <a:pt x="395417" y="123769"/>
                      </a:cubicBezTo>
                      <a:cubicBezTo>
                        <a:pt x="403655" y="113472"/>
                        <a:pt x="432487" y="86698"/>
                        <a:pt x="432487" y="86698"/>
                      </a:cubicBezTo>
                      <a:lnTo>
                        <a:pt x="494271" y="24915"/>
                      </a:lnTo>
                      <a:cubicBezTo>
                        <a:pt x="516925" y="10499"/>
                        <a:pt x="568411" y="201"/>
                        <a:pt x="568411" y="201"/>
                      </a:cubicBezTo>
                      <a:cubicBezTo>
                        <a:pt x="591065" y="-1858"/>
                        <a:pt x="630195" y="12558"/>
                        <a:pt x="630195" y="12558"/>
                      </a:cubicBezTo>
                      <a:cubicBezTo>
                        <a:pt x="648730" y="16677"/>
                        <a:pt x="679622" y="24915"/>
                        <a:pt x="679622" y="24915"/>
                      </a:cubicBezTo>
                      <a:cubicBezTo>
                        <a:pt x="691979" y="31093"/>
                        <a:pt x="704335" y="49628"/>
                        <a:pt x="704335" y="49628"/>
                      </a:cubicBezTo>
                      <a:cubicBezTo>
                        <a:pt x="704335" y="66104"/>
                        <a:pt x="700216" y="99056"/>
                        <a:pt x="679622" y="123769"/>
                      </a:cubicBezTo>
                      <a:cubicBezTo>
                        <a:pt x="659028" y="148482"/>
                        <a:pt x="613719" y="177315"/>
                        <a:pt x="580768" y="197909"/>
                      </a:cubicBezTo>
                      <a:cubicBezTo>
                        <a:pt x="547817" y="218503"/>
                        <a:pt x="510746" y="228801"/>
                        <a:pt x="481914" y="247336"/>
                      </a:cubicBezTo>
                      <a:cubicBezTo>
                        <a:pt x="453082" y="265871"/>
                        <a:pt x="407773" y="309120"/>
                        <a:pt x="407773" y="309120"/>
                      </a:cubicBezTo>
                      <a:cubicBezTo>
                        <a:pt x="383060" y="331774"/>
                        <a:pt x="352168" y="356488"/>
                        <a:pt x="333633" y="383261"/>
                      </a:cubicBezTo>
                      <a:cubicBezTo>
                        <a:pt x="315098" y="410034"/>
                        <a:pt x="296562" y="469758"/>
                        <a:pt x="296562" y="469758"/>
                      </a:cubicBezTo>
                      <a:cubicBezTo>
                        <a:pt x="294503" y="492412"/>
                        <a:pt x="321276" y="519185"/>
                        <a:pt x="321276" y="519185"/>
                      </a:cubicBezTo>
                      <a:cubicBezTo>
                        <a:pt x="331573" y="535661"/>
                        <a:pt x="348049" y="543899"/>
                        <a:pt x="358346" y="568612"/>
                      </a:cubicBezTo>
                      <a:cubicBezTo>
                        <a:pt x="368643" y="593325"/>
                        <a:pt x="383060" y="667466"/>
                        <a:pt x="383060" y="667466"/>
                      </a:cubicBezTo>
                      <a:cubicBezTo>
                        <a:pt x="387179" y="692179"/>
                        <a:pt x="383060" y="716893"/>
                        <a:pt x="383060" y="716893"/>
                      </a:cubicBezTo>
                      <a:cubicBezTo>
                        <a:pt x="378941" y="735428"/>
                        <a:pt x="358346" y="778677"/>
                        <a:pt x="358346" y="778677"/>
                      </a:cubicBezTo>
                      <a:cubicBezTo>
                        <a:pt x="348049" y="791034"/>
                        <a:pt x="321276" y="791034"/>
                        <a:pt x="321276" y="791034"/>
                      </a:cubicBezTo>
                      <a:cubicBezTo>
                        <a:pt x="310979" y="791034"/>
                        <a:pt x="296562" y="778677"/>
                        <a:pt x="296562" y="778677"/>
                      </a:cubicBezTo>
                      <a:cubicBezTo>
                        <a:pt x="294503" y="768380"/>
                        <a:pt x="308919" y="729250"/>
                        <a:pt x="308919" y="729250"/>
                      </a:cubicBezTo>
                      <a:cubicBezTo>
                        <a:pt x="310978" y="714834"/>
                        <a:pt x="308919" y="692179"/>
                        <a:pt x="308919" y="692179"/>
                      </a:cubicBezTo>
                      <a:lnTo>
                        <a:pt x="308919" y="679823"/>
                      </a:lnTo>
                      <a:lnTo>
                        <a:pt x="308919" y="655109"/>
                      </a:lnTo>
                      <a:cubicBezTo>
                        <a:pt x="306859" y="646871"/>
                        <a:pt x="296562" y="630396"/>
                        <a:pt x="296562" y="630396"/>
                      </a:cubicBezTo>
                      <a:cubicBezTo>
                        <a:pt x="292443" y="626277"/>
                        <a:pt x="290384" y="611861"/>
                        <a:pt x="284206" y="630396"/>
                      </a:cubicBezTo>
                      <a:cubicBezTo>
                        <a:pt x="278028" y="648931"/>
                        <a:pt x="263611" y="704536"/>
                        <a:pt x="259492" y="741606"/>
                      </a:cubicBezTo>
                      <a:cubicBezTo>
                        <a:pt x="255373" y="778676"/>
                        <a:pt x="259492" y="852817"/>
                        <a:pt x="259492" y="852817"/>
                      </a:cubicBezTo>
                      <a:cubicBezTo>
                        <a:pt x="261551" y="883709"/>
                        <a:pt x="271849" y="926958"/>
                        <a:pt x="271849" y="926958"/>
                      </a:cubicBezTo>
                      <a:cubicBezTo>
                        <a:pt x="278027" y="951671"/>
                        <a:pt x="296562" y="1001098"/>
                        <a:pt x="296562" y="1001098"/>
                      </a:cubicBezTo>
                      <a:cubicBezTo>
                        <a:pt x="302740" y="1017574"/>
                        <a:pt x="308919" y="1025812"/>
                        <a:pt x="308919" y="1025812"/>
                      </a:cubicBezTo>
                      <a:cubicBezTo>
                        <a:pt x="308919" y="1036109"/>
                        <a:pt x="296562" y="1062882"/>
                        <a:pt x="296562" y="1062882"/>
                      </a:cubicBezTo>
                      <a:cubicBezTo>
                        <a:pt x="286265" y="1077298"/>
                        <a:pt x="261551" y="1087596"/>
                        <a:pt x="247135" y="1112309"/>
                      </a:cubicBezTo>
                      <a:cubicBezTo>
                        <a:pt x="232719" y="1137023"/>
                        <a:pt x="210065" y="1211163"/>
                        <a:pt x="210065" y="1211163"/>
                      </a:cubicBezTo>
                      <a:cubicBezTo>
                        <a:pt x="208006" y="1237936"/>
                        <a:pt x="224482" y="1258531"/>
                        <a:pt x="234779" y="1272947"/>
                      </a:cubicBezTo>
                      <a:cubicBezTo>
                        <a:pt x="245076" y="1287363"/>
                        <a:pt x="271849" y="1297661"/>
                        <a:pt x="271849" y="1297661"/>
                      </a:cubicBezTo>
                      <a:cubicBezTo>
                        <a:pt x="280087" y="1314137"/>
                        <a:pt x="290384" y="1342969"/>
                        <a:pt x="284206" y="1371801"/>
                      </a:cubicBezTo>
                      <a:cubicBezTo>
                        <a:pt x="278028" y="1400633"/>
                        <a:pt x="243017" y="1437704"/>
                        <a:pt x="234779" y="1470655"/>
                      </a:cubicBezTo>
                      <a:cubicBezTo>
                        <a:pt x="226541" y="1503606"/>
                        <a:pt x="234779" y="1569509"/>
                        <a:pt x="234779" y="1569509"/>
                      </a:cubicBezTo>
                      <a:cubicBezTo>
                        <a:pt x="245076" y="1596282"/>
                        <a:pt x="296562" y="1631293"/>
                        <a:pt x="296562" y="1631293"/>
                      </a:cubicBezTo>
                      <a:cubicBezTo>
                        <a:pt x="317157" y="1647769"/>
                        <a:pt x="358346" y="1668363"/>
                        <a:pt x="358346" y="1668363"/>
                      </a:cubicBezTo>
                      <a:cubicBezTo>
                        <a:pt x="370703" y="1684839"/>
                        <a:pt x="370703" y="1730147"/>
                        <a:pt x="370703" y="1730147"/>
                      </a:cubicBezTo>
                      <a:cubicBezTo>
                        <a:pt x="372763" y="1748682"/>
                        <a:pt x="370703" y="1779574"/>
                        <a:pt x="370703" y="1779574"/>
                      </a:cubicBezTo>
                      <a:cubicBezTo>
                        <a:pt x="362465" y="1785752"/>
                        <a:pt x="321276" y="1767217"/>
                        <a:pt x="321276" y="1767217"/>
                      </a:cubicBezTo>
                      <a:cubicBezTo>
                        <a:pt x="306860" y="1758979"/>
                        <a:pt x="284206" y="1730147"/>
                        <a:pt x="284206" y="1730147"/>
                      </a:cubicBezTo>
                      <a:cubicBezTo>
                        <a:pt x="267730" y="1726028"/>
                        <a:pt x="222422" y="1742504"/>
                        <a:pt x="222422" y="1742504"/>
                      </a:cubicBezTo>
                      <a:cubicBezTo>
                        <a:pt x="208006" y="1752801"/>
                        <a:pt x="201827" y="1769277"/>
                        <a:pt x="197708" y="1791931"/>
                      </a:cubicBezTo>
                      <a:cubicBezTo>
                        <a:pt x="193589" y="1814585"/>
                        <a:pt x="197708" y="1878428"/>
                        <a:pt x="197708" y="1878428"/>
                      </a:cubicBezTo>
                      <a:cubicBezTo>
                        <a:pt x="199767" y="1905201"/>
                        <a:pt x="203887" y="1919618"/>
                        <a:pt x="210065" y="1952569"/>
                      </a:cubicBezTo>
                      <a:cubicBezTo>
                        <a:pt x="216243" y="1985520"/>
                        <a:pt x="228601" y="2030828"/>
                        <a:pt x="234779" y="2076136"/>
                      </a:cubicBezTo>
                      <a:cubicBezTo>
                        <a:pt x="240957" y="2121444"/>
                        <a:pt x="245076" y="2183228"/>
                        <a:pt x="247135" y="2224417"/>
                      </a:cubicBezTo>
                      <a:cubicBezTo>
                        <a:pt x="249194" y="2265606"/>
                        <a:pt x="247135" y="2323271"/>
                        <a:pt x="247135" y="2323271"/>
                      </a:cubicBezTo>
                      <a:lnTo>
                        <a:pt x="247135" y="2434482"/>
                      </a:lnTo>
                      <a:lnTo>
                        <a:pt x="247135" y="2545693"/>
                      </a:lnTo>
                      <a:cubicBezTo>
                        <a:pt x="247135" y="2586882"/>
                        <a:pt x="255373" y="2642487"/>
                        <a:pt x="247135" y="2681617"/>
                      </a:cubicBezTo>
                      <a:cubicBezTo>
                        <a:pt x="238897" y="2720747"/>
                        <a:pt x="197708" y="2780471"/>
                        <a:pt x="197708" y="2780471"/>
                      </a:cubicBezTo>
                      <a:cubicBezTo>
                        <a:pt x="183292" y="2799006"/>
                        <a:pt x="160638" y="2792828"/>
                        <a:pt x="160638" y="2792828"/>
                      </a:cubicBezTo>
                      <a:cubicBezTo>
                        <a:pt x="150341" y="2794887"/>
                        <a:pt x="135925" y="2792828"/>
                        <a:pt x="135925" y="2792828"/>
                      </a:cubicBezTo>
                      <a:lnTo>
                        <a:pt x="148281" y="2743401"/>
                      </a:lnTo>
                      <a:cubicBezTo>
                        <a:pt x="150340" y="2728985"/>
                        <a:pt x="148281" y="2706331"/>
                        <a:pt x="148281" y="2706331"/>
                      </a:cubicBezTo>
                      <a:cubicBezTo>
                        <a:pt x="144162" y="2693974"/>
                        <a:pt x="123568" y="2669261"/>
                        <a:pt x="123568" y="2669261"/>
                      </a:cubicBezTo>
                      <a:cubicBezTo>
                        <a:pt x="115330" y="2652785"/>
                        <a:pt x="109151" y="2632191"/>
                        <a:pt x="98854" y="2607477"/>
                      </a:cubicBezTo>
                      <a:cubicBezTo>
                        <a:pt x="88557" y="2582763"/>
                        <a:pt x="72081" y="2551871"/>
                        <a:pt x="61784" y="2520979"/>
                      </a:cubicBezTo>
                      <a:cubicBezTo>
                        <a:pt x="51487" y="2490087"/>
                        <a:pt x="43249" y="2457136"/>
                        <a:pt x="37071" y="2422125"/>
                      </a:cubicBezTo>
                      <a:cubicBezTo>
                        <a:pt x="30893" y="2387114"/>
                        <a:pt x="28833" y="2362401"/>
                        <a:pt x="24714" y="2310915"/>
                      </a:cubicBezTo>
                      <a:cubicBezTo>
                        <a:pt x="20595" y="2259429"/>
                        <a:pt x="14416" y="2181168"/>
                        <a:pt x="12357" y="2113206"/>
                      </a:cubicBezTo>
                      <a:cubicBezTo>
                        <a:pt x="10298" y="2045244"/>
                        <a:pt x="10298" y="1971104"/>
                        <a:pt x="12357" y="1903142"/>
                      </a:cubicBezTo>
                      <a:cubicBezTo>
                        <a:pt x="14416" y="1835180"/>
                        <a:pt x="18536" y="1761040"/>
                        <a:pt x="24714" y="1705434"/>
                      </a:cubicBezTo>
                      <a:cubicBezTo>
                        <a:pt x="30892" y="1649828"/>
                        <a:pt x="41189" y="1620996"/>
                        <a:pt x="49427" y="1569509"/>
                      </a:cubicBezTo>
                      <a:cubicBezTo>
                        <a:pt x="57665" y="1518023"/>
                        <a:pt x="65903" y="1456239"/>
                        <a:pt x="74141" y="1396515"/>
                      </a:cubicBezTo>
                      <a:cubicBezTo>
                        <a:pt x="82379" y="1336791"/>
                        <a:pt x="94735" y="1272947"/>
                        <a:pt x="98854" y="1211163"/>
                      </a:cubicBezTo>
                      <a:cubicBezTo>
                        <a:pt x="102973" y="1149379"/>
                        <a:pt x="98854" y="1025812"/>
                        <a:pt x="98854" y="1025812"/>
                      </a:cubicBezTo>
                      <a:cubicBezTo>
                        <a:pt x="102973" y="988742"/>
                        <a:pt x="123568" y="988742"/>
                        <a:pt x="123568" y="988742"/>
                      </a:cubicBezTo>
                      <a:cubicBezTo>
                        <a:pt x="129747" y="974326"/>
                        <a:pt x="135925" y="939315"/>
                        <a:pt x="135925" y="939315"/>
                      </a:cubicBezTo>
                      <a:cubicBezTo>
                        <a:pt x="133865" y="922839"/>
                        <a:pt x="111211" y="889888"/>
                        <a:pt x="111211" y="889888"/>
                      </a:cubicBezTo>
                      <a:cubicBezTo>
                        <a:pt x="102973" y="875472"/>
                        <a:pt x="86498" y="852817"/>
                        <a:pt x="86498" y="852817"/>
                      </a:cubicBezTo>
                      <a:cubicBezTo>
                        <a:pt x="74141" y="842520"/>
                        <a:pt x="49428" y="828104"/>
                        <a:pt x="37071" y="828104"/>
                      </a:cubicBezTo>
                      <a:cubicBezTo>
                        <a:pt x="24714" y="828104"/>
                        <a:pt x="12357" y="852817"/>
                        <a:pt x="12357" y="852817"/>
                      </a:cubicBezTo>
                      <a:cubicBezTo>
                        <a:pt x="6179" y="854876"/>
                        <a:pt x="0" y="840461"/>
                        <a:pt x="0" y="840461"/>
                      </a:cubicBezTo>
                      <a:lnTo>
                        <a:pt x="12357" y="828104"/>
                      </a:lnTo>
                      <a:cubicBezTo>
                        <a:pt x="24714" y="823985"/>
                        <a:pt x="47368" y="821925"/>
                        <a:pt x="74141" y="815747"/>
                      </a:cubicBezTo>
                      <a:cubicBezTo>
                        <a:pt x="100914" y="809569"/>
                        <a:pt x="172995" y="791034"/>
                        <a:pt x="172995" y="791034"/>
                      </a:cubicBezTo>
                      <a:cubicBezTo>
                        <a:pt x="181233" y="778677"/>
                        <a:pt x="146222" y="760141"/>
                        <a:pt x="123568" y="741606"/>
                      </a:cubicBezTo>
                      <a:cubicBezTo>
                        <a:pt x="100914" y="723071"/>
                        <a:pt x="37071" y="679823"/>
                        <a:pt x="37071" y="679823"/>
                      </a:cubicBezTo>
                      <a:cubicBezTo>
                        <a:pt x="18536" y="665407"/>
                        <a:pt x="12357" y="655109"/>
                        <a:pt x="12357" y="655109"/>
                      </a:cubicBezTo>
                      <a:cubicBezTo>
                        <a:pt x="12357" y="644812"/>
                        <a:pt x="37071" y="618039"/>
                        <a:pt x="37071" y="618039"/>
                      </a:cubicBezTo>
                      <a:cubicBezTo>
                        <a:pt x="43249" y="603623"/>
                        <a:pt x="49427" y="568612"/>
                        <a:pt x="49427" y="568612"/>
                      </a:cubicBezTo>
                      <a:cubicBezTo>
                        <a:pt x="61784" y="550077"/>
                        <a:pt x="117389" y="525363"/>
                        <a:pt x="148281" y="49447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8" name="Freeform 247">
                  <a:extLst>
                    <a:ext uri="{FF2B5EF4-FFF2-40B4-BE49-F238E27FC236}">
                      <a16:creationId xmlns:a16="http://schemas.microsoft.com/office/drawing/2014/main" id="{D83DA27B-F866-8145-9680-0B7C88259074}"/>
                    </a:ext>
                  </a:extLst>
                </p:cNvPr>
                <p:cNvSpPr/>
                <p:nvPr/>
              </p:nvSpPr>
              <p:spPr>
                <a:xfrm>
                  <a:off x="10552671" y="1686360"/>
                  <a:ext cx="753762" cy="524081"/>
                </a:xfrm>
                <a:custGeom>
                  <a:avLst/>
                  <a:gdLst>
                    <a:gd name="connsiteX0" fmla="*/ 0 w 816207"/>
                    <a:gd name="connsiteY0" fmla="*/ 718522 h 718522"/>
                    <a:gd name="connsiteX1" fmla="*/ 37071 w 816207"/>
                    <a:gd name="connsiteY1" fmla="*/ 632024 h 718522"/>
                    <a:gd name="connsiteX2" fmla="*/ 61784 w 816207"/>
                    <a:gd name="connsiteY2" fmla="*/ 594954 h 718522"/>
                    <a:gd name="connsiteX3" fmla="*/ 111211 w 816207"/>
                    <a:gd name="connsiteY3" fmla="*/ 545527 h 718522"/>
                    <a:gd name="connsiteX4" fmla="*/ 172995 w 816207"/>
                    <a:gd name="connsiteY4" fmla="*/ 471387 h 718522"/>
                    <a:gd name="connsiteX5" fmla="*/ 210065 w 816207"/>
                    <a:gd name="connsiteY5" fmla="*/ 409603 h 718522"/>
                    <a:gd name="connsiteX6" fmla="*/ 247135 w 816207"/>
                    <a:gd name="connsiteY6" fmla="*/ 335462 h 718522"/>
                    <a:gd name="connsiteX7" fmla="*/ 271849 w 816207"/>
                    <a:gd name="connsiteY7" fmla="*/ 286035 h 718522"/>
                    <a:gd name="connsiteX8" fmla="*/ 321276 w 816207"/>
                    <a:gd name="connsiteY8" fmla="*/ 224251 h 718522"/>
                    <a:gd name="connsiteX9" fmla="*/ 345989 w 816207"/>
                    <a:gd name="connsiteY9" fmla="*/ 162468 h 718522"/>
                    <a:gd name="connsiteX10" fmla="*/ 383060 w 816207"/>
                    <a:gd name="connsiteY10" fmla="*/ 125397 h 718522"/>
                    <a:gd name="connsiteX11" fmla="*/ 432487 w 816207"/>
                    <a:gd name="connsiteY11" fmla="*/ 75970 h 718522"/>
                    <a:gd name="connsiteX12" fmla="*/ 481914 w 816207"/>
                    <a:gd name="connsiteY12" fmla="*/ 26543 h 718522"/>
                    <a:gd name="connsiteX13" fmla="*/ 580768 w 816207"/>
                    <a:gd name="connsiteY13" fmla="*/ 1830 h 718522"/>
                    <a:gd name="connsiteX14" fmla="*/ 716692 w 816207"/>
                    <a:gd name="connsiteY14" fmla="*/ 1830 h 718522"/>
                    <a:gd name="connsiteX15" fmla="*/ 778476 w 816207"/>
                    <a:gd name="connsiteY15" fmla="*/ 26543 h 718522"/>
                    <a:gd name="connsiteX16" fmla="*/ 815546 w 816207"/>
                    <a:gd name="connsiteY16" fmla="*/ 88327 h 718522"/>
                    <a:gd name="connsiteX17" fmla="*/ 803189 w 816207"/>
                    <a:gd name="connsiteY17" fmla="*/ 187181 h 718522"/>
                    <a:gd name="connsiteX18" fmla="*/ 741406 w 816207"/>
                    <a:gd name="connsiteY18" fmla="*/ 236608 h 718522"/>
                    <a:gd name="connsiteX19" fmla="*/ 667265 w 816207"/>
                    <a:gd name="connsiteY19" fmla="*/ 273678 h 718522"/>
                    <a:gd name="connsiteX20" fmla="*/ 605481 w 816207"/>
                    <a:gd name="connsiteY20" fmla="*/ 323105 h 718522"/>
                    <a:gd name="connsiteX21" fmla="*/ 543698 w 816207"/>
                    <a:gd name="connsiteY21" fmla="*/ 372533 h 718522"/>
                    <a:gd name="connsiteX22" fmla="*/ 457200 w 816207"/>
                    <a:gd name="connsiteY22" fmla="*/ 434316 h 718522"/>
                    <a:gd name="connsiteX23" fmla="*/ 420130 w 816207"/>
                    <a:gd name="connsiteY23" fmla="*/ 459030 h 718522"/>
                    <a:gd name="connsiteX24" fmla="*/ 395416 w 816207"/>
                    <a:gd name="connsiteY24" fmla="*/ 508457 h 718522"/>
                    <a:gd name="connsiteX25" fmla="*/ 420130 w 816207"/>
                    <a:gd name="connsiteY25" fmla="*/ 557884 h 718522"/>
                    <a:gd name="connsiteX26" fmla="*/ 469557 w 816207"/>
                    <a:gd name="connsiteY26" fmla="*/ 594954 h 718522"/>
                    <a:gd name="connsiteX27" fmla="*/ 494271 w 816207"/>
                    <a:gd name="connsiteY27" fmla="*/ 644381 h 718522"/>
                    <a:gd name="connsiteX28" fmla="*/ 518984 w 816207"/>
                    <a:gd name="connsiteY28" fmla="*/ 681451 h 718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816207" h="718522">
                      <a:moveTo>
                        <a:pt x="0" y="718522"/>
                      </a:moveTo>
                      <a:lnTo>
                        <a:pt x="37071" y="632024"/>
                      </a:lnTo>
                      <a:cubicBezTo>
                        <a:pt x="47368" y="611429"/>
                        <a:pt x="61784" y="594954"/>
                        <a:pt x="61784" y="594954"/>
                      </a:cubicBezTo>
                      <a:cubicBezTo>
                        <a:pt x="74141" y="580538"/>
                        <a:pt x="111211" y="545527"/>
                        <a:pt x="111211" y="545527"/>
                      </a:cubicBezTo>
                      <a:cubicBezTo>
                        <a:pt x="129746" y="524933"/>
                        <a:pt x="172995" y="471387"/>
                        <a:pt x="172995" y="471387"/>
                      </a:cubicBezTo>
                      <a:cubicBezTo>
                        <a:pt x="189471" y="448733"/>
                        <a:pt x="210065" y="409603"/>
                        <a:pt x="210065" y="409603"/>
                      </a:cubicBezTo>
                      <a:cubicBezTo>
                        <a:pt x="222422" y="386949"/>
                        <a:pt x="247135" y="335462"/>
                        <a:pt x="247135" y="335462"/>
                      </a:cubicBezTo>
                      <a:lnTo>
                        <a:pt x="271849" y="286035"/>
                      </a:lnTo>
                      <a:cubicBezTo>
                        <a:pt x="284206" y="267500"/>
                        <a:pt x="321276" y="224251"/>
                        <a:pt x="321276" y="224251"/>
                      </a:cubicBezTo>
                      <a:cubicBezTo>
                        <a:pt x="333633" y="203657"/>
                        <a:pt x="345989" y="162468"/>
                        <a:pt x="345989" y="162468"/>
                      </a:cubicBezTo>
                      <a:cubicBezTo>
                        <a:pt x="356286" y="145992"/>
                        <a:pt x="383060" y="125397"/>
                        <a:pt x="383060" y="125397"/>
                      </a:cubicBezTo>
                      <a:lnTo>
                        <a:pt x="432487" y="75970"/>
                      </a:lnTo>
                      <a:cubicBezTo>
                        <a:pt x="448963" y="59494"/>
                        <a:pt x="457201" y="38900"/>
                        <a:pt x="481914" y="26543"/>
                      </a:cubicBezTo>
                      <a:cubicBezTo>
                        <a:pt x="506627" y="14186"/>
                        <a:pt x="541638" y="5949"/>
                        <a:pt x="580768" y="1830"/>
                      </a:cubicBezTo>
                      <a:cubicBezTo>
                        <a:pt x="619898" y="-2289"/>
                        <a:pt x="716692" y="1830"/>
                        <a:pt x="716692" y="1830"/>
                      </a:cubicBezTo>
                      <a:cubicBezTo>
                        <a:pt x="749643" y="5949"/>
                        <a:pt x="778476" y="26543"/>
                        <a:pt x="778476" y="26543"/>
                      </a:cubicBezTo>
                      <a:cubicBezTo>
                        <a:pt x="794952" y="40959"/>
                        <a:pt x="811427" y="61554"/>
                        <a:pt x="815546" y="88327"/>
                      </a:cubicBezTo>
                      <a:cubicBezTo>
                        <a:pt x="819665" y="115100"/>
                        <a:pt x="803189" y="187181"/>
                        <a:pt x="803189" y="187181"/>
                      </a:cubicBezTo>
                      <a:cubicBezTo>
                        <a:pt x="790832" y="211894"/>
                        <a:pt x="741406" y="236608"/>
                        <a:pt x="741406" y="236608"/>
                      </a:cubicBezTo>
                      <a:cubicBezTo>
                        <a:pt x="718752" y="251024"/>
                        <a:pt x="667265" y="273678"/>
                        <a:pt x="667265" y="273678"/>
                      </a:cubicBezTo>
                      <a:cubicBezTo>
                        <a:pt x="644611" y="288094"/>
                        <a:pt x="605481" y="323105"/>
                        <a:pt x="605481" y="323105"/>
                      </a:cubicBezTo>
                      <a:cubicBezTo>
                        <a:pt x="584887" y="339581"/>
                        <a:pt x="568412" y="353998"/>
                        <a:pt x="543698" y="372533"/>
                      </a:cubicBezTo>
                      <a:cubicBezTo>
                        <a:pt x="518984" y="391068"/>
                        <a:pt x="457200" y="434316"/>
                        <a:pt x="457200" y="434316"/>
                      </a:cubicBezTo>
                      <a:cubicBezTo>
                        <a:pt x="436605" y="448732"/>
                        <a:pt x="420130" y="459030"/>
                        <a:pt x="420130" y="459030"/>
                      </a:cubicBezTo>
                      <a:cubicBezTo>
                        <a:pt x="409833" y="471387"/>
                        <a:pt x="395416" y="508457"/>
                        <a:pt x="395416" y="508457"/>
                      </a:cubicBezTo>
                      <a:cubicBezTo>
                        <a:pt x="395416" y="524933"/>
                        <a:pt x="420130" y="557884"/>
                        <a:pt x="420130" y="557884"/>
                      </a:cubicBezTo>
                      <a:cubicBezTo>
                        <a:pt x="432487" y="572300"/>
                        <a:pt x="469557" y="594954"/>
                        <a:pt x="469557" y="594954"/>
                      </a:cubicBezTo>
                      <a:cubicBezTo>
                        <a:pt x="481914" y="609370"/>
                        <a:pt x="494271" y="644381"/>
                        <a:pt x="494271" y="644381"/>
                      </a:cubicBezTo>
                      <a:cubicBezTo>
                        <a:pt x="502509" y="658797"/>
                        <a:pt x="510746" y="670124"/>
                        <a:pt x="518984" y="681451"/>
                      </a:cubicBezTo>
                    </a:path>
                  </a:pathLst>
                </a:custGeom>
                <a:noFill/>
                <a:ln w="31750">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9" name="Freeform 248">
                  <a:extLst>
                    <a:ext uri="{FF2B5EF4-FFF2-40B4-BE49-F238E27FC236}">
                      <a16:creationId xmlns:a16="http://schemas.microsoft.com/office/drawing/2014/main" id="{C3969033-E988-7140-A01D-16296F790959}"/>
                    </a:ext>
                  </a:extLst>
                </p:cNvPr>
                <p:cNvSpPr/>
                <p:nvPr/>
              </p:nvSpPr>
              <p:spPr>
                <a:xfrm>
                  <a:off x="9851538" y="2015833"/>
                  <a:ext cx="1904825" cy="2437544"/>
                </a:xfrm>
                <a:custGeom>
                  <a:avLst/>
                  <a:gdLst>
                    <a:gd name="connsiteX0" fmla="*/ 829787 w 1904825"/>
                    <a:gd name="connsiteY0" fmla="*/ 333632 h 2437543"/>
                    <a:gd name="connsiteX1" fmla="*/ 768003 w 1904825"/>
                    <a:gd name="connsiteY1" fmla="*/ 321276 h 2437543"/>
                    <a:gd name="connsiteX2" fmla="*/ 743290 w 1904825"/>
                    <a:gd name="connsiteY2" fmla="*/ 296562 h 2437543"/>
                    <a:gd name="connsiteX3" fmla="*/ 768003 w 1904825"/>
                    <a:gd name="connsiteY3" fmla="*/ 284205 h 2437543"/>
                    <a:gd name="connsiteX4" fmla="*/ 817430 w 1904825"/>
                    <a:gd name="connsiteY4" fmla="*/ 271849 h 2437543"/>
                    <a:gd name="connsiteX5" fmla="*/ 854500 w 1904825"/>
                    <a:gd name="connsiteY5" fmla="*/ 271849 h 2437543"/>
                    <a:gd name="connsiteX6" fmla="*/ 903927 w 1904825"/>
                    <a:gd name="connsiteY6" fmla="*/ 271849 h 2437543"/>
                    <a:gd name="connsiteX7" fmla="*/ 916284 w 1904825"/>
                    <a:gd name="connsiteY7" fmla="*/ 271849 h 2437543"/>
                    <a:gd name="connsiteX8" fmla="*/ 879214 w 1904825"/>
                    <a:gd name="connsiteY8" fmla="*/ 247135 h 2437543"/>
                    <a:gd name="connsiteX9" fmla="*/ 854500 w 1904825"/>
                    <a:gd name="connsiteY9" fmla="*/ 222421 h 2437543"/>
                    <a:gd name="connsiteX10" fmla="*/ 805073 w 1904825"/>
                    <a:gd name="connsiteY10" fmla="*/ 197708 h 2437543"/>
                    <a:gd name="connsiteX11" fmla="*/ 768003 w 1904825"/>
                    <a:gd name="connsiteY11" fmla="*/ 185351 h 2437543"/>
                    <a:gd name="connsiteX12" fmla="*/ 730933 w 1904825"/>
                    <a:gd name="connsiteY12" fmla="*/ 185351 h 2437543"/>
                    <a:gd name="connsiteX13" fmla="*/ 632079 w 1904825"/>
                    <a:gd name="connsiteY13" fmla="*/ 222421 h 2437543"/>
                    <a:gd name="connsiteX14" fmla="*/ 545581 w 1904825"/>
                    <a:gd name="connsiteY14" fmla="*/ 259492 h 2437543"/>
                    <a:gd name="connsiteX15" fmla="*/ 459084 w 1904825"/>
                    <a:gd name="connsiteY15" fmla="*/ 308919 h 2437543"/>
                    <a:gd name="connsiteX16" fmla="*/ 384944 w 1904825"/>
                    <a:gd name="connsiteY16" fmla="*/ 370703 h 2437543"/>
                    <a:gd name="connsiteX17" fmla="*/ 211949 w 1904825"/>
                    <a:gd name="connsiteY17" fmla="*/ 494270 h 2437543"/>
                    <a:gd name="connsiteX18" fmla="*/ 137808 w 1904825"/>
                    <a:gd name="connsiteY18" fmla="*/ 642551 h 2437543"/>
                    <a:gd name="connsiteX19" fmla="*/ 51311 w 1904825"/>
                    <a:gd name="connsiteY19" fmla="*/ 778476 h 2437543"/>
                    <a:gd name="connsiteX20" fmla="*/ 14241 w 1904825"/>
                    <a:gd name="connsiteY20" fmla="*/ 939113 h 2437543"/>
                    <a:gd name="connsiteX21" fmla="*/ 1884 w 1904825"/>
                    <a:gd name="connsiteY21" fmla="*/ 1161535 h 2437543"/>
                    <a:gd name="connsiteX22" fmla="*/ 51311 w 1904825"/>
                    <a:gd name="connsiteY22" fmla="*/ 1507524 h 2437543"/>
                    <a:gd name="connsiteX23" fmla="*/ 113095 w 1904825"/>
                    <a:gd name="connsiteY23" fmla="*/ 1631092 h 2437543"/>
                    <a:gd name="connsiteX24" fmla="*/ 150165 w 1904825"/>
                    <a:gd name="connsiteY24" fmla="*/ 1767016 h 2437543"/>
                    <a:gd name="connsiteX25" fmla="*/ 224306 w 1904825"/>
                    <a:gd name="connsiteY25" fmla="*/ 1878227 h 2437543"/>
                    <a:gd name="connsiteX26" fmla="*/ 323160 w 1904825"/>
                    <a:gd name="connsiteY26" fmla="*/ 2051221 h 2437543"/>
                    <a:gd name="connsiteX27" fmla="*/ 446727 w 1904825"/>
                    <a:gd name="connsiteY27" fmla="*/ 2162432 h 2437543"/>
                    <a:gd name="connsiteX28" fmla="*/ 557938 w 1904825"/>
                    <a:gd name="connsiteY28" fmla="*/ 2261286 h 2437543"/>
                    <a:gd name="connsiteX29" fmla="*/ 669149 w 1904825"/>
                    <a:gd name="connsiteY29" fmla="*/ 2347784 h 2437543"/>
                    <a:gd name="connsiteX30" fmla="*/ 805073 w 1904825"/>
                    <a:gd name="connsiteY30" fmla="*/ 2397211 h 2437543"/>
                    <a:gd name="connsiteX31" fmla="*/ 866857 w 1904825"/>
                    <a:gd name="connsiteY31" fmla="*/ 2421924 h 2437543"/>
                    <a:gd name="connsiteX32" fmla="*/ 940998 w 1904825"/>
                    <a:gd name="connsiteY32" fmla="*/ 2434281 h 2437543"/>
                    <a:gd name="connsiteX33" fmla="*/ 1015138 w 1904825"/>
                    <a:gd name="connsiteY33" fmla="*/ 2434281 h 2437543"/>
                    <a:gd name="connsiteX34" fmla="*/ 1101635 w 1904825"/>
                    <a:gd name="connsiteY34" fmla="*/ 2397211 h 2437543"/>
                    <a:gd name="connsiteX35" fmla="*/ 1151063 w 1904825"/>
                    <a:gd name="connsiteY35" fmla="*/ 2360140 h 2437543"/>
                    <a:gd name="connsiteX36" fmla="*/ 1225203 w 1904825"/>
                    <a:gd name="connsiteY36" fmla="*/ 2310713 h 2437543"/>
                    <a:gd name="connsiteX37" fmla="*/ 1311700 w 1904825"/>
                    <a:gd name="connsiteY37" fmla="*/ 2236573 h 2437543"/>
                    <a:gd name="connsiteX38" fmla="*/ 1410554 w 1904825"/>
                    <a:gd name="connsiteY38" fmla="*/ 2137719 h 2437543"/>
                    <a:gd name="connsiteX39" fmla="*/ 1435268 w 1904825"/>
                    <a:gd name="connsiteY39" fmla="*/ 2100649 h 2437543"/>
                    <a:gd name="connsiteX40" fmla="*/ 1484695 w 1904825"/>
                    <a:gd name="connsiteY40" fmla="*/ 2026508 h 2437543"/>
                    <a:gd name="connsiteX41" fmla="*/ 1521765 w 1904825"/>
                    <a:gd name="connsiteY41" fmla="*/ 1964724 h 2437543"/>
                    <a:gd name="connsiteX42" fmla="*/ 1571192 w 1904825"/>
                    <a:gd name="connsiteY42" fmla="*/ 1902940 h 2437543"/>
                    <a:gd name="connsiteX43" fmla="*/ 1620619 w 1904825"/>
                    <a:gd name="connsiteY43" fmla="*/ 1841157 h 2437543"/>
                    <a:gd name="connsiteX44" fmla="*/ 1670046 w 1904825"/>
                    <a:gd name="connsiteY44" fmla="*/ 1692876 h 2437543"/>
                    <a:gd name="connsiteX45" fmla="*/ 1707117 w 1904825"/>
                    <a:gd name="connsiteY45" fmla="*/ 1594021 h 2437543"/>
                    <a:gd name="connsiteX46" fmla="*/ 1781257 w 1904825"/>
                    <a:gd name="connsiteY46" fmla="*/ 1408670 h 2437543"/>
                    <a:gd name="connsiteX47" fmla="*/ 1805971 w 1904825"/>
                    <a:gd name="connsiteY47" fmla="*/ 1322173 h 2437543"/>
                    <a:gd name="connsiteX48" fmla="*/ 1818327 w 1904825"/>
                    <a:gd name="connsiteY48" fmla="*/ 1223319 h 2437543"/>
                    <a:gd name="connsiteX49" fmla="*/ 1818327 w 1904825"/>
                    <a:gd name="connsiteY49" fmla="*/ 1087394 h 2437543"/>
                    <a:gd name="connsiteX50" fmla="*/ 1756544 w 1904825"/>
                    <a:gd name="connsiteY50" fmla="*/ 963827 h 2437543"/>
                    <a:gd name="connsiteX51" fmla="*/ 1682403 w 1904825"/>
                    <a:gd name="connsiteY51" fmla="*/ 815546 h 2437543"/>
                    <a:gd name="connsiteX52" fmla="*/ 1620619 w 1904825"/>
                    <a:gd name="connsiteY52" fmla="*/ 704335 h 2437543"/>
                    <a:gd name="connsiteX53" fmla="*/ 1571192 w 1904825"/>
                    <a:gd name="connsiteY53" fmla="*/ 642551 h 2437543"/>
                    <a:gd name="connsiteX54" fmla="*/ 1472338 w 1904825"/>
                    <a:gd name="connsiteY54" fmla="*/ 568411 h 2437543"/>
                    <a:gd name="connsiteX55" fmla="*/ 1410554 w 1904825"/>
                    <a:gd name="connsiteY55" fmla="*/ 518984 h 2437543"/>
                    <a:gd name="connsiteX56" fmla="*/ 1336414 w 1904825"/>
                    <a:gd name="connsiteY56" fmla="*/ 469557 h 2437543"/>
                    <a:gd name="connsiteX57" fmla="*/ 1286987 w 1904825"/>
                    <a:gd name="connsiteY57" fmla="*/ 432486 h 2437543"/>
                    <a:gd name="connsiteX58" fmla="*/ 1262273 w 1904825"/>
                    <a:gd name="connsiteY58" fmla="*/ 407773 h 2437543"/>
                    <a:gd name="connsiteX59" fmla="*/ 1361127 w 1904825"/>
                    <a:gd name="connsiteY59" fmla="*/ 457200 h 2437543"/>
                    <a:gd name="connsiteX60" fmla="*/ 1509408 w 1904825"/>
                    <a:gd name="connsiteY60" fmla="*/ 518984 h 2437543"/>
                    <a:gd name="connsiteX61" fmla="*/ 1657690 w 1904825"/>
                    <a:gd name="connsiteY61" fmla="*/ 605481 h 2437543"/>
                    <a:gd name="connsiteX62" fmla="*/ 1682403 w 1904825"/>
                    <a:gd name="connsiteY62" fmla="*/ 642551 h 2437543"/>
                    <a:gd name="connsiteX63" fmla="*/ 1731830 w 1904825"/>
                    <a:gd name="connsiteY63" fmla="*/ 716692 h 2437543"/>
                    <a:gd name="connsiteX64" fmla="*/ 1756544 w 1904825"/>
                    <a:gd name="connsiteY64" fmla="*/ 753762 h 2437543"/>
                    <a:gd name="connsiteX65" fmla="*/ 1781257 w 1904825"/>
                    <a:gd name="connsiteY65" fmla="*/ 803189 h 2437543"/>
                    <a:gd name="connsiteX66" fmla="*/ 1818327 w 1904825"/>
                    <a:gd name="connsiteY66" fmla="*/ 877330 h 2437543"/>
                    <a:gd name="connsiteX67" fmla="*/ 1867754 w 1904825"/>
                    <a:gd name="connsiteY67" fmla="*/ 902043 h 2437543"/>
                    <a:gd name="connsiteX68" fmla="*/ 1880111 w 1904825"/>
                    <a:gd name="connsiteY68" fmla="*/ 864973 h 2437543"/>
                    <a:gd name="connsiteX69" fmla="*/ 1892468 w 1904825"/>
                    <a:gd name="connsiteY69" fmla="*/ 753762 h 2437543"/>
                    <a:gd name="connsiteX70" fmla="*/ 1904825 w 1904825"/>
                    <a:gd name="connsiteY70" fmla="*/ 667265 h 2437543"/>
                    <a:gd name="connsiteX71" fmla="*/ 1892468 w 1904825"/>
                    <a:gd name="connsiteY71" fmla="*/ 506627 h 2437543"/>
                    <a:gd name="connsiteX72" fmla="*/ 1892468 w 1904825"/>
                    <a:gd name="connsiteY72" fmla="*/ 432486 h 2437543"/>
                    <a:gd name="connsiteX73" fmla="*/ 1880111 w 1904825"/>
                    <a:gd name="connsiteY73" fmla="*/ 407773 h 2437543"/>
                    <a:gd name="connsiteX74" fmla="*/ 1867754 w 1904825"/>
                    <a:gd name="connsiteY74" fmla="*/ 321276 h 2437543"/>
                    <a:gd name="connsiteX75" fmla="*/ 1843041 w 1904825"/>
                    <a:gd name="connsiteY75" fmla="*/ 247135 h 2437543"/>
                    <a:gd name="connsiteX76" fmla="*/ 1818327 w 1904825"/>
                    <a:gd name="connsiteY76" fmla="*/ 222421 h 2437543"/>
                    <a:gd name="connsiteX77" fmla="*/ 1793614 w 1904825"/>
                    <a:gd name="connsiteY77" fmla="*/ 160638 h 2437543"/>
                    <a:gd name="connsiteX78" fmla="*/ 1744187 w 1904825"/>
                    <a:gd name="connsiteY78" fmla="*/ 111211 h 2437543"/>
                    <a:gd name="connsiteX79" fmla="*/ 1719473 w 1904825"/>
                    <a:gd name="connsiteY79" fmla="*/ 61784 h 2437543"/>
                    <a:gd name="connsiteX80" fmla="*/ 1670046 w 1904825"/>
                    <a:gd name="connsiteY80" fmla="*/ 24713 h 2437543"/>
                    <a:gd name="connsiteX81" fmla="*/ 1620619 w 1904825"/>
                    <a:gd name="connsiteY81" fmla="*/ 12357 h 2437543"/>
                    <a:gd name="connsiteX82" fmla="*/ 1571192 w 1904825"/>
                    <a:gd name="connsiteY82" fmla="*/ 0 h 2437543"/>
                    <a:gd name="connsiteX83" fmla="*/ 1497052 w 1904825"/>
                    <a:gd name="connsiteY83" fmla="*/ 37070 h 2437543"/>
                    <a:gd name="connsiteX84" fmla="*/ 1410554 w 1904825"/>
                    <a:gd name="connsiteY84" fmla="*/ 98854 h 2437543"/>
                    <a:gd name="connsiteX85" fmla="*/ 1361127 w 1904825"/>
                    <a:gd name="connsiteY85" fmla="*/ 135924 h 2437543"/>
                    <a:gd name="connsiteX86" fmla="*/ 1286987 w 1904825"/>
                    <a:gd name="connsiteY86" fmla="*/ 160638 h 2437543"/>
                    <a:gd name="connsiteX87" fmla="*/ 1225203 w 1904825"/>
                    <a:gd name="connsiteY87" fmla="*/ 135924 h 2437543"/>
                    <a:gd name="connsiteX88" fmla="*/ 1200490 w 1904825"/>
                    <a:gd name="connsiteY88" fmla="*/ 111211 h 2437543"/>
                    <a:gd name="connsiteX89" fmla="*/ 1175776 w 1904825"/>
                    <a:gd name="connsiteY89" fmla="*/ 111211 h 2437543"/>
                    <a:gd name="connsiteX90" fmla="*/ 1163419 w 1904825"/>
                    <a:gd name="connsiteY90" fmla="*/ 197708 h 2437543"/>
                    <a:gd name="connsiteX91" fmla="*/ 1138706 w 1904825"/>
                    <a:gd name="connsiteY91" fmla="*/ 247135 h 2437543"/>
                    <a:gd name="connsiteX92" fmla="*/ 1113992 w 1904825"/>
                    <a:gd name="connsiteY92" fmla="*/ 271849 h 2437543"/>
                    <a:gd name="connsiteX93" fmla="*/ 1089279 w 1904825"/>
                    <a:gd name="connsiteY93" fmla="*/ 271849 h 2437543"/>
                    <a:gd name="connsiteX94" fmla="*/ 1052208 w 1904825"/>
                    <a:gd name="connsiteY94" fmla="*/ 271849 h 2437543"/>
                    <a:gd name="connsiteX95" fmla="*/ 1039852 w 1904825"/>
                    <a:gd name="connsiteY95" fmla="*/ 259492 h 2437543"/>
                    <a:gd name="connsiteX96" fmla="*/ 1039852 w 1904825"/>
                    <a:gd name="connsiteY96" fmla="*/ 234778 h 2437543"/>
                    <a:gd name="connsiteX97" fmla="*/ 1052208 w 1904825"/>
                    <a:gd name="connsiteY97" fmla="*/ 222421 h 2437543"/>
                    <a:gd name="connsiteX98" fmla="*/ 1052208 w 1904825"/>
                    <a:gd name="connsiteY98" fmla="*/ 172994 h 2437543"/>
                    <a:gd name="connsiteX99" fmla="*/ 1064565 w 1904825"/>
                    <a:gd name="connsiteY99" fmla="*/ 160638 h 2437543"/>
                    <a:gd name="connsiteX100" fmla="*/ 1052208 w 1904825"/>
                    <a:gd name="connsiteY100" fmla="*/ 135924 h 2437543"/>
                    <a:gd name="connsiteX101" fmla="*/ 1039852 w 1904825"/>
                    <a:gd name="connsiteY101" fmla="*/ 148281 h 2437543"/>
                    <a:gd name="connsiteX102" fmla="*/ 1015138 w 1904825"/>
                    <a:gd name="connsiteY102" fmla="*/ 222421 h 2437543"/>
                    <a:gd name="connsiteX103" fmla="*/ 1015138 w 1904825"/>
                    <a:gd name="connsiteY103" fmla="*/ 358346 h 2437543"/>
                    <a:gd name="connsiteX104" fmla="*/ 1064565 w 1904825"/>
                    <a:gd name="connsiteY104" fmla="*/ 506627 h 2437543"/>
                    <a:gd name="connsiteX105" fmla="*/ 1027495 w 1904825"/>
                    <a:gd name="connsiteY105" fmla="*/ 543697 h 2437543"/>
                    <a:gd name="connsiteX106" fmla="*/ 978068 w 1904825"/>
                    <a:gd name="connsiteY106" fmla="*/ 605481 h 2437543"/>
                    <a:gd name="connsiteX107" fmla="*/ 978068 w 1904825"/>
                    <a:gd name="connsiteY107" fmla="*/ 642551 h 2437543"/>
                    <a:gd name="connsiteX108" fmla="*/ 978068 w 1904825"/>
                    <a:gd name="connsiteY108" fmla="*/ 704335 h 2437543"/>
                    <a:gd name="connsiteX109" fmla="*/ 1002781 w 1904825"/>
                    <a:gd name="connsiteY109" fmla="*/ 741405 h 2437543"/>
                    <a:gd name="connsiteX110" fmla="*/ 1039852 w 1904825"/>
                    <a:gd name="connsiteY110" fmla="*/ 790832 h 2437543"/>
                    <a:gd name="connsiteX111" fmla="*/ 1027495 w 1904825"/>
                    <a:gd name="connsiteY111" fmla="*/ 864973 h 2437543"/>
                    <a:gd name="connsiteX112" fmla="*/ 1002781 w 1904825"/>
                    <a:gd name="connsiteY112" fmla="*/ 914400 h 2437543"/>
                    <a:gd name="connsiteX113" fmla="*/ 990425 w 1904825"/>
                    <a:gd name="connsiteY113" fmla="*/ 988540 h 2437543"/>
                    <a:gd name="connsiteX114" fmla="*/ 978068 w 1904825"/>
                    <a:gd name="connsiteY114" fmla="*/ 1037967 h 2437543"/>
                    <a:gd name="connsiteX115" fmla="*/ 1015138 w 1904825"/>
                    <a:gd name="connsiteY115" fmla="*/ 1075038 h 2437543"/>
                    <a:gd name="connsiteX116" fmla="*/ 1052208 w 1904825"/>
                    <a:gd name="connsiteY116" fmla="*/ 1099751 h 2437543"/>
                    <a:gd name="connsiteX117" fmla="*/ 1113992 w 1904825"/>
                    <a:gd name="connsiteY117" fmla="*/ 1124465 h 2437543"/>
                    <a:gd name="connsiteX118" fmla="*/ 1138706 w 1904825"/>
                    <a:gd name="connsiteY118" fmla="*/ 1161535 h 2437543"/>
                    <a:gd name="connsiteX119" fmla="*/ 1138706 w 1904825"/>
                    <a:gd name="connsiteY119" fmla="*/ 1210962 h 2437543"/>
                    <a:gd name="connsiteX120" fmla="*/ 1126349 w 1904825"/>
                    <a:gd name="connsiteY120" fmla="*/ 1260389 h 2437543"/>
                    <a:gd name="connsiteX121" fmla="*/ 1113992 w 1904825"/>
                    <a:gd name="connsiteY121" fmla="*/ 1248032 h 2437543"/>
                    <a:gd name="connsiteX122" fmla="*/ 1089279 w 1904825"/>
                    <a:gd name="connsiteY122" fmla="*/ 1223319 h 2437543"/>
                    <a:gd name="connsiteX123" fmla="*/ 1064565 w 1904825"/>
                    <a:gd name="connsiteY123" fmla="*/ 1198605 h 2437543"/>
                    <a:gd name="connsiteX124" fmla="*/ 1039852 w 1904825"/>
                    <a:gd name="connsiteY124" fmla="*/ 1186249 h 2437543"/>
                    <a:gd name="connsiteX125" fmla="*/ 1002781 w 1904825"/>
                    <a:gd name="connsiteY125" fmla="*/ 1210962 h 2437543"/>
                    <a:gd name="connsiteX126" fmla="*/ 978068 w 1904825"/>
                    <a:gd name="connsiteY126" fmla="*/ 1235676 h 2437543"/>
                    <a:gd name="connsiteX127" fmla="*/ 953354 w 1904825"/>
                    <a:gd name="connsiteY127" fmla="*/ 1285103 h 2437543"/>
                    <a:gd name="connsiteX128" fmla="*/ 978068 w 1904825"/>
                    <a:gd name="connsiteY128" fmla="*/ 1359243 h 2437543"/>
                    <a:gd name="connsiteX129" fmla="*/ 990425 w 1904825"/>
                    <a:gd name="connsiteY129" fmla="*/ 1507524 h 2437543"/>
                    <a:gd name="connsiteX130" fmla="*/ 1002781 w 1904825"/>
                    <a:gd name="connsiteY130" fmla="*/ 1618735 h 2437543"/>
                    <a:gd name="connsiteX131" fmla="*/ 1015138 w 1904825"/>
                    <a:gd name="connsiteY131" fmla="*/ 1754659 h 2437543"/>
                    <a:gd name="connsiteX132" fmla="*/ 1015138 w 1904825"/>
                    <a:gd name="connsiteY132" fmla="*/ 1902940 h 2437543"/>
                    <a:gd name="connsiteX133" fmla="*/ 1015138 w 1904825"/>
                    <a:gd name="connsiteY133" fmla="*/ 2088292 h 2437543"/>
                    <a:gd name="connsiteX134" fmla="*/ 1002781 w 1904825"/>
                    <a:gd name="connsiteY134" fmla="*/ 2224216 h 2437543"/>
                    <a:gd name="connsiteX135" fmla="*/ 965711 w 1904825"/>
                    <a:gd name="connsiteY135" fmla="*/ 2273643 h 2437543"/>
                    <a:gd name="connsiteX136" fmla="*/ 940998 w 1904825"/>
                    <a:gd name="connsiteY136" fmla="*/ 2298357 h 2437543"/>
                    <a:gd name="connsiteX137" fmla="*/ 903927 w 1904825"/>
                    <a:gd name="connsiteY137" fmla="*/ 2261286 h 2437543"/>
                    <a:gd name="connsiteX138" fmla="*/ 879214 w 1904825"/>
                    <a:gd name="connsiteY138" fmla="*/ 2174789 h 2437543"/>
                    <a:gd name="connsiteX139" fmla="*/ 842144 w 1904825"/>
                    <a:gd name="connsiteY139" fmla="*/ 2088292 h 2437543"/>
                    <a:gd name="connsiteX140" fmla="*/ 817430 w 1904825"/>
                    <a:gd name="connsiteY140" fmla="*/ 2014151 h 2437543"/>
                    <a:gd name="connsiteX141" fmla="*/ 780360 w 1904825"/>
                    <a:gd name="connsiteY141" fmla="*/ 1841157 h 2437543"/>
                    <a:gd name="connsiteX142" fmla="*/ 768003 w 1904825"/>
                    <a:gd name="connsiteY142" fmla="*/ 1606378 h 2437543"/>
                    <a:gd name="connsiteX143" fmla="*/ 768003 w 1904825"/>
                    <a:gd name="connsiteY143" fmla="*/ 1297459 h 2437543"/>
                    <a:gd name="connsiteX144" fmla="*/ 805073 w 1904825"/>
                    <a:gd name="connsiteY144" fmla="*/ 988540 h 2437543"/>
                    <a:gd name="connsiteX145" fmla="*/ 842144 w 1904825"/>
                    <a:gd name="connsiteY145" fmla="*/ 704335 h 2437543"/>
                    <a:gd name="connsiteX146" fmla="*/ 891571 w 1904825"/>
                    <a:gd name="connsiteY146" fmla="*/ 556054 h 2437543"/>
                    <a:gd name="connsiteX147" fmla="*/ 879214 w 1904825"/>
                    <a:gd name="connsiteY147" fmla="*/ 407773 h 2437543"/>
                    <a:gd name="connsiteX148" fmla="*/ 829787 w 1904825"/>
                    <a:gd name="connsiteY148" fmla="*/ 333632 h 24375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Lst>
                  <a:rect l="l" t="t" r="r" b="b"/>
                  <a:pathLst>
                    <a:path w="1904825" h="2437543">
                      <a:moveTo>
                        <a:pt x="829787" y="333632"/>
                      </a:moveTo>
                      <a:cubicBezTo>
                        <a:pt x="811252" y="319216"/>
                        <a:pt x="768003" y="321276"/>
                        <a:pt x="768003" y="321276"/>
                      </a:cubicBezTo>
                      <a:cubicBezTo>
                        <a:pt x="753587" y="315098"/>
                        <a:pt x="743290" y="296562"/>
                        <a:pt x="743290" y="296562"/>
                      </a:cubicBezTo>
                      <a:cubicBezTo>
                        <a:pt x="743290" y="290384"/>
                        <a:pt x="768003" y="284205"/>
                        <a:pt x="768003" y="284205"/>
                      </a:cubicBezTo>
                      <a:cubicBezTo>
                        <a:pt x="780360" y="280086"/>
                        <a:pt x="817430" y="271849"/>
                        <a:pt x="817430" y="271849"/>
                      </a:cubicBezTo>
                      <a:cubicBezTo>
                        <a:pt x="831846" y="269790"/>
                        <a:pt x="854500" y="271849"/>
                        <a:pt x="854500" y="271849"/>
                      </a:cubicBezTo>
                      <a:lnTo>
                        <a:pt x="903927" y="271849"/>
                      </a:lnTo>
                      <a:lnTo>
                        <a:pt x="916284" y="271849"/>
                      </a:lnTo>
                      <a:cubicBezTo>
                        <a:pt x="912165" y="267730"/>
                        <a:pt x="879214" y="247135"/>
                        <a:pt x="879214" y="247135"/>
                      </a:cubicBezTo>
                      <a:cubicBezTo>
                        <a:pt x="868917" y="238897"/>
                        <a:pt x="854500" y="222421"/>
                        <a:pt x="854500" y="222421"/>
                      </a:cubicBezTo>
                      <a:cubicBezTo>
                        <a:pt x="842143" y="214183"/>
                        <a:pt x="805073" y="197708"/>
                        <a:pt x="805073" y="197708"/>
                      </a:cubicBezTo>
                      <a:cubicBezTo>
                        <a:pt x="790657" y="191530"/>
                        <a:pt x="768003" y="185351"/>
                        <a:pt x="768003" y="185351"/>
                      </a:cubicBezTo>
                      <a:cubicBezTo>
                        <a:pt x="755646" y="183291"/>
                        <a:pt x="753587" y="179173"/>
                        <a:pt x="730933" y="185351"/>
                      </a:cubicBezTo>
                      <a:cubicBezTo>
                        <a:pt x="708279" y="191529"/>
                        <a:pt x="662971" y="210064"/>
                        <a:pt x="632079" y="222421"/>
                      </a:cubicBezTo>
                      <a:cubicBezTo>
                        <a:pt x="601187" y="234778"/>
                        <a:pt x="574413" y="245076"/>
                        <a:pt x="545581" y="259492"/>
                      </a:cubicBezTo>
                      <a:cubicBezTo>
                        <a:pt x="516748" y="273908"/>
                        <a:pt x="459084" y="308919"/>
                        <a:pt x="459084" y="308919"/>
                      </a:cubicBezTo>
                      <a:cubicBezTo>
                        <a:pt x="432311" y="327454"/>
                        <a:pt x="426133" y="339811"/>
                        <a:pt x="384944" y="370703"/>
                      </a:cubicBezTo>
                      <a:cubicBezTo>
                        <a:pt x="343755" y="401595"/>
                        <a:pt x="253138" y="448962"/>
                        <a:pt x="211949" y="494270"/>
                      </a:cubicBezTo>
                      <a:cubicBezTo>
                        <a:pt x="170760" y="539578"/>
                        <a:pt x="164581" y="595183"/>
                        <a:pt x="137808" y="642551"/>
                      </a:cubicBezTo>
                      <a:cubicBezTo>
                        <a:pt x="111035" y="689919"/>
                        <a:pt x="71905" y="729049"/>
                        <a:pt x="51311" y="778476"/>
                      </a:cubicBezTo>
                      <a:cubicBezTo>
                        <a:pt x="30717" y="827903"/>
                        <a:pt x="22479" y="875270"/>
                        <a:pt x="14241" y="939113"/>
                      </a:cubicBezTo>
                      <a:cubicBezTo>
                        <a:pt x="6003" y="1002956"/>
                        <a:pt x="-4294" y="1066800"/>
                        <a:pt x="1884" y="1161535"/>
                      </a:cubicBezTo>
                      <a:cubicBezTo>
                        <a:pt x="8062" y="1256270"/>
                        <a:pt x="32776" y="1429265"/>
                        <a:pt x="51311" y="1507524"/>
                      </a:cubicBezTo>
                      <a:cubicBezTo>
                        <a:pt x="69846" y="1585783"/>
                        <a:pt x="96619" y="1587844"/>
                        <a:pt x="113095" y="1631092"/>
                      </a:cubicBezTo>
                      <a:cubicBezTo>
                        <a:pt x="129571" y="1674340"/>
                        <a:pt x="131630" y="1725827"/>
                        <a:pt x="150165" y="1767016"/>
                      </a:cubicBezTo>
                      <a:cubicBezTo>
                        <a:pt x="168700" y="1808205"/>
                        <a:pt x="195474" y="1830860"/>
                        <a:pt x="224306" y="1878227"/>
                      </a:cubicBezTo>
                      <a:cubicBezTo>
                        <a:pt x="253138" y="1925594"/>
                        <a:pt x="286090" y="2003853"/>
                        <a:pt x="323160" y="2051221"/>
                      </a:cubicBezTo>
                      <a:cubicBezTo>
                        <a:pt x="360230" y="2098589"/>
                        <a:pt x="446727" y="2162432"/>
                        <a:pt x="446727" y="2162432"/>
                      </a:cubicBezTo>
                      <a:cubicBezTo>
                        <a:pt x="485857" y="2197443"/>
                        <a:pt x="520868" y="2230394"/>
                        <a:pt x="557938" y="2261286"/>
                      </a:cubicBezTo>
                      <a:cubicBezTo>
                        <a:pt x="595008" y="2292178"/>
                        <a:pt x="627960" y="2325130"/>
                        <a:pt x="669149" y="2347784"/>
                      </a:cubicBezTo>
                      <a:cubicBezTo>
                        <a:pt x="710338" y="2370438"/>
                        <a:pt x="805073" y="2397211"/>
                        <a:pt x="805073" y="2397211"/>
                      </a:cubicBezTo>
                      <a:cubicBezTo>
                        <a:pt x="838024" y="2409568"/>
                        <a:pt x="866857" y="2421924"/>
                        <a:pt x="866857" y="2421924"/>
                      </a:cubicBezTo>
                      <a:cubicBezTo>
                        <a:pt x="889511" y="2428102"/>
                        <a:pt x="940998" y="2434281"/>
                        <a:pt x="940998" y="2434281"/>
                      </a:cubicBezTo>
                      <a:cubicBezTo>
                        <a:pt x="965711" y="2436340"/>
                        <a:pt x="988365" y="2440459"/>
                        <a:pt x="1015138" y="2434281"/>
                      </a:cubicBezTo>
                      <a:cubicBezTo>
                        <a:pt x="1041911" y="2428103"/>
                        <a:pt x="1101635" y="2397211"/>
                        <a:pt x="1101635" y="2397211"/>
                      </a:cubicBezTo>
                      <a:cubicBezTo>
                        <a:pt x="1124289" y="2384854"/>
                        <a:pt x="1151063" y="2360140"/>
                        <a:pt x="1151063" y="2360140"/>
                      </a:cubicBezTo>
                      <a:cubicBezTo>
                        <a:pt x="1171658" y="2345724"/>
                        <a:pt x="1198430" y="2331308"/>
                        <a:pt x="1225203" y="2310713"/>
                      </a:cubicBezTo>
                      <a:cubicBezTo>
                        <a:pt x="1251976" y="2290119"/>
                        <a:pt x="1280808" y="2265405"/>
                        <a:pt x="1311700" y="2236573"/>
                      </a:cubicBezTo>
                      <a:cubicBezTo>
                        <a:pt x="1342592" y="2207741"/>
                        <a:pt x="1410554" y="2137719"/>
                        <a:pt x="1410554" y="2137719"/>
                      </a:cubicBezTo>
                      <a:cubicBezTo>
                        <a:pt x="1431149" y="2115065"/>
                        <a:pt x="1435268" y="2100649"/>
                        <a:pt x="1435268" y="2100649"/>
                      </a:cubicBezTo>
                      <a:lnTo>
                        <a:pt x="1484695" y="2026508"/>
                      </a:lnTo>
                      <a:cubicBezTo>
                        <a:pt x="1499111" y="2003854"/>
                        <a:pt x="1521765" y="1964724"/>
                        <a:pt x="1521765" y="1964724"/>
                      </a:cubicBezTo>
                      <a:cubicBezTo>
                        <a:pt x="1536181" y="1944129"/>
                        <a:pt x="1571192" y="1902940"/>
                        <a:pt x="1571192" y="1902940"/>
                      </a:cubicBezTo>
                      <a:cubicBezTo>
                        <a:pt x="1587668" y="1882345"/>
                        <a:pt x="1604143" y="1876168"/>
                        <a:pt x="1620619" y="1841157"/>
                      </a:cubicBezTo>
                      <a:cubicBezTo>
                        <a:pt x="1637095" y="1806146"/>
                        <a:pt x="1655630" y="1734065"/>
                        <a:pt x="1670046" y="1692876"/>
                      </a:cubicBezTo>
                      <a:cubicBezTo>
                        <a:pt x="1684462" y="1651687"/>
                        <a:pt x="1688582" y="1641389"/>
                        <a:pt x="1707117" y="1594021"/>
                      </a:cubicBezTo>
                      <a:cubicBezTo>
                        <a:pt x="1725652" y="1546653"/>
                        <a:pt x="1764781" y="1453978"/>
                        <a:pt x="1781257" y="1408670"/>
                      </a:cubicBezTo>
                      <a:cubicBezTo>
                        <a:pt x="1797733" y="1363362"/>
                        <a:pt x="1799793" y="1353065"/>
                        <a:pt x="1805971" y="1322173"/>
                      </a:cubicBezTo>
                      <a:cubicBezTo>
                        <a:pt x="1812149" y="1291281"/>
                        <a:pt x="1816268" y="1262449"/>
                        <a:pt x="1818327" y="1223319"/>
                      </a:cubicBezTo>
                      <a:cubicBezTo>
                        <a:pt x="1820386" y="1184189"/>
                        <a:pt x="1828624" y="1130643"/>
                        <a:pt x="1818327" y="1087394"/>
                      </a:cubicBezTo>
                      <a:cubicBezTo>
                        <a:pt x="1808030" y="1044145"/>
                        <a:pt x="1756544" y="963827"/>
                        <a:pt x="1756544" y="963827"/>
                      </a:cubicBezTo>
                      <a:cubicBezTo>
                        <a:pt x="1733890" y="918519"/>
                        <a:pt x="1705057" y="858795"/>
                        <a:pt x="1682403" y="815546"/>
                      </a:cubicBezTo>
                      <a:cubicBezTo>
                        <a:pt x="1659749" y="772297"/>
                        <a:pt x="1620619" y="704335"/>
                        <a:pt x="1620619" y="704335"/>
                      </a:cubicBezTo>
                      <a:cubicBezTo>
                        <a:pt x="1602084" y="675503"/>
                        <a:pt x="1595906" y="665205"/>
                        <a:pt x="1571192" y="642551"/>
                      </a:cubicBezTo>
                      <a:cubicBezTo>
                        <a:pt x="1546478" y="619897"/>
                        <a:pt x="1472338" y="568411"/>
                        <a:pt x="1472338" y="568411"/>
                      </a:cubicBezTo>
                      <a:cubicBezTo>
                        <a:pt x="1445565" y="547817"/>
                        <a:pt x="1410554" y="518984"/>
                        <a:pt x="1410554" y="518984"/>
                      </a:cubicBezTo>
                      <a:cubicBezTo>
                        <a:pt x="1387900" y="502508"/>
                        <a:pt x="1336414" y="469557"/>
                        <a:pt x="1336414" y="469557"/>
                      </a:cubicBezTo>
                      <a:cubicBezTo>
                        <a:pt x="1315820" y="455141"/>
                        <a:pt x="1286987" y="432486"/>
                        <a:pt x="1286987" y="432486"/>
                      </a:cubicBezTo>
                      <a:cubicBezTo>
                        <a:pt x="1274630" y="422189"/>
                        <a:pt x="1249916" y="403654"/>
                        <a:pt x="1262273" y="407773"/>
                      </a:cubicBezTo>
                      <a:cubicBezTo>
                        <a:pt x="1274630" y="411892"/>
                        <a:pt x="1319938" y="438665"/>
                        <a:pt x="1361127" y="457200"/>
                      </a:cubicBezTo>
                      <a:cubicBezTo>
                        <a:pt x="1402316" y="475735"/>
                        <a:pt x="1459981" y="494271"/>
                        <a:pt x="1509408" y="518984"/>
                      </a:cubicBezTo>
                      <a:cubicBezTo>
                        <a:pt x="1558835" y="543697"/>
                        <a:pt x="1628858" y="584887"/>
                        <a:pt x="1657690" y="605481"/>
                      </a:cubicBezTo>
                      <a:cubicBezTo>
                        <a:pt x="1686522" y="626075"/>
                        <a:pt x="1682403" y="642551"/>
                        <a:pt x="1682403" y="642551"/>
                      </a:cubicBezTo>
                      <a:lnTo>
                        <a:pt x="1731830" y="716692"/>
                      </a:lnTo>
                      <a:lnTo>
                        <a:pt x="1756544" y="753762"/>
                      </a:lnTo>
                      <a:cubicBezTo>
                        <a:pt x="1764782" y="768178"/>
                        <a:pt x="1781257" y="803189"/>
                        <a:pt x="1781257" y="803189"/>
                      </a:cubicBezTo>
                      <a:lnTo>
                        <a:pt x="1818327" y="877330"/>
                      </a:lnTo>
                      <a:cubicBezTo>
                        <a:pt x="1832743" y="893806"/>
                        <a:pt x="1867754" y="902043"/>
                        <a:pt x="1867754" y="902043"/>
                      </a:cubicBezTo>
                      <a:cubicBezTo>
                        <a:pt x="1878051" y="899984"/>
                        <a:pt x="1875992" y="889686"/>
                        <a:pt x="1880111" y="864973"/>
                      </a:cubicBezTo>
                      <a:cubicBezTo>
                        <a:pt x="1884230" y="840260"/>
                        <a:pt x="1888349" y="786713"/>
                        <a:pt x="1892468" y="753762"/>
                      </a:cubicBezTo>
                      <a:cubicBezTo>
                        <a:pt x="1896587" y="720811"/>
                        <a:pt x="1904825" y="708454"/>
                        <a:pt x="1904825" y="667265"/>
                      </a:cubicBezTo>
                      <a:cubicBezTo>
                        <a:pt x="1904825" y="626076"/>
                        <a:pt x="1892468" y="506627"/>
                        <a:pt x="1892468" y="506627"/>
                      </a:cubicBezTo>
                      <a:cubicBezTo>
                        <a:pt x="1890409" y="467497"/>
                        <a:pt x="1892468" y="432486"/>
                        <a:pt x="1892468" y="432486"/>
                      </a:cubicBezTo>
                      <a:cubicBezTo>
                        <a:pt x="1890409" y="416010"/>
                        <a:pt x="1884230" y="426308"/>
                        <a:pt x="1880111" y="407773"/>
                      </a:cubicBezTo>
                      <a:cubicBezTo>
                        <a:pt x="1875992" y="389238"/>
                        <a:pt x="1867754" y="321276"/>
                        <a:pt x="1867754" y="321276"/>
                      </a:cubicBezTo>
                      <a:cubicBezTo>
                        <a:pt x="1861576" y="294503"/>
                        <a:pt x="1843041" y="247135"/>
                        <a:pt x="1843041" y="247135"/>
                      </a:cubicBezTo>
                      <a:cubicBezTo>
                        <a:pt x="1834803" y="230659"/>
                        <a:pt x="1818327" y="222421"/>
                        <a:pt x="1818327" y="222421"/>
                      </a:cubicBezTo>
                      <a:cubicBezTo>
                        <a:pt x="1810089" y="208005"/>
                        <a:pt x="1793614" y="160638"/>
                        <a:pt x="1793614" y="160638"/>
                      </a:cubicBezTo>
                      <a:cubicBezTo>
                        <a:pt x="1781257" y="142103"/>
                        <a:pt x="1744187" y="111211"/>
                        <a:pt x="1744187" y="111211"/>
                      </a:cubicBezTo>
                      <a:cubicBezTo>
                        <a:pt x="1731830" y="94735"/>
                        <a:pt x="1719473" y="61784"/>
                        <a:pt x="1719473" y="61784"/>
                      </a:cubicBezTo>
                      <a:cubicBezTo>
                        <a:pt x="1707116" y="47368"/>
                        <a:pt x="1670046" y="24713"/>
                        <a:pt x="1670046" y="24713"/>
                      </a:cubicBezTo>
                      <a:cubicBezTo>
                        <a:pt x="1653570" y="16475"/>
                        <a:pt x="1620619" y="12357"/>
                        <a:pt x="1620619" y="12357"/>
                      </a:cubicBezTo>
                      <a:lnTo>
                        <a:pt x="1571192" y="0"/>
                      </a:lnTo>
                      <a:cubicBezTo>
                        <a:pt x="1550598" y="4119"/>
                        <a:pt x="1523825" y="20594"/>
                        <a:pt x="1497052" y="37070"/>
                      </a:cubicBezTo>
                      <a:cubicBezTo>
                        <a:pt x="1470279" y="53546"/>
                        <a:pt x="1410554" y="98854"/>
                        <a:pt x="1410554" y="98854"/>
                      </a:cubicBezTo>
                      <a:cubicBezTo>
                        <a:pt x="1387900" y="115330"/>
                        <a:pt x="1361127" y="135924"/>
                        <a:pt x="1361127" y="135924"/>
                      </a:cubicBezTo>
                      <a:cubicBezTo>
                        <a:pt x="1340533" y="146221"/>
                        <a:pt x="1286987" y="160638"/>
                        <a:pt x="1286987" y="160638"/>
                      </a:cubicBezTo>
                      <a:cubicBezTo>
                        <a:pt x="1264333" y="160638"/>
                        <a:pt x="1225203" y="135924"/>
                        <a:pt x="1225203" y="135924"/>
                      </a:cubicBezTo>
                      <a:cubicBezTo>
                        <a:pt x="1210787" y="127686"/>
                        <a:pt x="1208728" y="115330"/>
                        <a:pt x="1200490" y="111211"/>
                      </a:cubicBezTo>
                      <a:cubicBezTo>
                        <a:pt x="1192252" y="107092"/>
                        <a:pt x="1181955" y="96795"/>
                        <a:pt x="1175776" y="111211"/>
                      </a:cubicBezTo>
                      <a:cubicBezTo>
                        <a:pt x="1169597" y="125627"/>
                        <a:pt x="1163419" y="197708"/>
                        <a:pt x="1163419" y="197708"/>
                      </a:cubicBezTo>
                      <a:cubicBezTo>
                        <a:pt x="1157241" y="220362"/>
                        <a:pt x="1138706" y="247135"/>
                        <a:pt x="1138706" y="247135"/>
                      </a:cubicBezTo>
                      <a:cubicBezTo>
                        <a:pt x="1130468" y="259492"/>
                        <a:pt x="1113992" y="271849"/>
                        <a:pt x="1113992" y="271849"/>
                      </a:cubicBezTo>
                      <a:cubicBezTo>
                        <a:pt x="1105754" y="275968"/>
                        <a:pt x="1089279" y="271849"/>
                        <a:pt x="1089279" y="271849"/>
                      </a:cubicBezTo>
                      <a:lnTo>
                        <a:pt x="1052208" y="271849"/>
                      </a:lnTo>
                      <a:cubicBezTo>
                        <a:pt x="1043970" y="269789"/>
                        <a:pt x="1039852" y="259492"/>
                        <a:pt x="1039852" y="259492"/>
                      </a:cubicBezTo>
                      <a:cubicBezTo>
                        <a:pt x="1037793" y="253314"/>
                        <a:pt x="1039852" y="234778"/>
                        <a:pt x="1039852" y="234778"/>
                      </a:cubicBezTo>
                      <a:cubicBezTo>
                        <a:pt x="1041911" y="228600"/>
                        <a:pt x="1052208" y="222421"/>
                        <a:pt x="1052208" y="222421"/>
                      </a:cubicBezTo>
                      <a:cubicBezTo>
                        <a:pt x="1054267" y="212124"/>
                        <a:pt x="1052208" y="172994"/>
                        <a:pt x="1052208" y="172994"/>
                      </a:cubicBezTo>
                      <a:cubicBezTo>
                        <a:pt x="1054267" y="162697"/>
                        <a:pt x="1064565" y="160638"/>
                        <a:pt x="1064565" y="160638"/>
                      </a:cubicBezTo>
                      <a:cubicBezTo>
                        <a:pt x="1064565" y="154460"/>
                        <a:pt x="1052208" y="135924"/>
                        <a:pt x="1052208" y="135924"/>
                      </a:cubicBezTo>
                      <a:cubicBezTo>
                        <a:pt x="1048089" y="133865"/>
                        <a:pt x="1039852" y="148281"/>
                        <a:pt x="1039852" y="148281"/>
                      </a:cubicBezTo>
                      <a:cubicBezTo>
                        <a:pt x="1033674" y="162697"/>
                        <a:pt x="1019257" y="187410"/>
                        <a:pt x="1015138" y="222421"/>
                      </a:cubicBezTo>
                      <a:cubicBezTo>
                        <a:pt x="1011019" y="257432"/>
                        <a:pt x="1006900" y="310978"/>
                        <a:pt x="1015138" y="358346"/>
                      </a:cubicBezTo>
                      <a:cubicBezTo>
                        <a:pt x="1023376" y="405714"/>
                        <a:pt x="1064565" y="506627"/>
                        <a:pt x="1064565" y="506627"/>
                      </a:cubicBezTo>
                      <a:cubicBezTo>
                        <a:pt x="1066624" y="537519"/>
                        <a:pt x="1027495" y="543697"/>
                        <a:pt x="1027495" y="543697"/>
                      </a:cubicBezTo>
                      <a:cubicBezTo>
                        <a:pt x="1013079" y="560173"/>
                        <a:pt x="978068" y="605481"/>
                        <a:pt x="978068" y="605481"/>
                      </a:cubicBezTo>
                      <a:cubicBezTo>
                        <a:pt x="969830" y="621957"/>
                        <a:pt x="978068" y="642551"/>
                        <a:pt x="978068" y="642551"/>
                      </a:cubicBezTo>
                      <a:lnTo>
                        <a:pt x="978068" y="704335"/>
                      </a:lnTo>
                      <a:cubicBezTo>
                        <a:pt x="982187" y="720811"/>
                        <a:pt x="992484" y="726989"/>
                        <a:pt x="1002781" y="741405"/>
                      </a:cubicBezTo>
                      <a:cubicBezTo>
                        <a:pt x="1013078" y="755821"/>
                        <a:pt x="1039852" y="790832"/>
                        <a:pt x="1039852" y="790832"/>
                      </a:cubicBezTo>
                      <a:cubicBezTo>
                        <a:pt x="1043971" y="811427"/>
                        <a:pt x="1027495" y="864973"/>
                        <a:pt x="1027495" y="864973"/>
                      </a:cubicBezTo>
                      <a:cubicBezTo>
                        <a:pt x="1021317" y="885568"/>
                        <a:pt x="1002781" y="914400"/>
                        <a:pt x="1002781" y="914400"/>
                      </a:cubicBezTo>
                      <a:cubicBezTo>
                        <a:pt x="996603" y="934994"/>
                        <a:pt x="990425" y="988540"/>
                        <a:pt x="990425" y="988540"/>
                      </a:cubicBezTo>
                      <a:cubicBezTo>
                        <a:pt x="986306" y="1009134"/>
                        <a:pt x="978068" y="1037967"/>
                        <a:pt x="978068" y="1037967"/>
                      </a:cubicBezTo>
                      <a:cubicBezTo>
                        <a:pt x="982187" y="1052383"/>
                        <a:pt x="1015138" y="1075038"/>
                        <a:pt x="1015138" y="1075038"/>
                      </a:cubicBezTo>
                      <a:cubicBezTo>
                        <a:pt x="1027495" y="1085335"/>
                        <a:pt x="1035732" y="1091513"/>
                        <a:pt x="1052208" y="1099751"/>
                      </a:cubicBezTo>
                      <a:cubicBezTo>
                        <a:pt x="1068684" y="1107989"/>
                        <a:pt x="1113992" y="1124465"/>
                        <a:pt x="1113992" y="1124465"/>
                      </a:cubicBezTo>
                      <a:cubicBezTo>
                        <a:pt x="1128408" y="1134762"/>
                        <a:pt x="1138706" y="1161535"/>
                        <a:pt x="1138706" y="1161535"/>
                      </a:cubicBezTo>
                      <a:cubicBezTo>
                        <a:pt x="1142825" y="1175951"/>
                        <a:pt x="1138706" y="1210962"/>
                        <a:pt x="1138706" y="1210962"/>
                      </a:cubicBezTo>
                      <a:cubicBezTo>
                        <a:pt x="1136647" y="1227438"/>
                        <a:pt x="1126349" y="1260389"/>
                        <a:pt x="1126349" y="1260389"/>
                      </a:cubicBezTo>
                      <a:cubicBezTo>
                        <a:pt x="1122230" y="1266567"/>
                        <a:pt x="1113992" y="1248032"/>
                        <a:pt x="1113992" y="1248032"/>
                      </a:cubicBezTo>
                      <a:lnTo>
                        <a:pt x="1089279" y="1223319"/>
                      </a:lnTo>
                      <a:lnTo>
                        <a:pt x="1064565" y="1198605"/>
                      </a:lnTo>
                      <a:cubicBezTo>
                        <a:pt x="1056327" y="1192427"/>
                        <a:pt x="1039852" y="1186249"/>
                        <a:pt x="1039852" y="1186249"/>
                      </a:cubicBezTo>
                      <a:cubicBezTo>
                        <a:pt x="1029555" y="1188308"/>
                        <a:pt x="1002781" y="1210962"/>
                        <a:pt x="1002781" y="1210962"/>
                      </a:cubicBezTo>
                      <a:cubicBezTo>
                        <a:pt x="992484" y="1219200"/>
                        <a:pt x="978068" y="1235676"/>
                        <a:pt x="978068" y="1235676"/>
                      </a:cubicBezTo>
                      <a:cubicBezTo>
                        <a:pt x="969830" y="1248033"/>
                        <a:pt x="953354" y="1285103"/>
                        <a:pt x="953354" y="1285103"/>
                      </a:cubicBezTo>
                      <a:cubicBezTo>
                        <a:pt x="953354" y="1305697"/>
                        <a:pt x="971890" y="1322173"/>
                        <a:pt x="978068" y="1359243"/>
                      </a:cubicBezTo>
                      <a:cubicBezTo>
                        <a:pt x="984246" y="1396313"/>
                        <a:pt x="986306" y="1464275"/>
                        <a:pt x="990425" y="1507524"/>
                      </a:cubicBezTo>
                      <a:cubicBezTo>
                        <a:pt x="994544" y="1550773"/>
                        <a:pt x="998662" y="1577546"/>
                        <a:pt x="1002781" y="1618735"/>
                      </a:cubicBezTo>
                      <a:cubicBezTo>
                        <a:pt x="1006900" y="1659924"/>
                        <a:pt x="1013079" y="1707292"/>
                        <a:pt x="1015138" y="1754659"/>
                      </a:cubicBezTo>
                      <a:cubicBezTo>
                        <a:pt x="1017197" y="1802026"/>
                        <a:pt x="1015138" y="1902940"/>
                        <a:pt x="1015138" y="1902940"/>
                      </a:cubicBezTo>
                      <a:cubicBezTo>
                        <a:pt x="1015138" y="1958545"/>
                        <a:pt x="1017197" y="2034746"/>
                        <a:pt x="1015138" y="2088292"/>
                      </a:cubicBezTo>
                      <a:cubicBezTo>
                        <a:pt x="1013079" y="2141838"/>
                        <a:pt x="1002781" y="2224216"/>
                        <a:pt x="1002781" y="2224216"/>
                      </a:cubicBezTo>
                      <a:cubicBezTo>
                        <a:pt x="994543" y="2255108"/>
                        <a:pt x="965711" y="2273643"/>
                        <a:pt x="965711" y="2273643"/>
                      </a:cubicBezTo>
                      <a:cubicBezTo>
                        <a:pt x="955414" y="2286000"/>
                        <a:pt x="940998" y="2298357"/>
                        <a:pt x="940998" y="2298357"/>
                      </a:cubicBezTo>
                      <a:cubicBezTo>
                        <a:pt x="930701" y="2296298"/>
                        <a:pt x="914224" y="2281881"/>
                        <a:pt x="903927" y="2261286"/>
                      </a:cubicBezTo>
                      <a:cubicBezTo>
                        <a:pt x="893630" y="2240691"/>
                        <a:pt x="889511" y="2203621"/>
                        <a:pt x="879214" y="2174789"/>
                      </a:cubicBezTo>
                      <a:cubicBezTo>
                        <a:pt x="868917" y="2145957"/>
                        <a:pt x="842144" y="2088292"/>
                        <a:pt x="842144" y="2088292"/>
                      </a:cubicBezTo>
                      <a:cubicBezTo>
                        <a:pt x="831847" y="2061519"/>
                        <a:pt x="827727" y="2055340"/>
                        <a:pt x="817430" y="2014151"/>
                      </a:cubicBezTo>
                      <a:cubicBezTo>
                        <a:pt x="807133" y="1972962"/>
                        <a:pt x="788598" y="1909119"/>
                        <a:pt x="780360" y="1841157"/>
                      </a:cubicBezTo>
                      <a:cubicBezTo>
                        <a:pt x="772122" y="1773195"/>
                        <a:pt x="770062" y="1696994"/>
                        <a:pt x="768003" y="1606378"/>
                      </a:cubicBezTo>
                      <a:cubicBezTo>
                        <a:pt x="765943" y="1515762"/>
                        <a:pt x="761825" y="1400432"/>
                        <a:pt x="768003" y="1297459"/>
                      </a:cubicBezTo>
                      <a:cubicBezTo>
                        <a:pt x="774181" y="1194486"/>
                        <a:pt x="792716" y="1087394"/>
                        <a:pt x="805073" y="988540"/>
                      </a:cubicBezTo>
                      <a:cubicBezTo>
                        <a:pt x="817430" y="889686"/>
                        <a:pt x="827728" y="776416"/>
                        <a:pt x="842144" y="704335"/>
                      </a:cubicBezTo>
                      <a:cubicBezTo>
                        <a:pt x="856560" y="632254"/>
                        <a:pt x="885393" y="605481"/>
                        <a:pt x="891571" y="556054"/>
                      </a:cubicBezTo>
                      <a:cubicBezTo>
                        <a:pt x="897749" y="506627"/>
                        <a:pt x="887452" y="446903"/>
                        <a:pt x="879214" y="407773"/>
                      </a:cubicBezTo>
                      <a:cubicBezTo>
                        <a:pt x="870976" y="368643"/>
                        <a:pt x="848322" y="348048"/>
                        <a:pt x="829787" y="333632"/>
                      </a:cubicBezTo>
                      <a:close/>
                    </a:path>
                  </a:pathLst>
                </a:custGeom>
                <a:solidFill>
                  <a:srgbClr val="C98588"/>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0" name="Freeform 249">
                  <a:extLst>
                    <a:ext uri="{FF2B5EF4-FFF2-40B4-BE49-F238E27FC236}">
                      <a16:creationId xmlns:a16="http://schemas.microsoft.com/office/drawing/2014/main" id="{B4DC5B27-D577-EB4C-B3C2-A54023868EED}"/>
                    </a:ext>
                  </a:extLst>
                </p:cNvPr>
                <p:cNvSpPr/>
                <p:nvPr/>
              </p:nvSpPr>
              <p:spPr>
                <a:xfrm>
                  <a:off x="10092725" y="2417481"/>
                  <a:ext cx="326737" cy="1165978"/>
                </a:xfrm>
                <a:custGeom>
                  <a:avLst/>
                  <a:gdLst>
                    <a:gd name="connsiteX0" fmla="*/ 200453 w 326737"/>
                    <a:gd name="connsiteY0" fmla="*/ 103297 h 1165978"/>
                    <a:gd name="connsiteX1" fmla="*/ 274594 w 326737"/>
                    <a:gd name="connsiteY1" fmla="*/ 53870 h 1165978"/>
                    <a:gd name="connsiteX2" fmla="*/ 311664 w 326737"/>
                    <a:gd name="connsiteY2" fmla="*/ 16800 h 1165978"/>
                    <a:gd name="connsiteX3" fmla="*/ 324021 w 326737"/>
                    <a:gd name="connsiteY3" fmla="*/ 4443 h 1165978"/>
                    <a:gd name="connsiteX4" fmla="*/ 262237 w 326737"/>
                    <a:gd name="connsiteY4" fmla="*/ 90941 h 1165978"/>
                    <a:gd name="connsiteX5" fmla="*/ 237524 w 326737"/>
                    <a:gd name="connsiteY5" fmla="*/ 177438 h 1165978"/>
                    <a:gd name="connsiteX6" fmla="*/ 188097 w 326737"/>
                    <a:gd name="connsiteY6" fmla="*/ 251578 h 1165978"/>
                    <a:gd name="connsiteX7" fmla="*/ 151026 w 326737"/>
                    <a:gd name="connsiteY7" fmla="*/ 313362 h 1165978"/>
                    <a:gd name="connsiteX8" fmla="*/ 113956 w 326737"/>
                    <a:gd name="connsiteY8" fmla="*/ 449287 h 1165978"/>
                    <a:gd name="connsiteX9" fmla="*/ 89243 w 326737"/>
                    <a:gd name="connsiteY9" fmla="*/ 597568 h 1165978"/>
                    <a:gd name="connsiteX10" fmla="*/ 64529 w 326737"/>
                    <a:gd name="connsiteY10" fmla="*/ 721135 h 1165978"/>
                    <a:gd name="connsiteX11" fmla="*/ 52172 w 326737"/>
                    <a:gd name="connsiteY11" fmla="*/ 832346 h 1165978"/>
                    <a:gd name="connsiteX12" fmla="*/ 76886 w 326737"/>
                    <a:gd name="connsiteY12" fmla="*/ 906487 h 1165978"/>
                    <a:gd name="connsiteX13" fmla="*/ 52172 w 326737"/>
                    <a:gd name="connsiteY13" fmla="*/ 1017697 h 1165978"/>
                    <a:gd name="connsiteX14" fmla="*/ 27459 w 326737"/>
                    <a:gd name="connsiteY14" fmla="*/ 1116551 h 1165978"/>
                    <a:gd name="connsiteX15" fmla="*/ 2745 w 326737"/>
                    <a:gd name="connsiteY15" fmla="*/ 1165978 h 1165978"/>
                    <a:gd name="connsiteX16" fmla="*/ 2745 w 326737"/>
                    <a:gd name="connsiteY16" fmla="*/ 1104195 h 1165978"/>
                    <a:gd name="connsiteX17" fmla="*/ 2745 w 326737"/>
                    <a:gd name="connsiteY17" fmla="*/ 1042411 h 1165978"/>
                    <a:gd name="connsiteX18" fmla="*/ 39816 w 326737"/>
                    <a:gd name="connsiteY18" fmla="*/ 943557 h 1165978"/>
                    <a:gd name="connsiteX19" fmla="*/ 52172 w 326737"/>
                    <a:gd name="connsiteY19" fmla="*/ 869416 h 1165978"/>
                    <a:gd name="connsiteX20" fmla="*/ 52172 w 326737"/>
                    <a:gd name="connsiteY20" fmla="*/ 782919 h 1165978"/>
                    <a:gd name="connsiteX21" fmla="*/ 52172 w 326737"/>
                    <a:gd name="connsiteY21" fmla="*/ 696422 h 1165978"/>
                    <a:gd name="connsiteX22" fmla="*/ 52172 w 326737"/>
                    <a:gd name="connsiteY22" fmla="*/ 609924 h 1165978"/>
                    <a:gd name="connsiteX23" fmla="*/ 52172 w 326737"/>
                    <a:gd name="connsiteY23" fmla="*/ 548141 h 1165978"/>
                    <a:gd name="connsiteX24" fmla="*/ 64529 w 326737"/>
                    <a:gd name="connsiteY24" fmla="*/ 461643 h 1165978"/>
                    <a:gd name="connsiteX25" fmla="*/ 89243 w 326737"/>
                    <a:gd name="connsiteY25" fmla="*/ 412216 h 1165978"/>
                    <a:gd name="connsiteX26" fmla="*/ 89243 w 326737"/>
                    <a:gd name="connsiteY26" fmla="*/ 350433 h 1165978"/>
                    <a:gd name="connsiteX27" fmla="*/ 101599 w 326737"/>
                    <a:gd name="connsiteY27" fmla="*/ 251578 h 1165978"/>
                    <a:gd name="connsiteX28" fmla="*/ 151026 w 326737"/>
                    <a:gd name="connsiteY28" fmla="*/ 165081 h 1165978"/>
                    <a:gd name="connsiteX29" fmla="*/ 200453 w 326737"/>
                    <a:gd name="connsiteY29" fmla="*/ 103297 h 11659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326737" h="1165978">
                      <a:moveTo>
                        <a:pt x="200453" y="103297"/>
                      </a:moveTo>
                      <a:cubicBezTo>
                        <a:pt x="221048" y="84762"/>
                        <a:pt x="274594" y="53870"/>
                        <a:pt x="274594" y="53870"/>
                      </a:cubicBezTo>
                      <a:cubicBezTo>
                        <a:pt x="293129" y="39454"/>
                        <a:pt x="311664" y="16800"/>
                        <a:pt x="311664" y="16800"/>
                      </a:cubicBezTo>
                      <a:cubicBezTo>
                        <a:pt x="319902" y="8562"/>
                        <a:pt x="332259" y="-7914"/>
                        <a:pt x="324021" y="4443"/>
                      </a:cubicBezTo>
                      <a:cubicBezTo>
                        <a:pt x="315783" y="16800"/>
                        <a:pt x="276653" y="62109"/>
                        <a:pt x="262237" y="90941"/>
                      </a:cubicBezTo>
                      <a:cubicBezTo>
                        <a:pt x="247821" y="119773"/>
                        <a:pt x="237524" y="177438"/>
                        <a:pt x="237524" y="177438"/>
                      </a:cubicBezTo>
                      <a:cubicBezTo>
                        <a:pt x="225167" y="204211"/>
                        <a:pt x="188097" y="251578"/>
                        <a:pt x="188097" y="251578"/>
                      </a:cubicBezTo>
                      <a:cubicBezTo>
                        <a:pt x="173681" y="274232"/>
                        <a:pt x="163383" y="280411"/>
                        <a:pt x="151026" y="313362"/>
                      </a:cubicBezTo>
                      <a:cubicBezTo>
                        <a:pt x="138669" y="346314"/>
                        <a:pt x="124253" y="401919"/>
                        <a:pt x="113956" y="449287"/>
                      </a:cubicBezTo>
                      <a:cubicBezTo>
                        <a:pt x="103659" y="496655"/>
                        <a:pt x="97481" y="552260"/>
                        <a:pt x="89243" y="597568"/>
                      </a:cubicBezTo>
                      <a:cubicBezTo>
                        <a:pt x="81005" y="642876"/>
                        <a:pt x="70707" y="682005"/>
                        <a:pt x="64529" y="721135"/>
                      </a:cubicBezTo>
                      <a:cubicBezTo>
                        <a:pt x="58350" y="760265"/>
                        <a:pt x="52172" y="832346"/>
                        <a:pt x="52172" y="832346"/>
                      </a:cubicBezTo>
                      <a:cubicBezTo>
                        <a:pt x="54231" y="863238"/>
                        <a:pt x="76886" y="875595"/>
                        <a:pt x="76886" y="906487"/>
                      </a:cubicBezTo>
                      <a:cubicBezTo>
                        <a:pt x="76886" y="937379"/>
                        <a:pt x="60410" y="982686"/>
                        <a:pt x="52172" y="1017697"/>
                      </a:cubicBezTo>
                      <a:cubicBezTo>
                        <a:pt x="43934" y="1052708"/>
                        <a:pt x="27459" y="1116551"/>
                        <a:pt x="27459" y="1116551"/>
                      </a:cubicBezTo>
                      <a:cubicBezTo>
                        <a:pt x="19221" y="1141264"/>
                        <a:pt x="2745" y="1165978"/>
                        <a:pt x="2745" y="1165978"/>
                      </a:cubicBezTo>
                      <a:cubicBezTo>
                        <a:pt x="-1374" y="1163919"/>
                        <a:pt x="2745" y="1104195"/>
                        <a:pt x="2745" y="1104195"/>
                      </a:cubicBezTo>
                      <a:cubicBezTo>
                        <a:pt x="2745" y="1083601"/>
                        <a:pt x="-3433" y="1069184"/>
                        <a:pt x="2745" y="1042411"/>
                      </a:cubicBezTo>
                      <a:cubicBezTo>
                        <a:pt x="8923" y="1015638"/>
                        <a:pt x="39816" y="943557"/>
                        <a:pt x="39816" y="943557"/>
                      </a:cubicBezTo>
                      <a:cubicBezTo>
                        <a:pt x="48054" y="914725"/>
                        <a:pt x="50113" y="896189"/>
                        <a:pt x="52172" y="869416"/>
                      </a:cubicBezTo>
                      <a:cubicBezTo>
                        <a:pt x="54231" y="842643"/>
                        <a:pt x="52172" y="782919"/>
                        <a:pt x="52172" y="782919"/>
                      </a:cubicBezTo>
                      <a:lnTo>
                        <a:pt x="52172" y="696422"/>
                      </a:lnTo>
                      <a:lnTo>
                        <a:pt x="52172" y="609924"/>
                      </a:lnTo>
                      <a:cubicBezTo>
                        <a:pt x="52172" y="585211"/>
                        <a:pt x="50113" y="572854"/>
                        <a:pt x="52172" y="548141"/>
                      </a:cubicBezTo>
                      <a:cubicBezTo>
                        <a:pt x="54231" y="523428"/>
                        <a:pt x="64529" y="461643"/>
                        <a:pt x="64529" y="461643"/>
                      </a:cubicBezTo>
                      <a:cubicBezTo>
                        <a:pt x="70707" y="438989"/>
                        <a:pt x="89243" y="412216"/>
                        <a:pt x="89243" y="412216"/>
                      </a:cubicBezTo>
                      <a:cubicBezTo>
                        <a:pt x="93362" y="393681"/>
                        <a:pt x="87184" y="377206"/>
                        <a:pt x="89243" y="350433"/>
                      </a:cubicBezTo>
                      <a:cubicBezTo>
                        <a:pt x="91302" y="323660"/>
                        <a:pt x="91302" y="282470"/>
                        <a:pt x="101599" y="251578"/>
                      </a:cubicBezTo>
                      <a:cubicBezTo>
                        <a:pt x="111896" y="220686"/>
                        <a:pt x="151026" y="165081"/>
                        <a:pt x="151026" y="165081"/>
                      </a:cubicBezTo>
                      <a:cubicBezTo>
                        <a:pt x="169561" y="140367"/>
                        <a:pt x="179858" y="121832"/>
                        <a:pt x="200453" y="10329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1" name="Freeform 250">
                  <a:extLst>
                    <a:ext uri="{FF2B5EF4-FFF2-40B4-BE49-F238E27FC236}">
                      <a16:creationId xmlns:a16="http://schemas.microsoft.com/office/drawing/2014/main" id="{CF16ED00-2A52-8E45-9A6C-66E63C697B70}"/>
                    </a:ext>
                  </a:extLst>
                </p:cNvPr>
                <p:cNvSpPr/>
                <p:nvPr/>
              </p:nvSpPr>
              <p:spPr>
                <a:xfrm>
                  <a:off x="11207578" y="2211859"/>
                  <a:ext cx="457200" cy="395417"/>
                </a:xfrm>
                <a:custGeom>
                  <a:avLst/>
                  <a:gdLst>
                    <a:gd name="connsiteX0" fmla="*/ 111211 w 457200"/>
                    <a:gd name="connsiteY0" fmla="*/ 234779 h 395417"/>
                    <a:gd name="connsiteX1" fmla="*/ 185352 w 457200"/>
                    <a:gd name="connsiteY1" fmla="*/ 271849 h 395417"/>
                    <a:gd name="connsiteX2" fmla="*/ 284206 w 457200"/>
                    <a:gd name="connsiteY2" fmla="*/ 321276 h 395417"/>
                    <a:gd name="connsiteX3" fmla="*/ 345990 w 457200"/>
                    <a:gd name="connsiteY3" fmla="*/ 358346 h 395417"/>
                    <a:gd name="connsiteX4" fmla="*/ 383060 w 457200"/>
                    <a:gd name="connsiteY4" fmla="*/ 383060 h 395417"/>
                    <a:gd name="connsiteX5" fmla="*/ 395417 w 457200"/>
                    <a:gd name="connsiteY5" fmla="*/ 395417 h 395417"/>
                    <a:gd name="connsiteX6" fmla="*/ 395417 w 457200"/>
                    <a:gd name="connsiteY6" fmla="*/ 383060 h 395417"/>
                    <a:gd name="connsiteX7" fmla="*/ 395417 w 457200"/>
                    <a:gd name="connsiteY7" fmla="*/ 345990 h 395417"/>
                    <a:gd name="connsiteX8" fmla="*/ 420130 w 457200"/>
                    <a:gd name="connsiteY8" fmla="*/ 308919 h 395417"/>
                    <a:gd name="connsiteX9" fmla="*/ 444844 w 457200"/>
                    <a:gd name="connsiteY9" fmla="*/ 284206 h 395417"/>
                    <a:gd name="connsiteX10" fmla="*/ 457200 w 457200"/>
                    <a:gd name="connsiteY10" fmla="*/ 259492 h 395417"/>
                    <a:gd name="connsiteX11" fmla="*/ 432487 w 457200"/>
                    <a:gd name="connsiteY11" fmla="*/ 197709 h 395417"/>
                    <a:gd name="connsiteX12" fmla="*/ 395417 w 457200"/>
                    <a:gd name="connsiteY12" fmla="*/ 172995 h 395417"/>
                    <a:gd name="connsiteX13" fmla="*/ 345990 w 457200"/>
                    <a:gd name="connsiteY13" fmla="*/ 135925 h 395417"/>
                    <a:gd name="connsiteX14" fmla="*/ 333633 w 457200"/>
                    <a:gd name="connsiteY14" fmla="*/ 74141 h 395417"/>
                    <a:gd name="connsiteX15" fmla="*/ 333633 w 457200"/>
                    <a:gd name="connsiteY15" fmla="*/ 37071 h 395417"/>
                    <a:gd name="connsiteX16" fmla="*/ 321276 w 457200"/>
                    <a:gd name="connsiteY16" fmla="*/ 12357 h 395417"/>
                    <a:gd name="connsiteX17" fmla="*/ 296563 w 457200"/>
                    <a:gd name="connsiteY17" fmla="*/ 0 h 395417"/>
                    <a:gd name="connsiteX18" fmla="*/ 271849 w 457200"/>
                    <a:gd name="connsiteY18" fmla="*/ 12357 h 395417"/>
                    <a:gd name="connsiteX19" fmla="*/ 234779 w 457200"/>
                    <a:gd name="connsiteY19" fmla="*/ 37071 h 395417"/>
                    <a:gd name="connsiteX20" fmla="*/ 172995 w 457200"/>
                    <a:gd name="connsiteY20" fmla="*/ 98855 h 395417"/>
                    <a:gd name="connsiteX21" fmla="*/ 123568 w 457200"/>
                    <a:gd name="connsiteY21" fmla="*/ 111211 h 395417"/>
                    <a:gd name="connsiteX22" fmla="*/ 74141 w 457200"/>
                    <a:gd name="connsiteY22" fmla="*/ 111211 h 395417"/>
                    <a:gd name="connsiteX23" fmla="*/ 49427 w 457200"/>
                    <a:gd name="connsiteY23" fmla="*/ 98855 h 395417"/>
                    <a:gd name="connsiteX24" fmla="*/ 24714 w 457200"/>
                    <a:gd name="connsiteY24" fmla="*/ 111211 h 395417"/>
                    <a:gd name="connsiteX25" fmla="*/ 0 w 457200"/>
                    <a:gd name="connsiteY25" fmla="*/ 135925 h 395417"/>
                    <a:gd name="connsiteX26" fmla="*/ 37071 w 457200"/>
                    <a:gd name="connsiteY26" fmla="*/ 148282 h 395417"/>
                    <a:gd name="connsiteX27" fmla="*/ 49427 w 457200"/>
                    <a:gd name="connsiteY27" fmla="*/ 185352 h 395417"/>
                    <a:gd name="connsiteX28" fmla="*/ 37071 w 457200"/>
                    <a:gd name="connsiteY28" fmla="*/ 210065 h 395417"/>
                    <a:gd name="connsiteX29" fmla="*/ 61784 w 457200"/>
                    <a:gd name="connsiteY29" fmla="*/ 247136 h 395417"/>
                    <a:gd name="connsiteX30" fmla="*/ 111211 w 457200"/>
                    <a:gd name="connsiteY30" fmla="*/ 234779 h 395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457200" h="395417">
                      <a:moveTo>
                        <a:pt x="111211" y="234779"/>
                      </a:moveTo>
                      <a:lnTo>
                        <a:pt x="185352" y="271849"/>
                      </a:lnTo>
                      <a:lnTo>
                        <a:pt x="284206" y="321276"/>
                      </a:lnTo>
                      <a:cubicBezTo>
                        <a:pt x="310979" y="335692"/>
                        <a:pt x="345990" y="358346"/>
                        <a:pt x="345990" y="358346"/>
                      </a:cubicBezTo>
                      <a:cubicBezTo>
                        <a:pt x="362466" y="368643"/>
                        <a:pt x="383060" y="383060"/>
                        <a:pt x="383060" y="383060"/>
                      </a:cubicBezTo>
                      <a:cubicBezTo>
                        <a:pt x="391298" y="389238"/>
                        <a:pt x="395417" y="395417"/>
                        <a:pt x="395417" y="395417"/>
                      </a:cubicBezTo>
                      <a:cubicBezTo>
                        <a:pt x="397476" y="395417"/>
                        <a:pt x="395417" y="383060"/>
                        <a:pt x="395417" y="383060"/>
                      </a:cubicBezTo>
                      <a:lnTo>
                        <a:pt x="395417" y="345990"/>
                      </a:lnTo>
                      <a:cubicBezTo>
                        <a:pt x="399536" y="333633"/>
                        <a:pt x="420130" y="308919"/>
                        <a:pt x="420130" y="308919"/>
                      </a:cubicBezTo>
                      <a:cubicBezTo>
                        <a:pt x="428368" y="298622"/>
                        <a:pt x="444844" y="284206"/>
                        <a:pt x="444844" y="284206"/>
                      </a:cubicBezTo>
                      <a:cubicBezTo>
                        <a:pt x="451022" y="275968"/>
                        <a:pt x="457200" y="259492"/>
                        <a:pt x="457200" y="259492"/>
                      </a:cubicBezTo>
                      <a:cubicBezTo>
                        <a:pt x="455140" y="245076"/>
                        <a:pt x="432487" y="197709"/>
                        <a:pt x="432487" y="197709"/>
                      </a:cubicBezTo>
                      <a:cubicBezTo>
                        <a:pt x="422190" y="183293"/>
                        <a:pt x="395417" y="172995"/>
                        <a:pt x="395417" y="172995"/>
                      </a:cubicBezTo>
                      <a:cubicBezTo>
                        <a:pt x="381001" y="162698"/>
                        <a:pt x="345990" y="135925"/>
                        <a:pt x="345990" y="135925"/>
                      </a:cubicBezTo>
                      <a:cubicBezTo>
                        <a:pt x="335693" y="119449"/>
                        <a:pt x="333633" y="74141"/>
                        <a:pt x="333633" y="74141"/>
                      </a:cubicBezTo>
                      <a:cubicBezTo>
                        <a:pt x="331574" y="57665"/>
                        <a:pt x="333633" y="37071"/>
                        <a:pt x="333633" y="37071"/>
                      </a:cubicBezTo>
                      <a:cubicBezTo>
                        <a:pt x="331574" y="26774"/>
                        <a:pt x="321276" y="12357"/>
                        <a:pt x="321276" y="12357"/>
                      </a:cubicBezTo>
                      <a:cubicBezTo>
                        <a:pt x="315098" y="6178"/>
                        <a:pt x="296563" y="0"/>
                        <a:pt x="296563" y="0"/>
                      </a:cubicBezTo>
                      <a:cubicBezTo>
                        <a:pt x="288325" y="0"/>
                        <a:pt x="271849" y="12357"/>
                        <a:pt x="271849" y="12357"/>
                      </a:cubicBezTo>
                      <a:cubicBezTo>
                        <a:pt x="261552" y="18535"/>
                        <a:pt x="234779" y="37071"/>
                        <a:pt x="234779" y="37071"/>
                      </a:cubicBezTo>
                      <a:cubicBezTo>
                        <a:pt x="218304" y="51487"/>
                        <a:pt x="172995" y="98855"/>
                        <a:pt x="172995" y="98855"/>
                      </a:cubicBezTo>
                      <a:cubicBezTo>
                        <a:pt x="154460" y="111212"/>
                        <a:pt x="123568" y="111211"/>
                        <a:pt x="123568" y="111211"/>
                      </a:cubicBezTo>
                      <a:cubicBezTo>
                        <a:pt x="107092" y="113270"/>
                        <a:pt x="74141" y="111211"/>
                        <a:pt x="74141" y="111211"/>
                      </a:cubicBezTo>
                      <a:cubicBezTo>
                        <a:pt x="61784" y="109152"/>
                        <a:pt x="49427" y="98855"/>
                        <a:pt x="49427" y="98855"/>
                      </a:cubicBezTo>
                      <a:cubicBezTo>
                        <a:pt x="41189" y="98855"/>
                        <a:pt x="24714" y="111211"/>
                        <a:pt x="24714" y="111211"/>
                      </a:cubicBezTo>
                      <a:cubicBezTo>
                        <a:pt x="16476" y="117389"/>
                        <a:pt x="0" y="135925"/>
                        <a:pt x="0" y="135925"/>
                      </a:cubicBezTo>
                      <a:cubicBezTo>
                        <a:pt x="2059" y="142103"/>
                        <a:pt x="37071" y="148282"/>
                        <a:pt x="37071" y="148282"/>
                      </a:cubicBezTo>
                      <a:cubicBezTo>
                        <a:pt x="45309" y="156520"/>
                        <a:pt x="49427" y="185352"/>
                        <a:pt x="49427" y="185352"/>
                      </a:cubicBezTo>
                      <a:cubicBezTo>
                        <a:pt x="49427" y="195649"/>
                        <a:pt x="37071" y="210065"/>
                        <a:pt x="37071" y="210065"/>
                      </a:cubicBezTo>
                      <a:cubicBezTo>
                        <a:pt x="39130" y="220362"/>
                        <a:pt x="61784" y="247136"/>
                        <a:pt x="61784" y="247136"/>
                      </a:cubicBezTo>
                      <a:cubicBezTo>
                        <a:pt x="72081" y="255374"/>
                        <a:pt x="85467" y="257433"/>
                        <a:pt x="111211" y="234779"/>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5" name="Arrow: Right 41">
                <a:extLst>
                  <a:ext uri="{FF2B5EF4-FFF2-40B4-BE49-F238E27FC236}">
                    <a16:creationId xmlns:a16="http://schemas.microsoft.com/office/drawing/2014/main" id="{6421349C-7DE7-044F-BF63-61AF42E2ACC8}"/>
                  </a:ext>
                </a:extLst>
              </p:cNvPr>
              <p:cNvSpPr/>
              <p:nvPr/>
            </p:nvSpPr>
            <p:spPr>
              <a:xfrm>
                <a:off x="6716187" y="2125155"/>
                <a:ext cx="2697423" cy="339717"/>
              </a:xfrm>
              <a:prstGeom prst="rightArrow">
                <a:avLst/>
              </a:prstGeom>
              <a:gradFill flip="none" rotWithShape="1">
                <a:gsLst>
                  <a:gs pos="0">
                    <a:srgbClr val="FCABA2"/>
                  </a:gs>
                  <a:gs pos="100000">
                    <a:schemeClr val="accent1">
                      <a:shade val="100000"/>
                      <a:satMod val="115000"/>
                    </a:scheme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37" name="Straight Connector 236">
                <a:extLst>
                  <a:ext uri="{FF2B5EF4-FFF2-40B4-BE49-F238E27FC236}">
                    <a16:creationId xmlns:a16="http://schemas.microsoft.com/office/drawing/2014/main" id="{BD562B95-852D-7341-9E1F-0C960AD04615}"/>
                  </a:ext>
                </a:extLst>
              </p:cNvPr>
              <p:cNvCxnSpPr>
                <a:cxnSpLocks/>
              </p:cNvCxnSpPr>
              <p:nvPr/>
            </p:nvCxnSpPr>
            <p:spPr>
              <a:xfrm>
                <a:off x="7919419" y="2206746"/>
                <a:ext cx="1" cy="165723"/>
              </a:xfrm>
              <a:prstGeom prst="line">
                <a:avLst/>
              </a:prstGeom>
              <a:ln w="254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238" name="Group 237">
                <a:extLst>
                  <a:ext uri="{FF2B5EF4-FFF2-40B4-BE49-F238E27FC236}">
                    <a16:creationId xmlns:a16="http://schemas.microsoft.com/office/drawing/2014/main" id="{95B92252-4913-A949-9F0D-293349EAAA13}"/>
                  </a:ext>
                </a:extLst>
              </p:cNvPr>
              <p:cNvGrpSpPr/>
              <p:nvPr/>
            </p:nvGrpSpPr>
            <p:grpSpPr>
              <a:xfrm>
                <a:off x="6131591" y="2036629"/>
                <a:ext cx="376526" cy="470621"/>
                <a:chOff x="4319780" y="1507351"/>
                <a:chExt cx="3443957" cy="4304614"/>
              </a:xfrm>
            </p:grpSpPr>
            <p:sp>
              <p:nvSpPr>
                <p:cNvPr id="239" name="Freeform 238">
                  <a:extLst>
                    <a:ext uri="{FF2B5EF4-FFF2-40B4-BE49-F238E27FC236}">
                      <a16:creationId xmlns:a16="http://schemas.microsoft.com/office/drawing/2014/main" id="{8178F914-5833-5D48-A494-3E8BFBD12C8E}"/>
                    </a:ext>
                  </a:extLst>
                </p:cNvPr>
                <p:cNvSpPr/>
                <p:nvPr/>
              </p:nvSpPr>
              <p:spPr>
                <a:xfrm>
                  <a:off x="4319780" y="2471273"/>
                  <a:ext cx="3443957" cy="3340692"/>
                </a:xfrm>
                <a:custGeom>
                  <a:avLst/>
                  <a:gdLst>
                    <a:gd name="connsiteX0" fmla="*/ 2513506 w 3443957"/>
                    <a:gd name="connsiteY0" fmla="*/ 494349 h 3340692"/>
                    <a:gd name="connsiteX1" fmla="*/ 2624717 w 3443957"/>
                    <a:gd name="connsiteY1" fmla="*/ 432565 h 3340692"/>
                    <a:gd name="connsiteX2" fmla="*/ 2735928 w 3443957"/>
                    <a:gd name="connsiteY2" fmla="*/ 444922 h 3340692"/>
                    <a:gd name="connsiteX3" fmla="*/ 3032490 w 3443957"/>
                    <a:gd name="connsiteY3" fmla="*/ 617916 h 3340692"/>
                    <a:gd name="connsiteX4" fmla="*/ 3254912 w 3443957"/>
                    <a:gd name="connsiteY4" fmla="*/ 963905 h 3340692"/>
                    <a:gd name="connsiteX5" fmla="*/ 3329052 w 3443957"/>
                    <a:gd name="connsiteY5" fmla="*/ 1112186 h 3340692"/>
                    <a:gd name="connsiteX6" fmla="*/ 3427906 w 3443957"/>
                    <a:gd name="connsiteY6" fmla="*/ 1297538 h 3340692"/>
                    <a:gd name="connsiteX7" fmla="*/ 3440263 w 3443957"/>
                    <a:gd name="connsiteY7" fmla="*/ 1692954 h 3340692"/>
                    <a:gd name="connsiteX8" fmla="*/ 3390836 w 3443957"/>
                    <a:gd name="connsiteY8" fmla="*/ 2051300 h 3340692"/>
                    <a:gd name="connsiteX9" fmla="*/ 3044847 w 3443957"/>
                    <a:gd name="connsiteY9" fmla="*/ 2706208 h 3340692"/>
                    <a:gd name="connsiteX10" fmla="*/ 2513506 w 3443957"/>
                    <a:gd name="connsiteY10" fmla="*/ 3200478 h 3340692"/>
                    <a:gd name="connsiteX11" fmla="*/ 2130447 w 3443957"/>
                    <a:gd name="connsiteY11" fmla="*/ 3336403 h 3340692"/>
                    <a:gd name="connsiteX12" fmla="*/ 1685604 w 3443957"/>
                    <a:gd name="connsiteY12" fmla="*/ 3299332 h 3340692"/>
                    <a:gd name="connsiteX13" fmla="*/ 1290188 w 3443957"/>
                    <a:gd name="connsiteY13" fmla="*/ 3225192 h 3340692"/>
                    <a:gd name="connsiteX14" fmla="*/ 907128 w 3443957"/>
                    <a:gd name="connsiteY14" fmla="*/ 3052197 h 3340692"/>
                    <a:gd name="connsiteX15" fmla="*/ 598209 w 3443957"/>
                    <a:gd name="connsiteY15" fmla="*/ 2805062 h 3340692"/>
                    <a:gd name="connsiteX16" fmla="*/ 412858 w 3443957"/>
                    <a:gd name="connsiteY16" fmla="*/ 2545570 h 3340692"/>
                    <a:gd name="connsiteX17" fmla="*/ 289290 w 3443957"/>
                    <a:gd name="connsiteY17" fmla="*/ 2335505 h 3340692"/>
                    <a:gd name="connsiteX18" fmla="*/ 103939 w 3443957"/>
                    <a:gd name="connsiteY18" fmla="*/ 2014230 h 3340692"/>
                    <a:gd name="connsiteX19" fmla="*/ 17442 w 3443957"/>
                    <a:gd name="connsiteY19" fmla="*/ 1705311 h 3340692"/>
                    <a:gd name="connsiteX20" fmla="*/ 5085 w 3443957"/>
                    <a:gd name="connsiteY20" fmla="*/ 1272824 h 3340692"/>
                    <a:gd name="connsiteX21" fmla="*/ 17442 w 3443957"/>
                    <a:gd name="connsiteY21" fmla="*/ 914478 h 3340692"/>
                    <a:gd name="connsiteX22" fmla="*/ 5085 w 3443957"/>
                    <a:gd name="connsiteY22" fmla="*/ 642630 h 3340692"/>
                    <a:gd name="connsiteX23" fmla="*/ 116296 w 3443957"/>
                    <a:gd name="connsiteY23" fmla="*/ 494349 h 3340692"/>
                    <a:gd name="connsiteX24" fmla="*/ 301647 w 3443957"/>
                    <a:gd name="connsiteY24" fmla="*/ 358424 h 3340692"/>
                    <a:gd name="connsiteX25" fmla="*/ 486998 w 3443957"/>
                    <a:gd name="connsiteY25" fmla="*/ 247213 h 3340692"/>
                    <a:gd name="connsiteX26" fmla="*/ 672350 w 3443957"/>
                    <a:gd name="connsiteY26" fmla="*/ 185430 h 3340692"/>
                    <a:gd name="connsiteX27" fmla="*/ 1018339 w 3443957"/>
                    <a:gd name="connsiteY27" fmla="*/ 74219 h 3340692"/>
                    <a:gd name="connsiteX28" fmla="*/ 1166620 w 3443957"/>
                    <a:gd name="connsiteY28" fmla="*/ 78 h 3340692"/>
                    <a:gd name="connsiteX29" fmla="*/ 1277831 w 3443957"/>
                    <a:gd name="connsiteY29" fmla="*/ 61862 h 3340692"/>
                    <a:gd name="connsiteX30" fmla="*/ 1401398 w 3443957"/>
                    <a:gd name="connsiteY30" fmla="*/ 148359 h 3340692"/>
                    <a:gd name="connsiteX31" fmla="*/ 1549679 w 3443957"/>
                    <a:gd name="connsiteY31" fmla="*/ 197786 h 3340692"/>
                    <a:gd name="connsiteX32" fmla="*/ 1660890 w 3443957"/>
                    <a:gd name="connsiteY32" fmla="*/ 370781 h 3340692"/>
                    <a:gd name="connsiteX33" fmla="*/ 1710317 w 3443957"/>
                    <a:gd name="connsiteY33" fmla="*/ 531419 h 3340692"/>
                    <a:gd name="connsiteX34" fmla="*/ 1722674 w 3443957"/>
                    <a:gd name="connsiteY34" fmla="*/ 877408 h 3340692"/>
                    <a:gd name="connsiteX35" fmla="*/ 1648534 w 3443957"/>
                    <a:gd name="connsiteY35" fmla="*/ 1173970 h 3340692"/>
                    <a:gd name="connsiteX36" fmla="*/ 1524966 w 3443957"/>
                    <a:gd name="connsiteY36" fmla="*/ 1482889 h 3340692"/>
                    <a:gd name="connsiteX37" fmla="*/ 1636177 w 3443957"/>
                    <a:gd name="connsiteY37" fmla="*/ 1692954 h 3340692"/>
                    <a:gd name="connsiteX38" fmla="*/ 1710317 w 3443957"/>
                    <a:gd name="connsiteY38" fmla="*/ 1952446 h 3340692"/>
                    <a:gd name="connsiteX39" fmla="*/ 1908025 w 3443957"/>
                    <a:gd name="connsiteY39" fmla="*/ 2187224 h 3340692"/>
                    <a:gd name="connsiteX40" fmla="*/ 2031593 w 3443957"/>
                    <a:gd name="connsiteY40" fmla="*/ 2323149 h 3340692"/>
                    <a:gd name="connsiteX41" fmla="*/ 2229301 w 3443957"/>
                    <a:gd name="connsiteY41" fmla="*/ 2422003 h 3340692"/>
                    <a:gd name="connsiteX42" fmla="*/ 2254015 w 3443957"/>
                    <a:gd name="connsiteY42" fmla="*/ 2706208 h 3340692"/>
                    <a:gd name="connsiteX43" fmla="*/ 2216944 w 3443957"/>
                    <a:gd name="connsiteY43" fmla="*/ 2829776 h 3340692"/>
                    <a:gd name="connsiteX44" fmla="*/ 2340512 w 3443957"/>
                    <a:gd name="connsiteY44" fmla="*/ 2656781 h 3340692"/>
                    <a:gd name="connsiteX45" fmla="*/ 2439366 w 3443957"/>
                    <a:gd name="connsiteY45" fmla="*/ 2557927 h 3340692"/>
                    <a:gd name="connsiteX46" fmla="*/ 2513506 w 3443957"/>
                    <a:gd name="connsiteY46" fmla="*/ 2434359 h 3340692"/>
                    <a:gd name="connsiteX47" fmla="*/ 2612361 w 3443957"/>
                    <a:gd name="connsiteY47" fmla="*/ 2261365 h 3340692"/>
                    <a:gd name="connsiteX48" fmla="*/ 2711215 w 3443957"/>
                    <a:gd name="connsiteY48" fmla="*/ 2113084 h 3340692"/>
                    <a:gd name="connsiteX49" fmla="*/ 2723571 w 3443957"/>
                    <a:gd name="connsiteY49" fmla="*/ 1989516 h 3340692"/>
                    <a:gd name="connsiteX50" fmla="*/ 2686501 w 3443957"/>
                    <a:gd name="connsiteY50" fmla="*/ 1952446 h 3340692"/>
                    <a:gd name="connsiteX51" fmla="*/ 2575290 w 3443957"/>
                    <a:gd name="connsiteY51" fmla="*/ 1989516 h 3340692"/>
                    <a:gd name="connsiteX52" fmla="*/ 2538220 w 3443957"/>
                    <a:gd name="connsiteY52" fmla="*/ 2088370 h 3340692"/>
                    <a:gd name="connsiteX53" fmla="*/ 2451723 w 3443957"/>
                    <a:gd name="connsiteY53" fmla="*/ 2026586 h 3340692"/>
                    <a:gd name="connsiteX54" fmla="*/ 2427009 w 3443957"/>
                    <a:gd name="connsiteY54" fmla="*/ 1927732 h 3340692"/>
                    <a:gd name="connsiteX55" fmla="*/ 2328155 w 3443957"/>
                    <a:gd name="connsiteY55" fmla="*/ 1878305 h 3340692"/>
                    <a:gd name="connsiteX56" fmla="*/ 2229301 w 3443957"/>
                    <a:gd name="connsiteY56" fmla="*/ 1754738 h 3340692"/>
                    <a:gd name="connsiteX57" fmla="*/ 2229301 w 3443957"/>
                    <a:gd name="connsiteY57" fmla="*/ 1631170 h 3340692"/>
                    <a:gd name="connsiteX58" fmla="*/ 2229301 w 3443957"/>
                    <a:gd name="connsiteY58" fmla="*/ 1507603 h 3340692"/>
                    <a:gd name="connsiteX59" fmla="*/ 2352869 w 3443957"/>
                    <a:gd name="connsiteY59" fmla="*/ 1495246 h 3340692"/>
                    <a:gd name="connsiteX60" fmla="*/ 2476436 w 3443957"/>
                    <a:gd name="connsiteY60" fmla="*/ 1421105 h 3340692"/>
                    <a:gd name="connsiteX61" fmla="*/ 2538220 w 3443957"/>
                    <a:gd name="connsiteY61" fmla="*/ 1334608 h 3340692"/>
                    <a:gd name="connsiteX62" fmla="*/ 2538220 w 3443957"/>
                    <a:gd name="connsiteY62" fmla="*/ 1149257 h 3340692"/>
                    <a:gd name="connsiteX63" fmla="*/ 2476436 w 3443957"/>
                    <a:gd name="connsiteY63" fmla="*/ 840338 h 3340692"/>
                    <a:gd name="connsiteX64" fmla="*/ 2451723 w 3443957"/>
                    <a:gd name="connsiteY64" fmla="*/ 642630 h 3340692"/>
                    <a:gd name="connsiteX65" fmla="*/ 2451723 w 3443957"/>
                    <a:gd name="connsiteY65" fmla="*/ 605559 h 3340692"/>
                    <a:gd name="connsiteX66" fmla="*/ 2513506 w 3443957"/>
                    <a:gd name="connsiteY66" fmla="*/ 494349 h 3340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Lst>
                  <a:rect l="l" t="t" r="r" b="b"/>
                  <a:pathLst>
                    <a:path w="3443957" h="3340692">
                      <a:moveTo>
                        <a:pt x="2513506" y="494349"/>
                      </a:moveTo>
                      <a:cubicBezTo>
                        <a:pt x="2542338" y="465517"/>
                        <a:pt x="2587647" y="440803"/>
                        <a:pt x="2624717" y="432565"/>
                      </a:cubicBezTo>
                      <a:cubicBezTo>
                        <a:pt x="2661787" y="424327"/>
                        <a:pt x="2667966" y="414030"/>
                        <a:pt x="2735928" y="444922"/>
                      </a:cubicBezTo>
                      <a:cubicBezTo>
                        <a:pt x="2803890" y="475814"/>
                        <a:pt x="2945993" y="531419"/>
                        <a:pt x="3032490" y="617916"/>
                      </a:cubicBezTo>
                      <a:cubicBezTo>
                        <a:pt x="3118987" y="704413"/>
                        <a:pt x="3205485" y="881527"/>
                        <a:pt x="3254912" y="963905"/>
                      </a:cubicBezTo>
                      <a:cubicBezTo>
                        <a:pt x="3304339" y="1046283"/>
                        <a:pt x="3300220" y="1056581"/>
                        <a:pt x="3329052" y="1112186"/>
                      </a:cubicBezTo>
                      <a:cubicBezTo>
                        <a:pt x="3357884" y="1167792"/>
                        <a:pt x="3409371" y="1200743"/>
                        <a:pt x="3427906" y="1297538"/>
                      </a:cubicBezTo>
                      <a:cubicBezTo>
                        <a:pt x="3446441" y="1394333"/>
                        <a:pt x="3446441" y="1567327"/>
                        <a:pt x="3440263" y="1692954"/>
                      </a:cubicBezTo>
                      <a:cubicBezTo>
                        <a:pt x="3434085" y="1818581"/>
                        <a:pt x="3456739" y="1882424"/>
                        <a:pt x="3390836" y="2051300"/>
                      </a:cubicBezTo>
                      <a:cubicBezTo>
                        <a:pt x="3324933" y="2220176"/>
                        <a:pt x="3191069" y="2514678"/>
                        <a:pt x="3044847" y="2706208"/>
                      </a:cubicBezTo>
                      <a:cubicBezTo>
                        <a:pt x="2898625" y="2897738"/>
                        <a:pt x="2665906" y="3095446"/>
                        <a:pt x="2513506" y="3200478"/>
                      </a:cubicBezTo>
                      <a:cubicBezTo>
                        <a:pt x="2361106" y="3305510"/>
                        <a:pt x="2268431" y="3319927"/>
                        <a:pt x="2130447" y="3336403"/>
                      </a:cubicBezTo>
                      <a:cubicBezTo>
                        <a:pt x="1992463" y="3352879"/>
                        <a:pt x="1825647" y="3317867"/>
                        <a:pt x="1685604" y="3299332"/>
                      </a:cubicBezTo>
                      <a:cubicBezTo>
                        <a:pt x="1545561" y="3280797"/>
                        <a:pt x="1419934" y="3266381"/>
                        <a:pt x="1290188" y="3225192"/>
                      </a:cubicBezTo>
                      <a:cubicBezTo>
                        <a:pt x="1160442" y="3184003"/>
                        <a:pt x="1022458" y="3122219"/>
                        <a:pt x="907128" y="3052197"/>
                      </a:cubicBezTo>
                      <a:cubicBezTo>
                        <a:pt x="791798" y="2982175"/>
                        <a:pt x="680587" y="2889500"/>
                        <a:pt x="598209" y="2805062"/>
                      </a:cubicBezTo>
                      <a:cubicBezTo>
                        <a:pt x="515831" y="2720624"/>
                        <a:pt x="464344" y="2623829"/>
                        <a:pt x="412858" y="2545570"/>
                      </a:cubicBezTo>
                      <a:cubicBezTo>
                        <a:pt x="361372" y="2467311"/>
                        <a:pt x="340776" y="2424062"/>
                        <a:pt x="289290" y="2335505"/>
                      </a:cubicBezTo>
                      <a:cubicBezTo>
                        <a:pt x="237804" y="2246948"/>
                        <a:pt x="149247" y="2119262"/>
                        <a:pt x="103939" y="2014230"/>
                      </a:cubicBezTo>
                      <a:cubicBezTo>
                        <a:pt x="58631" y="1909198"/>
                        <a:pt x="33918" y="1828879"/>
                        <a:pt x="17442" y="1705311"/>
                      </a:cubicBezTo>
                      <a:cubicBezTo>
                        <a:pt x="966" y="1581743"/>
                        <a:pt x="5085" y="1404629"/>
                        <a:pt x="5085" y="1272824"/>
                      </a:cubicBezTo>
                      <a:cubicBezTo>
                        <a:pt x="5085" y="1141019"/>
                        <a:pt x="17442" y="1019510"/>
                        <a:pt x="17442" y="914478"/>
                      </a:cubicBezTo>
                      <a:cubicBezTo>
                        <a:pt x="17442" y="809446"/>
                        <a:pt x="-11391" y="712651"/>
                        <a:pt x="5085" y="642630"/>
                      </a:cubicBezTo>
                      <a:cubicBezTo>
                        <a:pt x="21561" y="572609"/>
                        <a:pt x="66869" y="541717"/>
                        <a:pt x="116296" y="494349"/>
                      </a:cubicBezTo>
                      <a:cubicBezTo>
                        <a:pt x="165723" y="446981"/>
                        <a:pt x="239863" y="399613"/>
                        <a:pt x="301647" y="358424"/>
                      </a:cubicBezTo>
                      <a:cubicBezTo>
                        <a:pt x="363431" y="317235"/>
                        <a:pt x="425214" y="276045"/>
                        <a:pt x="486998" y="247213"/>
                      </a:cubicBezTo>
                      <a:cubicBezTo>
                        <a:pt x="548782" y="218381"/>
                        <a:pt x="672350" y="185430"/>
                        <a:pt x="672350" y="185430"/>
                      </a:cubicBezTo>
                      <a:cubicBezTo>
                        <a:pt x="760907" y="156598"/>
                        <a:pt x="935961" y="105111"/>
                        <a:pt x="1018339" y="74219"/>
                      </a:cubicBezTo>
                      <a:cubicBezTo>
                        <a:pt x="1100717" y="43327"/>
                        <a:pt x="1123371" y="2137"/>
                        <a:pt x="1166620" y="78"/>
                      </a:cubicBezTo>
                      <a:cubicBezTo>
                        <a:pt x="1209869" y="-1982"/>
                        <a:pt x="1238701" y="37149"/>
                        <a:pt x="1277831" y="61862"/>
                      </a:cubicBezTo>
                      <a:cubicBezTo>
                        <a:pt x="1316961" y="86575"/>
                        <a:pt x="1356090" y="125705"/>
                        <a:pt x="1401398" y="148359"/>
                      </a:cubicBezTo>
                      <a:cubicBezTo>
                        <a:pt x="1446706" y="171013"/>
                        <a:pt x="1506430" y="160716"/>
                        <a:pt x="1549679" y="197786"/>
                      </a:cubicBezTo>
                      <a:cubicBezTo>
                        <a:pt x="1592928" y="234856"/>
                        <a:pt x="1634117" y="315176"/>
                        <a:pt x="1660890" y="370781"/>
                      </a:cubicBezTo>
                      <a:cubicBezTo>
                        <a:pt x="1687663" y="426386"/>
                        <a:pt x="1700020" y="446981"/>
                        <a:pt x="1710317" y="531419"/>
                      </a:cubicBezTo>
                      <a:cubicBezTo>
                        <a:pt x="1720614" y="615857"/>
                        <a:pt x="1732971" y="770316"/>
                        <a:pt x="1722674" y="877408"/>
                      </a:cubicBezTo>
                      <a:cubicBezTo>
                        <a:pt x="1712377" y="984500"/>
                        <a:pt x="1681485" y="1073057"/>
                        <a:pt x="1648534" y="1173970"/>
                      </a:cubicBezTo>
                      <a:cubicBezTo>
                        <a:pt x="1615583" y="1274883"/>
                        <a:pt x="1527025" y="1396392"/>
                        <a:pt x="1524966" y="1482889"/>
                      </a:cubicBezTo>
                      <a:cubicBezTo>
                        <a:pt x="1522907" y="1569386"/>
                        <a:pt x="1605285" y="1614695"/>
                        <a:pt x="1636177" y="1692954"/>
                      </a:cubicBezTo>
                      <a:cubicBezTo>
                        <a:pt x="1667069" y="1771214"/>
                        <a:pt x="1665009" y="1870068"/>
                        <a:pt x="1710317" y="1952446"/>
                      </a:cubicBezTo>
                      <a:cubicBezTo>
                        <a:pt x="1755625" y="2034824"/>
                        <a:pt x="1854479" y="2125440"/>
                        <a:pt x="1908025" y="2187224"/>
                      </a:cubicBezTo>
                      <a:cubicBezTo>
                        <a:pt x="1961571" y="2249008"/>
                        <a:pt x="1978047" y="2284019"/>
                        <a:pt x="2031593" y="2323149"/>
                      </a:cubicBezTo>
                      <a:cubicBezTo>
                        <a:pt x="2085139" y="2362279"/>
                        <a:pt x="2192231" y="2358160"/>
                        <a:pt x="2229301" y="2422003"/>
                      </a:cubicBezTo>
                      <a:cubicBezTo>
                        <a:pt x="2266371" y="2485846"/>
                        <a:pt x="2256074" y="2638246"/>
                        <a:pt x="2254015" y="2706208"/>
                      </a:cubicBezTo>
                      <a:cubicBezTo>
                        <a:pt x="2251956" y="2774170"/>
                        <a:pt x="2202528" y="2838014"/>
                        <a:pt x="2216944" y="2829776"/>
                      </a:cubicBezTo>
                      <a:cubicBezTo>
                        <a:pt x="2231360" y="2821538"/>
                        <a:pt x="2303442" y="2702089"/>
                        <a:pt x="2340512" y="2656781"/>
                      </a:cubicBezTo>
                      <a:cubicBezTo>
                        <a:pt x="2377582" y="2611473"/>
                        <a:pt x="2410534" y="2594997"/>
                        <a:pt x="2439366" y="2557927"/>
                      </a:cubicBezTo>
                      <a:cubicBezTo>
                        <a:pt x="2468198" y="2520857"/>
                        <a:pt x="2484674" y="2483786"/>
                        <a:pt x="2513506" y="2434359"/>
                      </a:cubicBezTo>
                      <a:cubicBezTo>
                        <a:pt x="2542338" y="2384932"/>
                        <a:pt x="2579410" y="2314911"/>
                        <a:pt x="2612361" y="2261365"/>
                      </a:cubicBezTo>
                      <a:cubicBezTo>
                        <a:pt x="2645313" y="2207819"/>
                        <a:pt x="2692680" y="2158392"/>
                        <a:pt x="2711215" y="2113084"/>
                      </a:cubicBezTo>
                      <a:cubicBezTo>
                        <a:pt x="2729750" y="2067776"/>
                        <a:pt x="2723571" y="1989516"/>
                        <a:pt x="2723571" y="1989516"/>
                      </a:cubicBezTo>
                      <a:cubicBezTo>
                        <a:pt x="2719452" y="1962743"/>
                        <a:pt x="2711214" y="1952446"/>
                        <a:pt x="2686501" y="1952446"/>
                      </a:cubicBezTo>
                      <a:cubicBezTo>
                        <a:pt x="2661788" y="1952446"/>
                        <a:pt x="2600004" y="1966862"/>
                        <a:pt x="2575290" y="1989516"/>
                      </a:cubicBezTo>
                      <a:cubicBezTo>
                        <a:pt x="2550576" y="2012170"/>
                        <a:pt x="2558814" y="2082192"/>
                        <a:pt x="2538220" y="2088370"/>
                      </a:cubicBezTo>
                      <a:cubicBezTo>
                        <a:pt x="2517626" y="2094548"/>
                        <a:pt x="2470258" y="2053359"/>
                        <a:pt x="2451723" y="2026586"/>
                      </a:cubicBezTo>
                      <a:cubicBezTo>
                        <a:pt x="2433188" y="1999813"/>
                        <a:pt x="2447604" y="1952445"/>
                        <a:pt x="2427009" y="1927732"/>
                      </a:cubicBezTo>
                      <a:cubicBezTo>
                        <a:pt x="2406414" y="1903019"/>
                        <a:pt x="2361106" y="1907137"/>
                        <a:pt x="2328155" y="1878305"/>
                      </a:cubicBezTo>
                      <a:cubicBezTo>
                        <a:pt x="2295204" y="1849473"/>
                        <a:pt x="2245777" y="1795927"/>
                        <a:pt x="2229301" y="1754738"/>
                      </a:cubicBezTo>
                      <a:cubicBezTo>
                        <a:pt x="2212825" y="1713549"/>
                        <a:pt x="2229301" y="1631170"/>
                        <a:pt x="2229301" y="1631170"/>
                      </a:cubicBezTo>
                      <a:cubicBezTo>
                        <a:pt x="2229301" y="1589981"/>
                        <a:pt x="2208706" y="1530257"/>
                        <a:pt x="2229301" y="1507603"/>
                      </a:cubicBezTo>
                      <a:cubicBezTo>
                        <a:pt x="2249896" y="1484949"/>
                        <a:pt x="2311680" y="1509662"/>
                        <a:pt x="2352869" y="1495246"/>
                      </a:cubicBezTo>
                      <a:cubicBezTo>
                        <a:pt x="2394058" y="1480830"/>
                        <a:pt x="2445544" y="1447878"/>
                        <a:pt x="2476436" y="1421105"/>
                      </a:cubicBezTo>
                      <a:cubicBezTo>
                        <a:pt x="2507328" y="1394332"/>
                        <a:pt x="2527923" y="1379916"/>
                        <a:pt x="2538220" y="1334608"/>
                      </a:cubicBezTo>
                      <a:cubicBezTo>
                        <a:pt x="2548517" y="1289300"/>
                        <a:pt x="2548517" y="1231635"/>
                        <a:pt x="2538220" y="1149257"/>
                      </a:cubicBezTo>
                      <a:cubicBezTo>
                        <a:pt x="2527923" y="1066879"/>
                        <a:pt x="2490852" y="924776"/>
                        <a:pt x="2476436" y="840338"/>
                      </a:cubicBezTo>
                      <a:cubicBezTo>
                        <a:pt x="2462020" y="755900"/>
                        <a:pt x="2455842" y="681760"/>
                        <a:pt x="2451723" y="642630"/>
                      </a:cubicBezTo>
                      <a:cubicBezTo>
                        <a:pt x="2447604" y="603500"/>
                        <a:pt x="2441426" y="626154"/>
                        <a:pt x="2451723" y="605559"/>
                      </a:cubicBezTo>
                      <a:cubicBezTo>
                        <a:pt x="2462020" y="584964"/>
                        <a:pt x="2484674" y="523181"/>
                        <a:pt x="2513506" y="494349"/>
                      </a:cubicBezTo>
                      <a:close/>
                    </a:path>
                  </a:pathLst>
                </a:custGeom>
                <a:solidFill>
                  <a:srgbClr val="C98588"/>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0" name="Freeform 239">
                  <a:extLst>
                    <a:ext uri="{FF2B5EF4-FFF2-40B4-BE49-F238E27FC236}">
                      <a16:creationId xmlns:a16="http://schemas.microsoft.com/office/drawing/2014/main" id="{AD395728-1FC5-F74F-9135-35B27EA487FA}"/>
                    </a:ext>
                  </a:extLst>
                </p:cNvPr>
                <p:cNvSpPr/>
                <p:nvPr/>
              </p:nvSpPr>
              <p:spPr>
                <a:xfrm>
                  <a:off x="4519484" y="1507351"/>
                  <a:ext cx="3216002" cy="1754953"/>
                </a:xfrm>
                <a:custGeom>
                  <a:avLst/>
                  <a:gdLst>
                    <a:gd name="connsiteX0" fmla="*/ 2276732 w 3216002"/>
                    <a:gd name="connsiteY0" fmla="*/ 1569481 h 1754953"/>
                    <a:gd name="connsiteX1" fmla="*/ 2140808 w 3216002"/>
                    <a:gd name="connsiteY1" fmla="*/ 1693049 h 1754953"/>
                    <a:gd name="connsiteX2" fmla="*/ 2091381 w 3216002"/>
                    <a:gd name="connsiteY2" fmla="*/ 1754833 h 1754953"/>
                    <a:gd name="connsiteX3" fmla="*/ 2054311 w 3216002"/>
                    <a:gd name="connsiteY3" fmla="*/ 1705406 h 1754953"/>
                    <a:gd name="connsiteX4" fmla="*/ 2116094 w 3216002"/>
                    <a:gd name="connsiteY4" fmla="*/ 1594195 h 1754953"/>
                    <a:gd name="connsiteX5" fmla="*/ 2227305 w 3216002"/>
                    <a:gd name="connsiteY5" fmla="*/ 1507698 h 1754953"/>
                    <a:gd name="connsiteX6" fmla="*/ 2252019 w 3216002"/>
                    <a:gd name="connsiteY6" fmla="*/ 1408844 h 1754953"/>
                    <a:gd name="connsiteX7" fmla="*/ 2276732 w 3216002"/>
                    <a:gd name="connsiteY7" fmla="*/ 1260563 h 1754953"/>
                    <a:gd name="connsiteX8" fmla="*/ 2301446 w 3216002"/>
                    <a:gd name="connsiteY8" fmla="*/ 1136995 h 1754953"/>
                    <a:gd name="connsiteX9" fmla="*/ 2412657 w 3216002"/>
                    <a:gd name="connsiteY9" fmla="*/ 1013427 h 1754953"/>
                    <a:gd name="connsiteX10" fmla="*/ 2548581 w 3216002"/>
                    <a:gd name="connsiteY10" fmla="*/ 1038141 h 1754953"/>
                    <a:gd name="connsiteX11" fmla="*/ 2622721 w 3216002"/>
                    <a:gd name="connsiteY11" fmla="*/ 1087568 h 1754953"/>
                    <a:gd name="connsiteX12" fmla="*/ 2684505 w 3216002"/>
                    <a:gd name="connsiteY12" fmla="*/ 1062854 h 1754953"/>
                    <a:gd name="connsiteX13" fmla="*/ 2758646 w 3216002"/>
                    <a:gd name="connsiteY13" fmla="*/ 988714 h 1754953"/>
                    <a:gd name="connsiteX14" fmla="*/ 2696862 w 3216002"/>
                    <a:gd name="connsiteY14" fmla="*/ 939287 h 1754953"/>
                    <a:gd name="connsiteX15" fmla="*/ 2635078 w 3216002"/>
                    <a:gd name="connsiteY15" fmla="*/ 877503 h 1754953"/>
                    <a:gd name="connsiteX16" fmla="*/ 2622721 w 3216002"/>
                    <a:gd name="connsiteY16" fmla="*/ 865146 h 1754953"/>
                    <a:gd name="connsiteX17" fmla="*/ 2560938 w 3216002"/>
                    <a:gd name="connsiteY17" fmla="*/ 828076 h 1754953"/>
                    <a:gd name="connsiteX18" fmla="*/ 2486797 w 3216002"/>
                    <a:gd name="connsiteY18" fmla="*/ 753935 h 1754953"/>
                    <a:gd name="connsiteX19" fmla="*/ 2486797 w 3216002"/>
                    <a:gd name="connsiteY19" fmla="*/ 716865 h 1754953"/>
                    <a:gd name="connsiteX20" fmla="*/ 2425013 w 3216002"/>
                    <a:gd name="connsiteY20" fmla="*/ 679795 h 1754953"/>
                    <a:gd name="connsiteX21" fmla="*/ 2350873 w 3216002"/>
                    <a:gd name="connsiteY21" fmla="*/ 716865 h 1754953"/>
                    <a:gd name="connsiteX22" fmla="*/ 2313802 w 3216002"/>
                    <a:gd name="connsiteY22" fmla="*/ 778649 h 1754953"/>
                    <a:gd name="connsiteX23" fmla="*/ 2177878 w 3216002"/>
                    <a:gd name="connsiteY23" fmla="*/ 778649 h 1754953"/>
                    <a:gd name="connsiteX24" fmla="*/ 2079024 w 3216002"/>
                    <a:gd name="connsiteY24" fmla="*/ 791006 h 1754953"/>
                    <a:gd name="connsiteX25" fmla="*/ 2029597 w 3216002"/>
                    <a:gd name="connsiteY25" fmla="*/ 926930 h 1754953"/>
                    <a:gd name="connsiteX26" fmla="*/ 2054311 w 3216002"/>
                    <a:gd name="connsiteY26" fmla="*/ 1038141 h 1754953"/>
                    <a:gd name="connsiteX27" fmla="*/ 2041954 w 3216002"/>
                    <a:gd name="connsiteY27" fmla="*/ 1161708 h 1754953"/>
                    <a:gd name="connsiteX28" fmla="*/ 1967813 w 3216002"/>
                    <a:gd name="connsiteY28" fmla="*/ 1235849 h 1754953"/>
                    <a:gd name="connsiteX29" fmla="*/ 2017240 w 3216002"/>
                    <a:gd name="connsiteY29" fmla="*/ 1384130 h 1754953"/>
                    <a:gd name="connsiteX30" fmla="*/ 2054311 w 3216002"/>
                    <a:gd name="connsiteY30" fmla="*/ 1445914 h 1754953"/>
                    <a:gd name="connsiteX31" fmla="*/ 2054311 w 3216002"/>
                    <a:gd name="connsiteY31" fmla="*/ 1569481 h 1754953"/>
                    <a:gd name="connsiteX32" fmla="*/ 2017240 w 3216002"/>
                    <a:gd name="connsiteY32" fmla="*/ 1680692 h 1754953"/>
                    <a:gd name="connsiteX33" fmla="*/ 1967813 w 3216002"/>
                    <a:gd name="connsiteY33" fmla="*/ 1693049 h 1754953"/>
                    <a:gd name="connsiteX34" fmla="*/ 2004884 w 3216002"/>
                    <a:gd name="connsiteY34" fmla="*/ 1557125 h 1754953"/>
                    <a:gd name="connsiteX35" fmla="*/ 1906030 w 3216002"/>
                    <a:gd name="connsiteY35" fmla="*/ 1433557 h 1754953"/>
                    <a:gd name="connsiteX36" fmla="*/ 1831889 w 3216002"/>
                    <a:gd name="connsiteY36" fmla="*/ 1384130 h 1754953"/>
                    <a:gd name="connsiteX37" fmla="*/ 1794819 w 3216002"/>
                    <a:gd name="connsiteY37" fmla="*/ 1285276 h 1754953"/>
                    <a:gd name="connsiteX38" fmla="*/ 1794819 w 3216002"/>
                    <a:gd name="connsiteY38" fmla="*/ 1248206 h 1754953"/>
                    <a:gd name="connsiteX39" fmla="*/ 1794819 w 3216002"/>
                    <a:gd name="connsiteY39" fmla="*/ 1124638 h 1754953"/>
                    <a:gd name="connsiteX40" fmla="*/ 1794819 w 3216002"/>
                    <a:gd name="connsiteY40" fmla="*/ 1013427 h 1754953"/>
                    <a:gd name="connsiteX41" fmla="*/ 1745392 w 3216002"/>
                    <a:gd name="connsiteY41" fmla="*/ 902217 h 1754953"/>
                    <a:gd name="connsiteX42" fmla="*/ 1597111 w 3216002"/>
                    <a:gd name="connsiteY42" fmla="*/ 803363 h 1754953"/>
                    <a:gd name="connsiteX43" fmla="*/ 1522970 w 3216002"/>
                    <a:gd name="connsiteY43" fmla="*/ 753935 h 1754953"/>
                    <a:gd name="connsiteX44" fmla="*/ 1387046 w 3216002"/>
                    <a:gd name="connsiteY44" fmla="*/ 753935 h 1754953"/>
                    <a:gd name="connsiteX45" fmla="*/ 1312905 w 3216002"/>
                    <a:gd name="connsiteY45" fmla="*/ 803363 h 1754953"/>
                    <a:gd name="connsiteX46" fmla="*/ 1288192 w 3216002"/>
                    <a:gd name="connsiteY46" fmla="*/ 889860 h 1754953"/>
                    <a:gd name="connsiteX47" fmla="*/ 1362332 w 3216002"/>
                    <a:gd name="connsiteY47" fmla="*/ 976357 h 1754953"/>
                    <a:gd name="connsiteX48" fmla="*/ 1312905 w 3216002"/>
                    <a:gd name="connsiteY48" fmla="*/ 1062854 h 1754953"/>
                    <a:gd name="connsiteX49" fmla="*/ 1275835 w 3216002"/>
                    <a:gd name="connsiteY49" fmla="*/ 1112281 h 1754953"/>
                    <a:gd name="connsiteX50" fmla="*/ 1251121 w 3216002"/>
                    <a:gd name="connsiteY50" fmla="*/ 1136995 h 1754953"/>
                    <a:gd name="connsiteX51" fmla="*/ 1115197 w 3216002"/>
                    <a:gd name="connsiteY51" fmla="*/ 1087568 h 1754953"/>
                    <a:gd name="connsiteX52" fmla="*/ 1053413 w 3216002"/>
                    <a:gd name="connsiteY52" fmla="*/ 988714 h 1754953"/>
                    <a:gd name="connsiteX53" fmla="*/ 1003986 w 3216002"/>
                    <a:gd name="connsiteY53" fmla="*/ 988714 h 1754953"/>
                    <a:gd name="connsiteX54" fmla="*/ 929846 w 3216002"/>
                    <a:gd name="connsiteY54" fmla="*/ 951644 h 1754953"/>
                    <a:gd name="connsiteX55" fmla="*/ 991630 w 3216002"/>
                    <a:gd name="connsiteY55" fmla="*/ 902217 h 1754953"/>
                    <a:gd name="connsiteX56" fmla="*/ 1176981 w 3216002"/>
                    <a:gd name="connsiteY56" fmla="*/ 840433 h 1754953"/>
                    <a:gd name="connsiteX57" fmla="*/ 1275835 w 3216002"/>
                    <a:gd name="connsiteY57" fmla="*/ 778649 h 1754953"/>
                    <a:gd name="connsiteX58" fmla="*/ 1387046 w 3216002"/>
                    <a:gd name="connsiteY58" fmla="*/ 704508 h 1754953"/>
                    <a:gd name="connsiteX59" fmla="*/ 1584754 w 3216002"/>
                    <a:gd name="connsiteY59" fmla="*/ 741579 h 1754953"/>
                    <a:gd name="connsiteX60" fmla="*/ 1708321 w 3216002"/>
                    <a:gd name="connsiteY60" fmla="*/ 803363 h 1754953"/>
                    <a:gd name="connsiteX61" fmla="*/ 1733035 w 3216002"/>
                    <a:gd name="connsiteY61" fmla="*/ 766292 h 1754953"/>
                    <a:gd name="connsiteX62" fmla="*/ 1658894 w 3216002"/>
                    <a:gd name="connsiteY62" fmla="*/ 716865 h 1754953"/>
                    <a:gd name="connsiteX63" fmla="*/ 1584754 w 3216002"/>
                    <a:gd name="connsiteY63" fmla="*/ 618011 h 1754953"/>
                    <a:gd name="connsiteX64" fmla="*/ 1461186 w 3216002"/>
                    <a:gd name="connsiteY64" fmla="*/ 593298 h 1754953"/>
                    <a:gd name="connsiteX65" fmla="*/ 1362332 w 3216002"/>
                    <a:gd name="connsiteY65" fmla="*/ 618011 h 1754953"/>
                    <a:gd name="connsiteX66" fmla="*/ 1214051 w 3216002"/>
                    <a:gd name="connsiteY66" fmla="*/ 704508 h 1754953"/>
                    <a:gd name="connsiteX67" fmla="*/ 1115197 w 3216002"/>
                    <a:gd name="connsiteY67" fmla="*/ 741579 h 1754953"/>
                    <a:gd name="connsiteX68" fmla="*/ 1003986 w 3216002"/>
                    <a:gd name="connsiteY68" fmla="*/ 766292 h 1754953"/>
                    <a:gd name="connsiteX69" fmla="*/ 917489 w 3216002"/>
                    <a:gd name="connsiteY69" fmla="*/ 840433 h 1754953"/>
                    <a:gd name="connsiteX70" fmla="*/ 880419 w 3216002"/>
                    <a:gd name="connsiteY70" fmla="*/ 865146 h 1754953"/>
                    <a:gd name="connsiteX71" fmla="*/ 793921 w 3216002"/>
                    <a:gd name="connsiteY71" fmla="*/ 865146 h 1754953"/>
                    <a:gd name="connsiteX72" fmla="*/ 670354 w 3216002"/>
                    <a:gd name="connsiteY72" fmla="*/ 865146 h 1754953"/>
                    <a:gd name="connsiteX73" fmla="*/ 583857 w 3216002"/>
                    <a:gd name="connsiteY73" fmla="*/ 914573 h 1754953"/>
                    <a:gd name="connsiteX74" fmla="*/ 509716 w 3216002"/>
                    <a:gd name="connsiteY74" fmla="*/ 988714 h 1754953"/>
                    <a:gd name="connsiteX75" fmla="*/ 423219 w 3216002"/>
                    <a:gd name="connsiteY75" fmla="*/ 1013427 h 1754953"/>
                    <a:gd name="connsiteX76" fmla="*/ 312008 w 3216002"/>
                    <a:gd name="connsiteY76" fmla="*/ 1087568 h 1754953"/>
                    <a:gd name="connsiteX77" fmla="*/ 151370 w 3216002"/>
                    <a:gd name="connsiteY77" fmla="*/ 1124638 h 1754953"/>
                    <a:gd name="connsiteX78" fmla="*/ 15446 w 3216002"/>
                    <a:gd name="connsiteY78" fmla="*/ 1112281 h 1754953"/>
                    <a:gd name="connsiteX79" fmla="*/ 3089 w 3216002"/>
                    <a:gd name="connsiteY79" fmla="*/ 1038141 h 1754953"/>
                    <a:gd name="connsiteX80" fmla="*/ 15446 w 3216002"/>
                    <a:gd name="connsiteY80" fmla="*/ 988714 h 1754953"/>
                    <a:gd name="connsiteX81" fmla="*/ 126657 w 3216002"/>
                    <a:gd name="connsiteY81" fmla="*/ 976357 h 1754953"/>
                    <a:gd name="connsiteX82" fmla="*/ 188440 w 3216002"/>
                    <a:gd name="connsiteY82" fmla="*/ 926930 h 1754953"/>
                    <a:gd name="connsiteX83" fmla="*/ 225511 w 3216002"/>
                    <a:gd name="connsiteY83" fmla="*/ 877503 h 1754953"/>
                    <a:gd name="connsiteX84" fmla="*/ 225511 w 3216002"/>
                    <a:gd name="connsiteY84" fmla="*/ 803363 h 1754953"/>
                    <a:gd name="connsiteX85" fmla="*/ 200797 w 3216002"/>
                    <a:gd name="connsiteY85" fmla="*/ 729222 h 1754953"/>
                    <a:gd name="connsiteX86" fmla="*/ 225511 w 3216002"/>
                    <a:gd name="connsiteY86" fmla="*/ 605654 h 1754953"/>
                    <a:gd name="connsiteX87" fmla="*/ 262581 w 3216002"/>
                    <a:gd name="connsiteY87" fmla="*/ 506800 h 1754953"/>
                    <a:gd name="connsiteX88" fmla="*/ 447932 w 3216002"/>
                    <a:gd name="connsiteY88" fmla="*/ 346163 h 1754953"/>
                    <a:gd name="connsiteX89" fmla="*/ 534430 w 3216002"/>
                    <a:gd name="connsiteY89" fmla="*/ 321449 h 1754953"/>
                    <a:gd name="connsiteX90" fmla="*/ 559143 w 3216002"/>
                    <a:gd name="connsiteY90" fmla="*/ 247308 h 1754953"/>
                    <a:gd name="connsiteX91" fmla="*/ 633284 w 3216002"/>
                    <a:gd name="connsiteY91" fmla="*/ 185525 h 1754953"/>
                    <a:gd name="connsiteX92" fmla="*/ 868062 w 3216002"/>
                    <a:gd name="connsiteY92" fmla="*/ 185525 h 1754953"/>
                    <a:gd name="connsiteX93" fmla="*/ 917489 w 3216002"/>
                    <a:gd name="connsiteY93" fmla="*/ 148454 h 1754953"/>
                    <a:gd name="connsiteX94" fmla="*/ 966916 w 3216002"/>
                    <a:gd name="connsiteY94" fmla="*/ 49600 h 1754953"/>
                    <a:gd name="connsiteX95" fmla="*/ 1139911 w 3216002"/>
                    <a:gd name="connsiteY95" fmla="*/ 173 h 1754953"/>
                    <a:gd name="connsiteX96" fmla="*/ 1275835 w 3216002"/>
                    <a:gd name="connsiteY96" fmla="*/ 37244 h 1754953"/>
                    <a:gd name="connsiteX97" fmla="*/ 1349975 w 3216002"/>
                    <a:gd name="connsiteY97" fmla="*/ 136098 h 1754953"/>
                    <a:gd name="connsiteX98" fmla="*/ 1325262 w 3216002"/>
                    <a:gd name="connsiteY98" fmla="*/ 309092 h 1754953"/>
                    <a:gd name="connsiteX99" fmla="*/ 1374689 w 3216002"/>
                    <a:gd name="connsiteY99" fmla="*/ 395590 h 1754953"/>
                    <a:gd name="connsiteX100" fmla="*/ 1535327 w 3216002"/>
                    <a:gd name="connsiteY100" fmla="*/ 395590 h 1754953"/>
                    <a:gd name="connsiteX101" fmla="*/ 1658894 w 3216002"/>
                    <a:gd name="connsiteY101" fmla="*/ 432660 h 1754953"/>
                    <a:gd name="connsiteX102" fmla="*/ 1757748 w 3216002"/>
                    <a:gd name="connsiteY102" fmla="*/ 556227 h 1754953"/>
                    <a:gd name="connsiteX103" fmla="*/ 1881316 w 3216002"/>
                    <a:gd name="connsiteY103" fmla="*/ 605654 h 1754953"/>
                    <a:gd name="connsiteX104" fmla="*/ 2041954 w 3216002"/>
                    <a:gd name="connsiteY104" fmla="*/ 618011 h 1754953"/>
                    <a:gd name="connsiteX105" fmla="*/ 2202592 w 3216002"/>
                    <a:gd name="connsiteY105" fmla="*/ 556227 h 1754953"/>
                    <a:gd name="connsiteX106" fmla="*/ 2326159 w 3216002"/>
                    <a:gd name="connsiteY106" fmla="*/ 494444 h 1754953"/>
                    <a:gd name="connsiteX107" fmla="*/ 2499154 w 3216002"/>
                    <a:gd name="connsiteY107" fmla="*/ 457373 h 1754953"/>
                    <a:gd name="connsiteX108" fmla="*/ 2647435 w 3216002"/>
                    <a:gd name="connsiteY108" fmla="*/ 506800 h 1754953"/>
                    <a:gd name="connsiteX109" fmla="*/ 2746289 w 3216002"/>
                    <a:gd name="connsiteY109" fmla="*/ 618011 h 1754953"/>
                    <a:gd name="connsiteX110" fmla="*/ 2857500 w 3216002"/>
                    <a:gd name="connsiteY110" fmla="*/ 716865 h 1754953"/>
                    <a:gd name="connsiteX111" fmla="*/ 2981067 w 3216002"/>
                    <a:gd name="connsiteY111" fmla="*/ 815719 h 1754953"/>
                    <a:gd name="connsiteX112" fmla="*/ 3079921 w 3216002"/>
                    <a:gd name="connsiteY112" fmla="*/ 1001071 h 1754953"/>
                    <a:gd name="connsiteX113" fmla="*/ 3129348 w 3216002"/>
                    <a:gd name="connsiteY113" fmla="*/ 1124638 h 1754953"/>
                    <a:gd name="connsiteX114" fmla="*/ 3166419 w 3216002"/>
                    <a:gd name="connsiteY114" fmla="*/ 1235849 h 1754953"/>
                    <a:gd name="connsiteX115" fmla="*/ 3215846 w 3216002"/>
                    <a:gd name="connsiteY115" fmla="*/ 1359417 h 1754953"/>
                    <a:gd name="connsiteX116" fmla="*/ 3178775 w 3216002"/>
                    <a:gd name="connsiteY116" fmla="*/ 1495341 h 1754953"/>
                    <a:gd name="connsiteX117" fmla="*/ 3092278 w 3216002"/>
                    <a:gd name="connsiteY117" fmla="*/ 1482984 h 1754953"/>
                    <a:gd name="connsiteX118" fmla="*/ 3030494 w 3216002"/>
                    <a:gd name="connsiteY118" fmla="*/ 1396487 h 1754953"/>
                    <a:gd name="connsiteX119" fmla="*/ 2931640 w 3216002"/>
                    <a:gd name="connsiteY119" fmla="*/ 1309990 h 1754953"/>
                    <a:gd name="connsiteX120" fmla="*/ 2820430 w 3216002"/>
                    <a:gd name="connsiteY120" fmla="*/ 1248206 h 1754953"/>
                    <a:gd name="connsiteX121" fmla="*/ 2598008 w 3216002"/>
                    <a:gd name="connsiteY121" fmla="*/ 1223492 h 1754953"/>
                    <a:gd name="connsiteX122" fmla="*/ 2437370 w 3216002"/>
                    <a:gd name="connsiteY122" fmla="*/ 1248206 h 1754953"/>
                    <a:gd name="connsiteX123" fmla="*/ 2350873 w 3216002"/>
                    <a:gd name="connsiteY123" fmla="*/ 1309990 h 1754953"/>
                    <a:gd name="connsiteX124" fmla="*/ 2338516 w 3216002"/>
                    <a:gd name="connsiteY124" fmla="*/ 1421200 h 1754953"/>
                    <a:gd name="connsiteX125" fmla="*/ 2338516 w 3216002"/>
                    <a:gd name="connsiteY125" fmla="*/ 1495341 h 1754953"/>
                    <a:gd name="connsiteX126" fmla="*/ 2326159 w 3216002"/>
                    <a:gd name="connsiteY126" fmla="*/ 1557125 h 1754953"/>
                    <a:gd name="connsiteX127" fmla="*/ 2276732 w 3216002"/>
                    <a:gd name="connsiteY127" fmla="*/ 1569481 h 17549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Lst>
                  <a:rect l="l" t="t" r="r" b="b"/>
                  <a:pathLst>
                    <a:path w="3216002" h="1754953">
                      <a:moveTo>
                        <a:pt x="2276732" y="1569481"/>
                      </a:moveTo>
                      <a:cubicBezTo>
                        <a:pt x="2245840" y="1592135"/>
                        <a:pt x="2171700" y="1662157"/>
                        <a:pt x="2140808" y="1693049"/>
                      </a:cubicBezTo>
                      <a:cubicBezTo>
                        <a:pt x="2109916" y="1723941"/>
                        <a:pt x="2091381" y="1754833"/>
                        <a:pt x="2091381" y="1754833"/>
                      </a:cubicBezTo>
                      <a:cubicBezTo>
                        <a:pt x="2076965" y="1756893"/>
                        <a:pt x="2050192" y="1732179"/>
                        <a:pt x="2054311" y="1705406"/>
                      </a:cubicBezTo>
                      <a:cubicBezTo>
                        <a:pt x="2058430" y="1678633"/>
                        <a:pt x="2087262" y="1627146"/>
                        <a:pt x="2116094" y="1594195"/>
                      </a:cubicBezTo>
                      <a:cubicBezTo>
                        <a:pt x="2144926" y="1561244"/>
                        <a:pt x="2204651" y="1538590"/>
                        <a:pt x="2227305" y="1507698"/>
                      </a:cubicBezTo>
                      <a:cubicBezTo>
                        <a:pt x="2249959" y="1476806"/>
                        <a:pt x="2243781" y="1450033"/>
                        <a:pt x="2252019" y="1408844"/>
                      </a:cubicBezTo>
                      <a:cubicBezTo>
                        <a:pt x="2260257" y="1367655"/>
                        <a:pt x="2268494" y="1305871"/>
                        <a:pt x="2276732" y="1260563"/>
                      </a:cubicBezTo>
                      <a:cubicBezTo>
                        <a:pt x="2284970" y="1215255"/>
                        <a:pt x="2278792" y="1178184"/>
                        <a:pt x="2301446" y="1136995"/>
                      </a:cubicBezTo>
                      <a:cubicBezTo>
                        <a:pt x="2324100" y="1095806"/>
                        <a:pt x="2371468" y="1029903"/>
                        <a:pt x="2412657" y="1013427"/>
                      </a:cubicBezTo>
                      <a:cubicBezTo>
                        <a:pt x="2453846" y="996951"/>
                        <a:pt x="2548581" y="1038141"/>
                        <a:pt x="2548581" y="1038141"/>
                      </a:cubicBezTo>
                      <a:cubicBezTo>
                        <a:pt x="2583592" y="1050498"/>
                        <a:pt x="2622721" y="1087568"/>
                        <a:pt x="2622721" y="1087568"/>
                      </a:cubicBezTo>
                      <a:cubicBezTo>
                        <a:pt x="2645375" y="1091687"/>
                        <a:pt x="2684505" y="1062854"/>
                        <a:pt x="2684505" y="1062854"/>
                      </a:cubicBezTo>
                      <a:cubicBezTo>
                        <a:pt x="2707159" y="1046378"/>
                        <a:pt x="2758646" y="988714"/>
                        <a:pt x="2758646" y="988714"/>
                      </a:cubicBezTo>
                      <a:cubicBezTo>
                        <a:pt x="2760706" y="968119"/>
                        <a:pt x="2696862" y="939287"/>
                        <a:pt x="2696862" y="939287"/>
                      </a:cubicBezTo>
                      <a:cubicBezTo>
                        <a:pt x="2676267" y="920752"/>
                        <a:pt x="2635078" y="877503"/>
                        <a:pt x="2635078" y="877503"/>
                      </a:cubicBezTo>
                      <a:lnTo>
                        <a:pt x="2622721" y="865146"/>
                      </a:lnTo>
                      <a:cubicBezTo>
                        <a:pt x="2610364" y="856908"/>
                        <a:pt x="2560938" y="828076"/>
                        <a:pt x="2560938" y="828076"/>
                      </a:cubicBezTo>
                      <a:cubicBezTo>
                        <a:pt x="2538284" y="809541"/>
                        <a:pt x="2486797" y="753935"/>
                        <a:pt x="2486797" y="753935"/>
                      </a:cubicBezTo>
                      <a:cubicBezTo>
                        <a:pt x="2474440" y="735400"/>
                        <a:pt x="2486797" y="716865"/>
                        <a:pt x="2486797" y="716865"/>
                      </a:cubicBezTo>
                      <a:cubicBezTo>
                        <a:pt x="2476500" y="704508"/>
                        <a:pt x="2425013" y="679795"/>
                        <a:pt x="2425013" y="679795"/>
                      </a:cubicBezTo>
                      <a:cubicBezTo>
                        <a:pt x="2402359" y="679795"/>
                        <a:pt x="2350873" y="716865"/>
                        <a:pt x="2350873" y="716865"/>
                      </a:cubicBezTo>
                      <a:cubicBezTo>
                        <a:pt x="2332338" y="733341"/>
                        <a:pt x="2342634" y="768352"/>
                        <a:pt x="2313802" y="778649"/>
                      </a:cubicBezTo>
                      <a:cubicBezTo>
                        <a:pt x="2284970" y="788946"/>
                        <a:pt x="2217007" y="776590"/>
                        <a:pt x="2177878" y="778649"/>
                      </a:cubicBezTo>
                      <a:cubicBezTo>
                        <a:pt x="2138749" y="780708"/>
                        <a:pt x="2103737" y="766293"/>
                        <a:pt x="2079024" y="791006"/>
                      </a:cubicBezTo>
                      <a:cubicBezTo>
                        <a:pt x="2054311" y="815719"/>
                        <a:pt x="2033716" y="885741"/>
                        <a:pt x="2029597" y="926930"/>
                      </a:cubicBezTo>
                      <a:cubicBezTo>
                        <a:pt x="2025478" y="968119"/>
                        <a:pt x="2052252" y="999012"/>
                        <a:pt x="2054311" y="1038141"/>
                      </a:cubicBezTo>
                      <a:cubicBezTo>
                        <a:pt x="2056370" y="1077270"/>
                        <a:pt x="2041954" y="1161708"/>
                        <a:pt x="2041954" y="1161708"/>
                      </a:cubicBezTo>
                      <a:cubicBezTo>
                        <a:pt x="2027538" y="1194659"/>
                        <a:pt x="1971932" y="1198779"/>
                        <a:pt x="1967813" y="1235849"/>
                      </a:cubicBezTo>
                      <a:cubicBezTo>
                        <a:pt x="1963694" y="1272919"/>
                        <a:pt x="2017240" y="1384130"/>
                        <a:pt x="2017240" y="1384130"/>
                      </a:cubicBezTo>
                      <a:cubicBezTo>
                        <a:pt x="2031656" y="1419141"/>
                        <a:pt x="2048133" y="1415022"/>
                        <a:pt x="2054311" y="1445914"/>
                      </a:cubicBezTo>
                      <a:cubicBezTo>
                        <a:pt x="2060489" y="1476806"/>
                        <a:pt x="2060489" y="1530351"/>
                        <a:pt x="2054311" y="1569481"/>
                      </a:cubicBezTo>
                      <a:cubicBezTo>
                        <a:pt x="2048132" y="1608611"/>
                        <a:pt x="2017240" y="1680692"/>
                        <a:pt x="2017240" y="1680692"/>
                      </a:cubicBezTo>
                      <a:cubicBezTo>
                        <a:pt x="2002824" y="1701287"/>
                        <a:pt x="1969872" y="1713643"/>
                        <a:pt x="1967813" y="1693049"/>
                      </a:cubicBezTo>
                      <a:cubicBezTo>
                        <a:pt x="1965754" y="1672455"/>
                        <a:pt x="2015181" y="1600374"/>
                        <a:pt x="2004884" y="1557125"/>
                      </a:cubicBezTo>
                      <a:cubicBezTo>
                        <a:pt x="1994587" y="1513876"/>
                        <a:pt x="1906030" y="1433557"/>
                        <a:pt x="1906030" y="1433557"/>
                      </a:cubicBezTo>
                      <a:cubicBezTo>
                        <a:pt x="1877198" y="1404725"/>
                        <a:pt x="1850424" y="1408844"/>
                        <a:pt x="1831889" y="1384130"/>
                      </a:cubicBezTo>
                      <a:cubicBezTo>
                        <a:pt x="1813354" y="1359416"/>
                        <a:pt x="1794819" y="1285276"/>
                        <a:pt x="1794819" y="1285276"/>
                      </a:cubicBezTo>
                      <a:cubicBezTo>
                        <a:pt x="1788641" y="1262622"/>
                        <a:pt x="1794819" y="1248206"/>
                        <a:pt x="1794819" y="1248206"/>
                      </a:cubicBezTo>
                      <a:lnTo>
                        <a:pt x="1794819" y="1124638"/>
                      </a:lnTo>
                      <a:cubicBezTo>
                        <a:pt x="1794819" y="1085508"/>
                        <a:pt x="1803057" y="1050497"/>
                        <a:pt x="1794819" y="1013427"/>
                      </a:cubicBezTo>
                      <a:cubicBezTo>
                        <a:pt x="1786581" y="976357"/>
                        <a:pt x="1778343" y="937228"/>
                        <a:pt x="1745392" y="902217"/>
                      </a:cubicBezTo>
                      <a:cubicBezTo>
                        <a:pt x="1712441" y="867206"/>
                        <a:pt x="1597111" y="803363"/>
                        <a:pt x="1597111" y="803363"/>
                      </a:cubicBezTo>
                      <a:cubicBezTo>
                        <a:pt x="1560041" y="778649"/>
                        <a:pt x="1557981" y="762173"/>
                        <a:pt x="1522970" y="753935"/>
                      </a:cubicBezTo>
                      <a:cubicBezTo>
                        <a:pt x="1487959" y="745697"/>
                        <a:pt x="1387046" y="753935"/>
                        <a:pt x="1387046" y="753935"/>
                      </a:cubicBezTo>
                      <a:cubicBezTo>
                        <a:pt x="1352035" y="762173"/>
                        <a:pt x="1329381" y="780709"/>
                        <a:pt x="1312905" y="803363"/>
                      </a:cubicBezTo>
                      <a:cubicBezTo>
                        <a:pt x="1296429" y="826017"/>
                        <a:pt x="1279954" y="861028"/>
                        <a:pt x="1288192" y="889860"/>
                      </a:cubicBezTo>
                      <a:cubicBezTo>
                        <a:pt x="1296430" y="918692"/>
                        <a:pt x="1358213" y="947525"/>
                        <a:pt x="1362332" y="976357"/>
                      </a:cubicBezTo>
                      <a:cubicBezTo>
                        <a:pt x="1366451" y="1005189"/>
                        <a:pt x="1312905" y="1062854"/>
                        <a:pt x="1312905" y="1062854"/>
                      </a:cubicBezTo>
                      <a:cubicBezTo>
                        <a:pt x="1298489" y="1085508"/>
                        <a:pt x="1275835" y="1112281"/>
                        <a:pt x="1275835" y="1112281"/>
                      </a:cubicBezTo>
                      <a:cubicBezTo>
                        <a:pt x="1265538" y="1124638"/>
                        <a:pt x="1277894" y="1141114"/>
                        <a:pt x="1251121" y="1136995"/>
                      </a:cubicBezTo>
                      <a:cubicBezTo>
                        <a:pt x="1224348" y="1132876"/>
                        <a:pt x="1148148" y="1112281"/>
                        <a:pt x="1115197" y="1087568"/>
                      </a:cubicBezTo>
                      <a:cubicBezTo>
                        <a:pt x="1082246" y="1062855"/>
                        <a:pt x="1053413" y="988714"/>
                        <a:pt x="1053413" y="988714"/>
                      </a:cubicBezTo>
                      <a:cubicBezTo>
                        <a:pt x="1034878" y="972238"/>
                        <a:pt x="1024580" y="994892"/>
                        <a:pt x="1003986" y="988714"/>
                      </a:cubicBezTo>
                      <a:cubicBezTo>
                        <a:pt x="983392" y="982536"/>
                        <a:pt x="929846" y="951644"/>
                        <a:pt x="929846" y="951644"/>
                      </a:cubicBezTo>
                      <a:cubicBezTo>
                        <a:pt x="927787" y="937228"/>
                        <a:pt x="950441" y="920752"/>
                        <a:pt x="991630" y="902217"/>
                      </a:cubicBezTo>
                      <a:cubicBezTo>
                        <a:pt x="1032819" y="883682"/>
                        <a:pt x="1129614" y="861028"/>
                        <a:pt x="1176981" y="840433"/>
                      </a:cubicBezTo>
                      <a:cubicBezTo>
                        <a:pt x="1224348" y="819838"/>
                        <a:pt x="1240824" y="801303"/>
                        <a:pt x="1275835" y="778649"/>
                      </a:cubicBezTo>
                      <a:cubicBezTo>
                        <a:pt x="1310846" y="755995"/>
                        <a:pt x="1335559" y="710686"/>
                        <a:pt x="1387046" y="704508"/>
                      </a:cubicBezTo>
                      <a:cubicBezTo>
                        <a:pt x="1438532" y="698330"/>
                        <a:pt x="1531208" y="725103"/>
                        <a:pt x="1584754" y="741579"/>
                      </a:cubicBezTo>
                      <a:cubicBezTo>
                        <a:pt x="1638300" y="758055"/>
                        <a:pt x="1708321" y="803363"/>
                        <a:pt x="1708321" y="803363"/>
                      </a:cubicBezTo>
                      <a:cubicBezTo>
                        <a:pt x="1733034" y="807482"/>
                        <a:pt x="1733035" y="766292"/>
                        <a:pt x="1733035" y="766292"/>
                      </a:cubicBezTo>
                      <a:cubicBezTo>
                        <a:pt x="1724797" y="751876"/>
                        <a:pt x="1683607" y="741578"/>
                        <a:pt x="1658894" y="716865"/>
                      </a:cubicBezTo>
                      <a:cubicBezTo>
                        <a:pt x="1634181" y="692152"/>
                        <a:pt x="1617705" y="638605"/>
                        <a:pt x="1584754" y="618011"/>
                      </a:cubicBezTo>
                      <a:cubicBezTo>
                        <a:pt x="1551803" y="597417"/>
                        <a:pt x="1498256" y="593298"/>
                        <a:pt x="1461186" y="593298"/>
                      </a:cubicBezTo>
                      <a:cubicBezTo>
                        <a:pt x="1424116" y="593298"/>
                        <a:pt x="1403521" y="599476"/>
                        <a:pt x="1362332" y="618011"/>
                      </a:cubicBezTo>
                      <a:cubicBezTo>
                        <a:pt x="1321143" y="636546"/>
                        <a:pt x="1255240" y="683913"/>
                        <a:pt x="1214051" y="704508"/>
                      </a:cubicBezTo>
                      <a:cubicBezTo>
                        <a:pt x="1172862" y="725103"/>
                        <a:pt x="1150208" y="731282"/>
                        <a:pt x="1115197" y="741579"/>
                      </a:cubicBezTo>
                      <a:cubicBezTo>
                        <a:pt x="1080186" y="751876"/>
                        <a:pt x="1036937" y="749816"/>
                        <a:pt x="1003986" y="766292"/>
                      </a:cubicBezTo>
                      <a:cubicBezTo>
                        <a:pt x="971035" y="782768"/>
                        <a:pt x="917489" y="840433"/>
                        <a:pt x="917489" y="840433"/>
                      </a:cubicBezTo>
                      <a:cubicBezTo>
                        <a:pt x="896894" y="856909"/>
                        <a:pt x="901014" y="861027"/>
                        <a:pt x="880419" y="865146"/>
                      </a:cubicBezTo>
                      <a:cubicBezTo>
                        <a:pt x="859824" y="869265"/>
                        <a:pt x="793921" y="865146"/>
                        <a:pt x="793921" y="865146"/>
                      </a:cubicBezTo>
                      <a:cubicBezTo>
                        <a:pt x="758910" y="865146"/>
                        <a:pt x="705365" y="856908"/>
                        <a:pt x="670354" y="865146"/>
                      </a:cubicBezTo>
                      <a:cubicBezTo>
                        <a:pt x="635343" y="873384"/>
                        <a:pt x="583857" y="914573"/>
                        <a:pt x="583857" y="914573"/>
                      </a:cubicBezTo>
                      <a:cubicBezTo>
                        <a:pt x="557084" y="935168"/>
                        <a:pt x="536489" y="972238"/>
                        <a:pt x="509716" y="988714"/>
                      </a:cubicBezTo>
                      <a:cubicBezTo>
                        <a:pt x="482943" y="1005190"/>
                        <a:pt x="456170" y="996951"/>
                        <a:pt x="423219" y="1013427"/>
                      </a:cubicBezTo>
                      <a:cubicBezTo>
                        <a:pt x="390268" y="1029903"/>
                        <a:pt x="357316" y="1069033"/>
                        <a:pt x="312008" y="1087568"/>
                      </a:cubicBezTo>
                      <a:cubicBezTo>
                        <a:pt x="266700" y="1106103"/>
                        <a:pt x="200797" y="1120519"/>
                        <a:pt x="151370" y="1124638"/>
                      </a:cubicBezTo>
                      <a:lnTo>
                        <a:pt x="15446" y="1112281"/>
                      </a:lnTo>
                      <a:cubicBezTo>
                        <a:pt x="-9268" y="1097865"/>
                        <a:pt x="3089" y="1038141"/>
                        <a:pt x="3089" y="1038141"/>
                      </a:cubicBezTo>
                      <a:cubicBezTo>
                        <a:pt x="3089" y="1017547"/>
                        <a:pt x="-5149" y="999011"/>
                        <a:pt x="15446" y="988714"/>
                      </a:cubicBezTo>
                      <a:cubicBezTo>
                        <a:pt x="36041" y="978417"/>
                        <a:pt x="126657" y="976357"/>
                        <a:pt x="126657" y="976357"/>
                      </a:cubicBezTo>
                      <a:cubicBezTo>
                        <a:pt x="155489" y="966060"/>
                        <a:pt x="188440" y="926930"/>
                        <a:pt x="188440" y="926930"/>
                      </a:cubicBezTo>
                      <a:cubicBezTo>
                        <a:pt x="204916" y="910454"/>
                        <a:pt x="225511" y="877503"/>
                        <a:pt x="225511" y="877503"/>
                      </a:cubicBezTo>
                      <a:cubicBezTo>
                        <a:pt x="231689" y="856909"/>
                        <a:pt x="225511" y="803363"/>
                        <a:pt x="225511" y="803363"/>
                      </a:cubicBezTo>
                      <a:cubicBezTo>
                        <a:pt x="221392" y="778650"/>
                        <a:pt x="200797" y="762173"/>
                        <a:pt x="200797" y="729222"/>
                      </a:cubicBezTo>
                      <a:cubicBezTo>
                        <a:pt x="200797" y="696271"/>
                        <a:pt x="215214" y="642724"/>
                        <a:pt x="225511" y="605654"/>
                      </a:cubicBezTo>
                      <a:cubicBezTo>
                        <a:pt x="235808" y="568584"/>
                        <a:pt x="225511" y="550048"/>
                        <a:pt x="262581" y="506800"/>
                      </a:cubicBezTo>
                      <a:cubicBezTo>
                        <a:pt x="299651" y="463552"/>
                        <a:pt x="402624" y="377055"/>
                        <a:pt x="447932" y="346163"/>
                      </a:cubicBezTo>
                      <a:cubicBezTo>
                        <a:pt x="493240" y="315271"/>
                        <a:pt x="534430" y="321449"/>
                        <a:pt x="534430" y="321449"/>
                      </a:cubicBezTo>
                      <a:cubicBezTo>
                        <a:pt x="552965" y="304973"/>
                        <a:pt x="559143" y="247308"/>
                        <a:pt x="559143" y="247308"/>
                      </a:cubicBezTo>
                      <a:cubicBezTo>
                        <a:pt x="575619" y="224654"/>
                        <a:pt x="581798" y="195822"/>
                        <a:pt x="633284" y="185525"/>
                      </a:cubicBezTo>
                      <a:cubicBezTo>
                        <a:pt x="684770" y="175228"/>
                        <a:pt x="868062" y="185525"/>
                        <a:pt x="868062" y="185525"/>
                      </a:cubicBezTo>
                      <a:cubicBezTo>
                        <a:pt x="915429" y="179347"/>
                        <a:pt x="901013" y="171108"/>
                        <a:pt x="917489" y="148454"/>
                      </a:cubicBezTo>
                      <a:cubicBezTo>
                        <a:pt x="933965" y="125800"/>
                        <a:pt x="929846" y="74313"/>
                        <a:pt x="966916" y="49600"/>
                      </a:cubicBezTo>
                      <a:cubicBezTo>
                        <a:pt x="1003986" y="24886"/>
                        <a:pt x="1088425" y="2232"/>
                        <a:pt x="1139911" y="173"/>
                      </a:cubicBezTo>
                      <a:cubicBezTo>
                        <a:pt x="1191397" y="-1886"/>
                        <a:pt x="1240824" y="14590"/>
                        <a:pt x="1275835" y="37244"/>
                      </a:cubicBezTo>
                      <a:cubicBezTo>
                        <a:pt x="1310846" y="59898"/>
                        <a:pt x="1341737" y="90790"/>
                        <a:pt x="1349975" y="136098"/>
                      </a:cubicBezTo>
                      <a:cubicBezTo>
                        <a:pt x="1358213" y="181406"/>
                        <a:pt x="1321143" y="265843"/>
                        <a:pt x="1325262" y="309092"/>
                      </a:cubicBezTo>
                      <a:cubicBezTo>
                        <a:pt x="1329381" y="352341"/>
                        <a:pt x="1339678" y="381174"/>
                        <a:pt x="1374689" y="395590"/>
                      </a:cubicBezTo>
                      <a:cubicBezTo>
                        <a:pt x="1409700" y="410006"/>
                        <a:pt x="1487960" y="389412"/>
                        <a:pt x="1535327" y="395590"/>
                      </a:cubicBezTo>
                      <a:cubicBezTo>
                        <a:pt x="1582694" y="401768"/>
                        <a:pt x="1621824" y="405887"/>
                        <a:pt x="1658894" y="432660"/>
                      </a:cubicBezTo>
                      <a:cubicBezTo>
                        <a:pt x="1695964" y="459433"/>
                        <a:pt x="1720678" y="527395"/>
                        <a:pt x="1757748" y="556227"/>
                      </a:cubicBezTo>
                      <a:cubicBezTo>
                        <a:pt x="1794818" y="585059"/>
                        <a:pt x="1833948" y="595357"/>
                        <a:pt x="1881316" y="605654"/>
                      </a:cubicBezTo>
                      <a:cubicBezTo>
                        <a:pt x="1928684" y="615951"/>
                        <a:pt x="1988408" y="626249"/>
                        <a:pt x="2041954" y="618011"/>
                      </a:cubicBezTo>
                      <a:cubicBezTo>
                        <a:pt x="2095500" y="609773"/>
                        <a:pt x="2155225" y="576821"/>
                        <a:pt x="2202592" y="556227"/>
                      </a:cubicBezTo>
                      <a:cubicBezTo>
                        <a:pt x="2249959" y="535633"/>
                        <a:pt x="2276732" y="510920"/>
                        <a:pt x="2326159" y="494444"/>
                      </a:cubicBezTo>
                      <a:cubicBezTo>
                        <a:pt x="2375586" y="477968"/>
                        <a:pt x="2445608" y="455314"/>
                        <a:pt x="2499154" y="457373"/>
                      </a:cubicBezTo>
                      <a:cubicBezTo>
                        <a:pt x="2552700" y="459432"/>
                        <a:pt x="2606246" y="480027"/>
                        <a:pt x="2647435" y="506800"/>
                      </a:cubicBezTo>
                      <a:cubicBezTo>
                        <a:pt x="2688624" y="533573"/>
                        <a:pt x="2711278" y="583000"/>
                        <a:pt x="2746289" y="618011"/>
                      </a:cubicBezTo>
                      <a:cubicBezTo>
                        <a:pt x="2781300" y="653022"/>
                        <a:pt x="2818370" y="683914"/>
                        <a:pt x="2857500" y="716865"/>
                      </a:cubicBezTo>
                      <a:cubicBezTo>
                        <a:pt x="2896630" y="749816"/>
                        <a:pt x="2943997" y="768351"/>
                        <a:pt x="2981067" y="815719"/>
                      </a:cubicBezTo>
                      <a:cubicBezTo>
                        <a:pt x="3018137" y="863087"/>
                        <a:pt x="3055208" y="949585"/>
                        <a:pt x="3079921" y="1001071"/>
                      </a:cubicBezTo>
                      <a:cubicBezTo>
                        <a:pt x="3104634" y="1052557"/>
                        <a:pt x="3114932" y="1085508"/>
                        <a:pt x="3129348" y="1124638"/>
                      </a:cubicBezTo>
                      <a:cubicBezTo>
                        <a:pt x="3143764" y="1163768"/>
                        <a:pt x="3152003" y="1196719"/>
                        <a:pt x="3166419" y="1235849"/>
                      </a:cubicBezTo>
                      <a:cubicBezTo>
                        <a:pt x="3180835" y="1274979"/>
                        <a:pt x="3213787" y="1316168"/>
                        <a:pt x="3215846" y="1359417"/>
                      </a:cubicBezTo>
                      <a:cubicBezTo>
                        <a:pt x="3217905" y="1402666"/>
                        <a:pt x="3199370" y="1474747"/>
                        <a:pt x="3178775" y="1495341"/>
                      </a:cubicBezTo>
                      <a:cubicBezTo>
                        <a:pt x="3158180" y="1515935"/>
                        <a:pt x="3116991" y="1499460"/>
                        <a:pt x="3092278" y="1482984"/>
                      </a:cubicBezTo>
                      <a:cubicBezTo>
                        <a:pt x="3067565" y="1466508"/>
                        <a:pt x="3057267" y="1425319"/>
                        <a:pt x="3030494" y="1396487"/>
                      </a:cubicBezTo>
                      <a:cubicBezTo>
                        <a:pt x="3003721" y="1367655"/>
                        <a:pt x="2966651" y="1334704"/>
                        <a:pt x="2931640" y="1309990"/>
                      </a:cubicBezTo>
                      <a:cubicBezTo>
                        <a:pt x="2896629" y="1285276"/>
                        <a:pt x="2876035" y="1262622"/>
                        <a:pt x="2820430" y="1248206"/>
                      </a:cubicBezTo>
                      <a:cubicBezTo>
                        <a:pt x="2764825" y="1233790"/>
                        <a:pt x="2661851" y="1223492"/>
                        <a:pt x="2598008" y="1223492"/>
                      </a:cubicBezTo>
                      <a:cubicBezTo>
                        <a:pt x="2534165" y="1223492"/>
                        <a:pt x="2478559" y="1233790"/>
                        <a:pt x="2437370" y="1248206"/>
                      </a:cubicBezTo>
                      <a:cubicBezTo>
                        <a:pt x="2396181" y="1262622"/>
                        <a:pt x="2367349" y="1281158"/>
                        <a:pt x="2350873" y="1309990"/>
                      </a:cubicBezTo>
                      <a:cubicBezTo>
                        <a:pt x="2334397" y="1338822"/>
                        <a:pt x="2338516" y="1421200"/>
                        <a:pt x="2338516" y="1421200"/>
                      </a:cubicBezTo>
                      <a:cubicBezTo>
                        <a:pt x="2336457" y="1452092"/>
                        <a:pt x="2338516" y="1495341"/>
                        <a:pt x="2338516" y="1495341"/>
                      </a:cubicBezTo>
                      <a:cubicBezTo>
                        <a:pt x="2336457" y="1517995"/>
                        <a:pt x="2326159" y="1557125"/>
                        <a:pt x="2326159" y="1557125"/>
                      </a:cubicBezTo>
                      <a:cubicBezTo>
                        <a:pt x="2315862" y="1575660"/>
                        <a:pt x="2307624" y="1546827"/>
                        <a:pt x="2276732" y="1569481"/>
                      </a:cubicBezTo>
                      <a:close/>
                    </a:path>
                  </a:pathLst>
                </a:custGeom>
                <a:solidFill>
                  <a:srgbClr val="C98588"/>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 name="Freeform 240">
                  <a:extLst>
                    <a:ext uri="{FF2B5EF4-FFF2-40B4-BE49-F238E27FC236}">
                      <a16:creationId xmlns:a16="http://schemas.microsoft.com/office/drawing/2014/main" id="{8CD08F64-AC47-1F4B-B339-695B4E1D6B57}"/>
                    </a:ext>
                  </a:extLst>
                </p:cNvPr>
                <p:cNvSpPr/>
                <p:nvPr/>
              </p:nvSpPr>
              <p:spPr>
                <a:xfrm>
                  <a:off x="4731378" y="2718486"/>
                  <a:ext cx="908795" cy="2780271"/>
                </a:xfrm>
                <a:custGeom>
                  <a:avLst/>
                  <a:gdLst>
                    <a:gd name="connsiteX0" fmla="*/ 347249 w 908795"/>
                    <a:gd name="connsiteY0" fmla="*/ 729049 h 2780271"/>
                    <a:gd name="connsiteX1" fmla="*/ 285465 w 908795"/>
                    <a:gd name="connsiteY1" fmla="*/ 803190 h 2780271"/>
                    <a:gd name="connsiteX2" fmla="*/ 211325 w 908795"/>
                    <a:gd name="connsiteY2" fmla="*/ 877330 h 2780271"/>
                    <a:gd name="connsiteX3" fmla="*/ 137184 w 908795"/>
                    <a:gd name="connsiteY3" fmla="*/ 1050325 h 2780271"/>
                    <a:gd name="connsiteX4" fmla="*/ 149541 w 908795"/>
                    <a:gd name="connsiteY4" fmla="*/ 1248033 h 2780271"/>
                    <a:gd name="connsiteX5" fmla="*/ 198968 w 908795"/>
                    <a:gd name="connsiteY5" fmla="*/ 1421028 h 2780271"/>
                    <a:gd name="connsiteX6" fmla="*/ 260752 w 908795"/>
                    <a:gd name="connsiteY6" fmla="*/ 1655806 h 2780271"/>
                    <a:gd name="connsiteX7" fmla="*/ 334892 w 908795"/>
                    <a:gd name="connsiteY7" fmla="*/ 1828800 h 2780271"/>
                    <a:gd name="connsiteX8" fmla="*/ 470817 w 908795"/>
                    <a:gd name="connsiteY8" fmla="*/ 2063579 h 2780271"/>
                    <a:gd name="connsiteX9" fmla="*/ 569671 w 908795"/>
                    <a:gd name="connsiteY9" fmla="*/ 2174790 h 2780271"/>
                    <a:gd name="connsiteX10" fmla="*/ 619098 w 908795"/>
                    <a:gd name="connsiteY10" fmla="*/ 2323071 h 2780271"/>
                    <a:gd name="connsiteX11" fmla="*/ 717952 w 908795"/>
                    <a:gd name="connsiteY11" fmla="*/ 2471352 h 2780271"/>
                    <a:gd name="connsiteX12" fmla="*/ 767379 w 908795"/>
                    <a:gd name="connsiteY12" fmla="*/ 2533136 h 2780271"/>
                    <a:gd name="connsiteX13" fmla="*/ 829163 w 908795"/>
                    <a:gd name="connsiteY13" fmla="*/ 2644346 h 2780271"/>
                    <a:gd name="connsiteX14" fmla="*/ 903303 w 908795"/>
                    <a:gd name="connsiteY14" fmla="*/ 2730844 h 2780271"/>
                    <a:gd name="connsiteX15" fmla="*/ 903303 w 908795"/>
                    <a:gd name="connsiteY15" fmla="*/ 2780271 h 2780271"/>
                    <a:gd name="connsiteX16" fmla="*/ 829163 w 908795"/>
                    <a:gd name="connsiteY16" fmla="*/ 2718487 h 2780271"/>
                    <a:gd name="connsiteX17" fmla="*/ 742665 w 908795"/>
                    <a:gd name="connsiteY17" fmla="*/ 2619633 h 2780271"/>
                    <a:gd name="connsiteX18" fmla="*/ 668525 w 908795"/>
                    <a:gd name="connsiteY18" fmla="*/ 2533136 h 2780271"/>
                    <a:gd name="connsiteX19" fmla="*/ 594384 w 908795"/>
                    <a:gd name="connsiteY19" fmla="*/ 2496065 h 2780271"/>
                    <a:gd name="connsiteX20" fmla="*/ 544957 w 908795"/>
                    <a:gd name="connsiteY20" fmla="*/ 2360141 h 2780271"/>
                    <a:gd name="connsiteX21" fmla="*/ 483173 w 908795"/>
                    <a:gd name="connsiteY21" fmla="*/ 2236573 h 2780271"/>
                    <a:gd name="connsiteX22" fmla="*/ 396676 w 908795"/>
                    <a:gd name="connsiteY22" fmla="*/ 2150076 h 2780271"/>
                    <a:gd name="connsiteX23" fmla="*/ 310179 w 908795"/>
                    <a:gd name="connsiteY23" fmla="*/ 2137719 h 2780271"/>
                    <a:gd name="connsiteX24" fmla="*/ 248395 w 908795"/>
                    <a:gd name="connsiteY24" fmla="*/ 2051222 h 2780271"/>
                    <a:gd name="connsiteX25" fmla="*/ 198968 w 908795"/>
                    <a:gd name="connsiteY25" fmla="*/ 1915298 h 2780271"/>
                    <a:gd name="connsiteX26" fmla="*/ 174254 w 908795"/>
                    <a:gd name="connsiteY26" fmla="*/ 1754660 h 2780271"/>
                    <a:gd name="connsiteX27" fmla="*/ 100114 w 908795"/>
                    <a:gd name="connsiteY27" fmla="*/ 1631092 h 2780271"/>
                    <a:gd name="connsiteX28" fmla="*/ 50687 w 908795"/>
                    <a:gd name="connsiteY28" fmla="*/ 1445741 h 2780271"/>
                    <a:gd name="connsiteX29" fmla="*/ 1260 w 908795"/>
                    <a:gd name="connsiteY29" fmla="*/ 1223319 h 2780271"/>
                    <a:gd name="connsiteX30" fmla="*/ 13617 w 908795"/>
                    <a:gd name="connsiteY30" fmla="*/ 1075038 h 2780271"/>
                    <a:gd name="connsiteX31" fmla="*/ 38330 w 908795"/>
                    <a:gd name="connsiteY31" fmla="*/ 1000898 h 2780271"/>
                    <a:gd name="connsiteX32" fmla="*/ 100114 w 908795"/>
                    <a:gd name="connsiteY32" fmla="*/ 902044 h 2780271"/>
                    <a:gd name="connsiteX33" fmla="*/ 186611 w 908795"/>
                    <a:gd name="connsiteY33" fmla="*/ 790833 h 2780271"/>
                    <a:gd name="connsiteX34" fmla="*/ 285465 w 908795"/>
                    <a:gd name="connsiteY34" fmla="*/ 642552 h 2780271"/>
                    <a:gd name="connsiteX35" fmla="*/ 371963 w 908795"/>
                    <a:gd name="connsiteY35" fmla="*/ 481914 h 2780271"/>
                    <a:gd name="connsiteX36" fmla="*/ 458460 w 908795"/>
                    <a:gd name="connsiteY36" fmla="*/ 333633 h 2780271"/>
                    <a:gd name="connsiteX37" fmla="*/ 507887 w 908795"/>
                    <a:gd name="connsiteY37" fmla="*/ 197709 h 2780271"/>
                    <a:gd name="connsiteX38" fmla="*/ 544957 w 908795"/>
                    <a:gd name="connsiteY38" fmla="*/ 98855 h 2780271"/>
                    <a:gd name="connsiteX39" fmla="*/ 544957 w 908795"/>
                    <a:gd name="connsiteY39" fmla="*/ 24714 h 2780271"/>
                    <a:gd name="connsiteX40" fmla="*/ 569671 w 908795"/>
                    <a:gd name="connsiteY40" fmla="*/ 0 h 2780271"/>
                    <a:gd name="connsiteX41" fmla="*/ 643811 w 908795"/>
                    <a:gd name="connsiteY41" fmla="*/ 24714 h 2780271"/>
                    <a:gd name="connsiteX42" fmla="*/ 668525 w 908795"/>
                    <a:gd name="connsiteY42" fmla="*/ 111211 h 2780271"/>
                    <a:gd name="connsiteX43" fmla="*/ 730308 w 908795"/>
                    <a:gd name="connsiteY43" fmla="*/ 123568 h 2780271"/>
                    <a:gd name="connsiteX44" fmla="*/ 755022 w 908795"/>
                    <a:gd name="connsiteY44" fmla="*/ 160638 h 2780271"/>
                    <a:gd name="connsiteX45" fmla="*/ 693238 w 908795"/>
                    <a:gd name="connsiteY45" fmla="*/ 259492 h 2780271"/>
                    <a:gd name="connsiteX46" fmla="*/ 631454 w 908795"/>
                    <a:gd name="connsiteY46" fmla="*/ 358346 h 2780271"/>
                    <a:gd name="connsiteX47" fmla="*/ 569671 w 908795"/>
                    <a:gd name="connsiteY47" fmla="*/ 481914 h 2780271"/>
                    <a:gd name="connsiteX48" fmla="*/ 520244 w 908795"/>
                    <a:gd name="connsiteY48" fmla="*/ 605482 h 2780271"/>
                    <a:gd name="connsiteX49" fmla="*/ 483173 w 908795"/>
                    <a:gd name="connsiteY49" fmla="*/ 729049 h 2780271"/>
                    <a:gd name="connsiteX50" fmla="*/ 421390 w 908795"/>
                    <a:gd name="connsiteY50" fmla="*/ 864973 h 2780271"/>
                    <a:gd name="connsiteX51" fmla="*/ 359606 w 908795"/>
                    <a:gd name="connsiteY51" fmla="*/ 1025611 h 2780271"/>
                    <a:gd name="connsiteX52" fmla="*/ 371963 w 908795"/>
                    <a:gd name="connsiteY52" fmla="*/ 1210963 h 2780271"/>
                    <a:gd name="connsiteX53" fmla="*/ 347249 w 908795"/>
                    <a:gd name="connsiteY53" fmla="*/ 1359244 h 2780271"/>
                    <a:gd name="connsiteX54" fmla="*/ 334892 w 908795"/>
                    <a:gd name="connsiteY54" fmla="*/ 1408671 h 2780271"/>
                    <a:gd name="connsiteX55" fmla="*/ 285465 w 908795"/>
                    <a:gd name="connsiteY55" fmla="*/ 1359244 h 2780271"/>
                    <a:gd name="connsiteX56" fmla="*/ 260752 w 908795"/>
                    <a:gd name="connsiteY56" fmla="*/ 1235676 h 2780271"/>
                    <a:gd name="connsiteX57" fmla="*/ 285465 w 908795"/>
                    <a:gd name="connsiteY57" fmla="*/ 1099752 h 2780271"/>
                    <a:gd name="connsiteX58" fmla="*/ 322536 w 908795"/>
                    <a:gd name="connsiteY58" fmla="*/ 1000898 h 2780271"/>
                    <a:gd name="connsiteX59" fmla="*/ 359606 w 908795"/>
                    <a:gd name="connsiteY59" fmla="*/ 914400 h 2780271"/>
                    <a:gd name="connsiteX60" fmla="*/ 384319 w 908795"/>
                    <a:gd name="connsiteY60" fmla="*/ 815546 h 2780271"/>
                    <a:gd name="connsiteX61" fmla="*/ 384319 w 908795"/>
                    <a:gd name="connsiteY61" fmla="*/ 766119 h 2780271"/>
                    <a:gd name="connsiteX62" fmla="*/ 347249 w 908795"/>
                    <a:gd name="connsiteY62" fmla="*/ 729049 h 2780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Lst>
                  <a:rect l="l" t="t" r="r" b="b"/>
                  <a:pathLst>
                    <a:path w="908795" h="2780271">
                      <a:moveTo>
                        <a:pt x="347249" y="729049"/>
                      </a:moveTo>
                      <a:cubicBezTo>
                        <a:pt x="330773" y="735228"/>
                        <a:pt x="285465" y="803190"/>
                        <a:pt x="285465" y="803190"/>
                      </a:cubicBezTo>
                      <a:cubicBezTo>
                        <a:pt x="262811" y="827904"/>
                        <a:pt x="236038" y="836141"/>
                        <a:pt x="211325" y="877330"/>
                      </a:cubicBezTo>
                      <a:cubicBezTo>
                        <a:pt x="186612" y="918519"/>
                        <a:pt x="147481" y="988541"/>
                        <a:pt x="137184" y="1050325"/>
                      </a:cubicBezTo>
                      <a:cubicBezTo>
                        <a:pt x="126887" y="1112109"/>
                        <a:pt x="139244" y="1186249"/>
                        <a:pt x="149541" y="1248033"/>
                      </a:cubicBezTo>
                      <a:cubicBezTo>
                        <a:pt x="159838" y="1309817"/>
                        <a:pt x="180433" y="1353066"/>
                        <a:pt x="198968" y="1421028"/>
                      </a:cubicBezTo>
                      <a:cubicBezTo>
                        <a:pt x="217503" y="1488990"/>
                        <a:pt x="238098" y="1587844"/>
                        <a:pt x="260752" y="1655806"/>
                      </a:cubicBezTo>
                      <a:cubicBezTo>
                        <a:pt x="283406" y="1723768"/>
                        <a:pt x="299881" y="1760838"/>
                        <a:pt x="334892" y="1828800"/>
                      </a:cubicBezTo>
                      <a:cubicBezTo>
                        <a:pt x="369903" y="1896762"/>
                        <a:pt x="431687" y="2005914"/>
                        <a:pt x="470817" y="2063579"/>
                      </a:cubicBezTo>
                      <a:cubicBezTo>
                        <a:pt x="509947" y="2121244"/>
                        <a:pt x="544957" y="2131541"/>
                        <a:pt x="569671" y="2174790"/>
                      </a:cubicBezTo>
                      <a:cubicBezTo>
                        <a:pt x="594385" y="2218039"/>
                        <a:pt x="594385" y="2273644"/>
                        <a:pt x="619098" y="2323071"/>
                      </a:cubicBezTo>
                      <a:cubicBezTo>
                        <a:pt x="643811" y="2372498"/>
                        <a:pt x="717952" y="2471352"/>
                        <a:pt x="717952" y="2471352"/>
                      </a:cubicBezTo>
                      <a:cubicBezTo>
                        <a:pt x="742666" y="2506363"/>
                        <a:pt x="748844" y="2504304"/>
                        <a:pt x="767379" y="2533136"/>
                      </a:cubicBezTo>
                      <a:cubicBezTo>
                        <a:pt x="785914" y="2561968"/>
                        <a:pt x="806509" y="2611395"/>
                        <a:pt x="829163" y="2644346"/>
                      </a:cubicBezTo>
                      <a:cubicBezTo>
                        <a:pt x="851817" y="2677297"/>
                        <a:pt x="903303" y="2730844"/>
                        <a:pt x="903303" y="2730844"/>
                      </a:cubicBezTo>
                      <a:cubicBezTo>
                        <a:pt x="915660" y="2753498"/>
                        <a:pt x="903303" y="2780271"/>
                        <a:pt x="903303" y="2780271"/>
                      </a:cubicBezTo>
                      <a:cubicBezTo>
                        <a:pt x="890946" y="2778212"/>
                        <a:pt x="855936" y="2745260"/>
                        <a:pt x="829163" y="2718487"/>
                      </a:cubicBezTo>
                      <a:cubicBezTo>
                        <a:pt x="802390" y="2691714"/>
                        <a:pt x="769438" y="2650525"/>
                        <a:pt x="742665" y="2619633"/>
                      </a:cubicBezTo>
                      <a:cubicBezTo>
                        <a:pt x="715892" y="2588741"/>
                        <a:pt x="668525" y="2533136"/>
                        <a:pt x="668525" y="2533136"/>
                      </a:cubicBezTo>
                      <a:cubicBezTo>
                        <a:pt x="643812" y="2512541"/>
                        <a:pt x="614979" y="2524898"/>
                        <a:pt x="594384" y="2496065"/>
                      </a:cubicBezTo>
                      <a:cubicBezTo>
                        <a:pt x="573789" y="2467233"/>
                        <a:pt x="563492" y="2403389"/>
                        <a:pt x="544957" y="2360141"/>
                      </a:cubicBezTo>
                      <a:cubicBezTo>
                        <a:pt x="526422" y="2316893"/>
                        <a:pt x="507887" y="2271584"/>
                        <a:pt x="483173" y="2236573"/>
                      </a:cubicBezTo>
                      <a:cubicBezTo>
                        <a:pt x="458460" y="2201562"/>
                        <a:pt x="425508" y="2166552"/>
                        <a:pt x="396676" y="2150076"/>
                      </a:cubicBezTo>
                      <a:cubicBezTo>
                        <a:pt x="367844" y="2133600"/>
                        <a:pt x="334892" y="2154195"/>
                        <a:pt x="310179" y="2137719"/>
                      </a:cubicBezTo>
                      <a:cubicBezTo>
                        <a:pt x="285466" y="2121243"/>
                        <a:pt x="266930" y="2088292"/>
                        <a:pt x="248395" y="2051222"/>
                      </a:cubicBezTo>
                      <a:cubicBezTo>
                        <a:pt x="229860" y="2014152"/>
                        <a:pt x="211325" y="1964725"/>
                        <a:pt x="198968" y="1915298"/>
                      </a:cubicBezTo>
                      <a:cubicBezTo>
                        <a:pt x="186611" y="1865871"/>
                        <a:pt x="190730" y="1802028"/>
                        <a:pt x="174254" y="1754660"/>
                      </a:cubicBezTo>
                      <a:cubicBezTo>
                        <a:pt x="157778" y="1707292"/>
                        <a:pt x="120708" y="1682578"/>
                        <a:pt x="100114" y="1631092"/>
                      </a:cubicBezTo>
                      <a:cubicBezTo>
                        <a:pt x="79520" y="1579606"/>
                        <a:pt x="67163" y="1513703"/>
                        <a:pt x="50687" y="1445741"/>
                      </a:cubicBezTo>
                      <a:cubicBezTo>
                        <a:pt x="34211" y="1377779"/>
                        <a:pt x="7438" y="1285103"/>
                        <a:pt x="1260" y="1223319"/>
                      </a:cubicBezTo>
                      <a:cubicBezTo>
                        <a:pt x="-4918" y="1161535"/>
                        <a:pt x="13617" y="1075038"/>
                        <a:pt x="13617" y="1075038"/>
                      </a:cubicBezTo>
                      <a:cubicBezTo>
                        <a:pt x="19795" y="1037968"/>
                        <a:pt x="23914" y="1029730"/>
                        <a:pt x="38330" y="1000898"/>
                      </a:cubicBezTo>
                      <a:cubicBezTo>
                        <a:pt x="52746" y="972066"/>
                        <a:pt x="75400" y="937055"/>
                        <a:pt x="100114" y="902044"/>
                      </a:cubicBezTo>
                      <a:cubicBezTo>
                        <a:pt x="124827" y="867033"/>
                        <a:pt x="155719" y="834082"/>
                        <a:pt x="186611" y="790833"/>
                      </a:cubicBezTo>
                      <a:cubicBezTo>
                        <a:pt x="217503" y="747584"/>
                        <a:pt x="254573" y="694038"/>
                        <a:pt x="285465" y="642552"/>
                      </a:cubicBezTo>
                      <a:cubicBezTo>
                        <a:pt x="316357" y="591065"/>
                        <a:pt x="343131" y="533400"/>
                        <a:pt x="371963" y="481914"/>
                      </a:cubicBezTo>
                      <a:cubicBezTo>
                        <a:pt x="400795" y="430428"/>
                        <a:pt x="435806" y="381000"/>
                        <a:pt x="458460" y="333633"/>
                      </a:cubicBezTo>
                      <a:cubicBezTo>
                        <a:pt x="481114" y="286265"/>
                        <a:pt x="493471" y="236839"/>
                        <a:pt x="507887" y="197709"/>
                      </a:cubicBezTo>
                      <a:cubicBezTo>
                        <a:pt x="522303" y="158579"/>
                        <a:pt x="544957" y="98855"/>
                        <a:pt x="544957" y="98855"/>
                      </a:cubicBezTo>
                      <a:cubicBezTo>
                        <a:pt x="551135" y="70023"/>
                        <a:pt x="544957" y="24714"/>
                        <a:pt x="544957" y="24714"/>
                      </a:cubicBezTo>
                      <a:cubicBezTo>
                        <a:pt x="549076" y="8238"/>
                        <a:pt x="569671" y="0"/>
                        <a:pt x="569671" y="0"/>
                      </a:cubicBezTo>
                      <a:cubicBezTo>
                        <a:pt x="586147" y="0"/>
                        <a:pt x="627335" y="6179"/>
                        <a:pt x="643811" y="24714"/>
                      </a:cubicBezTo>
                      <a:cubicBezTo>
                        <a:pt x="660287" y="43249"/>
                        <a:pt x="668525" y="111211"/>
                        <a:pt x="668525" y="111211"/>
                      </a:cubicBezTo>
                      <a:cubicBezTo>
                        <a:pt x="682941" y="127687"/>
                        <a:pt x="730308" y="123568"/>
                        <a:pt x="730308" y="123568"/>
                      </a:cubicBezTo>
                      <a:cubicBezTo>
                        <a:pt x="744724" y="131806"/>
                        <a:pt x="761200" y="137984"/>
                        <a:pt x="755022" y="160638"/>
                      </a:cubicBezTo>
                      <a:cubicBezTo>
                        <a:pt x="748844" y="183292"/>
                        <a:pt x="693238" y="259492"/>
                        <a:pt x="693238" y="259492"/>
                      </a:cubicBezTo>
                      <a:cubicBezTo>
                        <a:pt x="672643" y="292443"/>
                        <a:pt x="652049" y="321276"/>
                        <a:pt x="631454" y="358346"/>
                      </a:cubicBezTo>
                      <a:cubicBezTo>
                        <a:pt x="610860" y="395416"/>
                        <a:pt x="588206" y="440725"/>
                        <a:pt x="569671" y="481914"/>
                      </a:cubicBezTo>
                      <a:cubicBezTo>
                        <a:pt x="551136" y="523103"/>
                        <a:pt x="534660" y="564293"/>
                        <a:pt x="520244" y="605482"/>
                      </a:cubicBezTo>
                      <a:cubicBezTo>
                        <a:pt x="505828" y="646671"/>
                        <a:pt x="499649" y="685801"/>
                        <a:pt x="483173" y="729049"/>
                      </a:cubicBezTo>
                      <a:cubicBezTo>
                        <a:pt x="466697" y="772297"/>
                        <a:pt x="441984" y="815546"/>
                        <a:pt x="421390" y="864973"/>
                      </a:cubicBezTo>
                      <a:cubicBezTo>
                        <a:pt x="400796" y="914400"/>
                        <a:pt x="367844" y="967946"/>
                        <a:pt x="359606" y="1025611"/>
                      </a:cubicBezTo>
                      <a:cubicBezTo>
                        <a:pt x="351368" y="1083276"/>
                        <a:pt x="374022" y="1155358"/>
                        <a:pt x="371963" y="1210963"/>
                      </a:cubicBezTo>
                      <a:cubicBezTo>
                        <a:pt x="369904" y="1266568"/>
                        <a:pt x="347249" y="1359244"/>
                        <a:pt x="347249" y="1359244"/>
                      </a:cubicBezTo>
                      <a:cubicBezTo>
                        <a:pt x="341071" y="1392195"/>
                        <a:pt x="334892" y="1408671"/>
                        <a:pt x="334892" y="1408671"/>
                      </a:cubicBezTo>
                      <a:cubicBezTo>
                        <a:pt x="324595" y="1408671"/>
                        <a:pt x="297822" y="1388076"/>
                        <a:pt x="285465" y="1359244"/>
                      </a:cubicBezTo>
                      <a:cubicBezTo>
                        <a:pt x="273108" y="1330412"/>
                        <a:pt x="260752" y="1278925"/>
                        <a:pt x="260752" y="1235676"/>
                      </a:cubicBezTo>
                      <a:cubicBezTo>
                        <a:pt x="260752" y="1192427"/>
                        <a:pt x="275168" y="1138882"/>
                        <a:pt x="285465" y="1099752"/>
                      </a:cubicBezTo>
                      <a:cubicBezTo>
                        <a:pt x="295762" y="1060622"/>
                        <a:pt x="310179" y="1031790"/>
                        <a:pt x="322536" y="1000898"/>
                      </a:cubicBezTo>
                      <a:cubicBezTo>
                        <a:pt x="334893" y="970006"/>
                        <a:pt x="349309" y="945292"/>
                        <a:pt x="359606" y="914400"/>
                      </a:cubicBezTo>
                      <a:cubicBezTo>
                        <a:pt x="369903" y="883508"/>
                        <a:pt x="384319" y="815546"/>
                        <a:pt x="384319" y="815546"/>
                      </a:cubicBezTo>
                      <a:cubicBezTo>
                        <a:pt x="388438" y="790833"/>
                        <a:pt x="384319" y="766119"/>
                        <a:pt x="384319" y="766119"/>
                      </a:cubicBezTo>
                      <a:cubicBezTo>
                        <a:pt x="380200" y="757881"/>
                        <a:pt x="363725" y="722870"/>
                        <a:pt x="347249" y="729049"/>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2" name="Freeform 241">
                  <a:extLst>
                    <a:ext uri="{FF2B5EF4-FFF2-40B4-BE49-F238E27FC236}">
                      <a16:creationId xmlns:a16="http://schemas.microsoft.com/office/drawing/2014/main" id="{4819569B-EC42-E34B-B19A-572A9010011A}"/>
                    </a:ext>
                  </a:extLst>
                </p:cNvPr>
                <p:cNvSpPr/>
                <p:nvPr/>
              </p:nvSpPr>
              <p:spPr>
                <a:xfrm>
                  <a:off x="6339016" y="5346214"/>
                  <a:ext cx="464132" cy="350251"/>
                </a:xfrm>
                <a:custGeom>
                  <a:avLst/>
                  <a:gdLst>
                    <a:gd name="connsiteX0" fmla="*/ 0 w 464132"/>
                    <a:gd name="connsiteY0" fmla="*/ 350251 h 350251"/>
                    <a:gd name="connsiteX1" fmla="*/ 111211 w 464132"/>
                    <a:gd name="connsiteY1" fmla="*/ 313181 h 350251"/>
                    <a:gd name="connsiteX2" fmla="*/ 234779 w 464132"/>
                    <a:gd name="connsiteY2" fmla="*/ 263754 h 350251"/>
                    <a:gd name="connsiteX3" fmla="*/ 321276 w 464132"/>
                    <a:gd name="connsiteY3" fmla="*/ 189613 h 350251"/>
                    <a:gd name="connsiteX4" fmla="*/ 383060 w 464132"/>
                    <a:gd name="connsiteY4" fmla="*/ 90759 h 350251"/>
                    <a:gd name="connsiteX5" fmla="*/ 444843 w 464132"/>
                    <a:gd name="connsiteY5" fmla="*/ 28975 h 350251"/>
                    <a:gd name="connsiteX6" fmla="*/ 457200 w 464132"/>
                    <a:gd name="connsiteY6" fmla="*/ 4262 h 350251"/>
                    <a:gd name="connsiteX7" fmla="*/ 345989 w 464132"/>
                    <a:gd name="connsiteY7" fmla="*/ 16618 h 350251"/>
                    <a:gd name="connsiteX8" fmla="*/ 308919 w 464132"/>
                    <a:gd name="connsiteY8" fmla="*/ 4262 h 350251"/>
                    <a:gd name="connsiteX9" fmla="*/ 222422 w 464132"/>
                    <a:gd name="connsiteY9" fmla="*/ 103116 h 350251"/>
                    <a:gd name="connsiteX10" fmla="*/ 123568 w 464132"/>
                    <a:gd name="connsiteY10" fmla="*/ 201970 h 350251"/>
                    <a:gd name="connsiteX11" fmla="*/ 49427 w 464132"/>
                    <a:gd name="connsiteY11" fmla="*/ 276110 h 350251"/>
                    <a:gd name="connsiteX12" fmla="*/ 0 w 464132"/>
                    <a:gd name="connsiteY12" fmla="*/ 350251 h 350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64132" h="350251">
                      <a:moveTo>
                        <a:pt x="0" y="350251"/>
                      </a:moveTo>
                      <a:cubicBezTo>
                        <a:pt x="36040" y="338924"/>
                        <a:pt x="72081" y="327597"/>
                        <a:pt x="111211" y="313181"/>
                      </a:cubicBezTo>
                      <a:cubicBezTo>
                        <a:pt x="150341" y="298765"/>
                        <a:pt x="199768" y="284349"/>
                        <a:pt x="234779" y="263754"/>
                      </a:cubicBezTo>
                      <a:cubicBezTo>
                        <a:pt x="269790" y="243159"/>
                        <a:pt x="296563" y="218445"/>
                        <a:pt x="321276" y="189613"/>
                      </a:cubicBezTo>
                      <a:cubicBezTo>
                        <a:pt x="345989" y="160781"/>
                        <a:pt x="383060" y="90759"/>
                        <a:pt x="383060" y="90759"/>
                      </a:cubicBezTo>
                      <a:cubicBezTo>
                        <a:pt x="403654" y="63986"/>
                        <a:pt x="444843" y="28975"/>
                        <a:pt x="444843" y="28975"/>
                      </a:cubicBezTo>
                      <a:cubicBezTo>
                        <a:pt x="457200" y="14559"/>
                        <a:pt x="473676" y="6321"/>
                        <a:pt x="457200" y="4262"/>
                      </a:cubicBezTo>
                      <a:cubicBezTo>
                        <a:pt x="440724" y="2202"/>
                        <a:pt x="345989" y="16618"/>
                        <a:pt x="345989" y="16618"/>
                      </a:cubicBezTo>
                      <a:cubicBezTo>
                        <a:pt x="321276" y="16618"/>
                        <a:pt x="329513" y="-10154"/>
                        <a:pt x="308919" y="4262"/>
                      </a:cubicBezTo>
                      <a:cubicBezTo>
                        <a:pt x="288325" y="18678"/>
                        <a:pt x="253314" y="70165"/>
                        <a:pt x="222422" y="103116"/>
                      </a:cubicBezTo>
                      <a:cubicBezTo>
                        <a:pt x="191530" y="136067"/>
                        <a:pt x="123568" y="201970"/>
                        <a:pt x="123568" y="201970"/>
                      </a:cubicBezTo>
                      <a:lnTo>
                        <a:pt x="49427" y="276110"/>
                      </a:lnTo>
                      <a:lnTo>
                        <a:pt x="0" y="3502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3" name="Freeform 242">
                  <a:extLst>
                    <a:ext uri="{FF2B5EF4-FFF2-40B4-BE49-F238E27FC236}">
                      <a16:creationId xmlns:a16="http://schemas.microsoft.com/office/drawing/2014/main" id="{2DD068CE-024C-3E46-BAFD-C08C9138D6A0}"/>
                    </a:ext>
                  </a:extLst>
                </p:cNvPr>
                <p:cNvSpPr/>
                <p:nvPr/>
              </p:nvSpPr>
              <p:spPr>
                <a:xfrm>
                  <a:off x="6656976" y="5103341"/>
                  <a:ext cx="250451" cy="186266"/>
                </a:xfrm>
                <a:custGeom>
                  <a:avLst/>
                  <a:gdLst>
                    <a:gd name="connsiteX0" fmla="*/ 3316 w 250451"/>
                    <a:gd name="connsiteY0" fmla="*/ 123567 h 186266"/>
                    <a:gd name="connsiteX1" fmla="*/ 65100 w 250451"/>
                    <a:gd name="connsiteY1" fmla="*/ 86497 h 186266"/>
                    <a:gd name="connsiteX2" fmla="*/ 102170 w 250451"/>
                    <a:gd name="connsiteY2" fmla="*/ 61783 h 186266"/>
                    <a:gd name="connsiteX3" fmla="*/ 151597 w 250451"/>
                    <a:gd name="connsiteY3" fmla="*/ 37070 h 186266"/>
                    <a:gd name="connsiteX4" fmla="*/ 176310 w 250451"/>
                    <a:gd name="connsiteY4" fmla="*/ 12356 h 186266"/>
                    <a:gd name="connsiteX5" fmla="*/ 188667 w 250451"/>
                    <a:gd name="connsiteY5" fmla="*/ 0 h 186266"/>
                    <a:gd name="connsiteX6" fmla="*/ 238094 w 250451"/>
                    <a:gd name="connsiteY6" fmla="*/ 12356 h 186266"/>
                    <a:gd name="connsiteX7" fmla="*/ 250451 w 250451"/>
                    <a:gd name="connsiteY7" fmla="*/ 24713 h 186266"/>
                    <a:gd name="connsiteX8" fmla="*/ 188667 w 250451"/>
                    <a:gd name="connsiteY8" fmla="*/ 86497 h 186266"/>
                    <a:gd name="connsiteX9" fmla="*/ 163954 w 250451"/>
                    <a:gd name="connsiteY9" fmla="*/ 135924 h 186266"/>
                    <a:gd name="connsiteX10" fmla="*/ 139240 w 250451"/>
                    <a:gd name="connsiteY10" fmla="*/ 172994 h 186266"/>
                    <a:gd name="connsiteX11" fmla="*/ 77456 w 250451"/>
                    <a:gd name="connsiteY11" fmla="*/ 185351 h 186266"/>
                    <a:gd name="connsiteX12" fmla="*/ 15673 w 250451"/>
                    <a:gd name="connsiteY12" fmla="*/ 185351 h 186266"/>
                    <a:gd name="connsiteX13" fmla="*/ 3316 w 250451"/>
                    <a:gd name="connsiteY13" fmla="*/ 123567 h 1862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50451" h="186266">
                      <a:moveTo>
                        <a:pt x="3316" y="123567"/>
                      </a:moveTo>
                      <a:cubicBezTo>
                        <a:pt x="11554" y="107091"/>
                        <a:pt x="65100" y="86497"/>
                        <a:pt x="65100" y="86497"/>
                      </a:cubicBezTo>
                      <a:cubicBezTo>
                        <a:pt x="81576" y="76200"/>
                        <a:pt x="102170" y="61783"/>
                        <a:pt x="102170" y="61783"/>
                      </a:cubicBezTo>
                      <a:cubicBezTo>
                        <a:pt x="116586" y="53545"/>
                        <a:pt x="151597" y="37070"/>
                        <a:pt x="151597" y="37070"/>
                      </a:cubicBezTo>
                      <a:cubicBezTo>
                        <a:pt x="163954" y="28832"/>
                        <a:pt x="176310" y="12356"/>
                        <a:pt x="176310" y="12356"/>
                      </a:cubicBezTo>
                      <a:lnTo>
                        <a:pt x="188667" y="0"/>
                      </a:lnTo>
                      <a:cubicBezTo>
                        <a:pt x="198964" y="0"/>
                        <a:pt x="238094" y="12356"/>
                        <a:pt x="238094" y="12356"/>
                      </a:cubicBezTo>
                      <a:cubicBezTo>
                        <a:pt x="248391" y="16475"/>
                        <a:pt x="250451" y="24713"/>
                        <a:pt x="250451" y="24713"/>
                      </a:cubicBezTo>
                      <a:cubicBezTo>
                        <a:pt x="242213" y="37070"/>
                        <a:pt x="188667" y="86497"/>
                        <a:pt x="188667" y="86497"/>
                      </a:cubicBezTo>
                      <a:cubicBezTo>
                        <a:pt x="174251" y="105032"/>
                        <a:pt x="163954" y="135924"/>
                        <a:pt x="163954" y="135924"/>
                      </a:cubicBezTo>
                      <a:cubicBezTo>
                        <a:pt x="155716" y="150340"/>
                        <a:pt x="139240" y="172994"/>
                        <a:pt x="139240" y="172994"/>
                      </a:cubicBezTo>
                      <a:cubicBezTo>
                        <a:pt x="124824" y="181232"/>
                        <a:pt x="77456" y="185351"/>
                        <a:pt x="77456" y="185351"/>
                      </a:cubicBezTo>
                      <a:cubicBezTo>
                        <a:pt x="56861" y="187411"/>
                        <a:pt x="15673" y="185351"/>
                        <a:pt x="15673" y="185351"/>
                      </a:cubicBezTo>
                      <a:cubicBezTo>
                        <a:pt x="3316" y="183292"/>
                        <a:pt x="-4922" y="140043"/>
                        <a:pt x="3316" y="12356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4" name="Freeform 243">
                  <a:extLst>
                    <a:ext uri="{FF2B5EF4-FFF2-40B4-BE49-F238E27FC236}">
                      <a16:creationId xmlns:a16="http://schemas.microsoft.com/office/drawing/2014/main" id="{66AD66C9-C1AB-504C-986D-C20099A760D3}"/>
                    </a:ext>
                  </a:extLst>
                </p:cNvPr>
                <p:cNvSpPr/>
                <p:nvPr/>
              </p:nvSpPr>
              <p:spPr>
                <a:xfrm>
                  <a:off x="7066743" y="4213654"/>
                  <a:ext cx="163943" cy="173152"/>
                </a:xfrm>
                <a:custGeom>
                  <a:avLst/>
                  <a:gdLst>
                    <a:gd name="connsiteX0" fmla="*/ 161960 w 163943"/>
                    <a:gd name="connsiteY0" fmla="*/ 74141 h 173152"/>
                    <a:gd name="connsiteX1" fmla="*/ 124889 w 163943"/>
                    <a:gd name="connsiteY1" fmla="*/ 172995 h 173152"/>
                    <a:gd name="connsiteX2" fmla="*/ 75462 w 163943"/>
                    <a:gd name="connsiteY2" fmla="*/ 98854 h 173152"/>
                    <a:gd name="connsiteX3" fmla="*/ 1322 w 163943"/>
                    <a:gd name="connsiteY3" fmla="*/ 135924 h 173152"/>
                    <a:gd name="connsiteX4" fmla="*/ 26035 w 163943"/>
                    <a:gd name="connsiteY4" fmla="*/ 49427 h 173152"/>
                    <a:gd name="connsiteX5" fmla="*/ 13679 w 163943"/>
                    <a:gd name="connsiteY5" fmla="*/ 24714 h 173152"/>
                    <a:gd name="connsiteX6" fmla="*/ 50749 w 163943"/>
                    <a:gd name="connsiteY6" fmla="*/ 0 h 173152"/>
                    <a:gd name="connsiteX7" fmla="*/ 161960 w 163943"/>
                    <a:gd name="connsiteY7" fmla="*/ 74141 h 1731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3943" h="173152">
                      <a:moveTo>
                        <a:pt x="161960" y="74141"/>
                      </a:moveTo>
                      <a:cubicBezTo>
                        <a:pt x="174317" y="102973"/>
                        <a:pt x="124889" y="172995"/>
                        <a:pt x="124889" y="172995"/>
                      </a:cubicBezTo>
                      <a:cubicBezTo>
                        <a:pt x="110473" y="177114"/>
                        <a:pt x="75462" y="98854"/>
                        <a:pt x="75462" y="98854"/>
                      </a:cubicBezTo>
                      <a:cubicBezTo>
                        <a:pt x="54868" y="92676"/>
                        <a:pt x="9560" y="144162"/>
                        <a:pt x="1322" y="135924"/>
                      </a:cubicBezTo>
                      <a:cubicBezTo>
                        <a:pt x="-6916" y="127686"/>
                        <a:pt x="26035" y="49427"/>
                        <a:pt x="26035" y="49427"/>
                      </a:cubicBezTo>
                      <a:cubicBezTo>
                        <a:pt x="28095" y="30892"/>
                        <a:pt x="13679" y="24714"/>
                        <a:pt x="13679" y="24714"/>
                      </a:cubicBezTo>
                      <a:cubicBezTo>
                        <a:pt x="17798" y="16476"/>
                        <a:pt x="50749" y="0"/>
                        <a:pt x="50749" y="0"/>
                      </a:cubicBezTo>
                      <a:cubicBezTo>
                        <a:pt x="69284" y="6178"/>
                        <a:pt x="149603" y="45309"/>
                        <a:pt x="161960" y="74141"/>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77" name="TextBox 276">
                <a:extLst>
                  <a:ext uri="{FF2B5EF4-FFF2-40B4-BE49-F238E27FC236}">
                    <a16:creationId xmlns:a16="http://schemas.microsoft.com/office/drawing/2014/main" id="{53F6EB24-3FB9-1B4C-944C-17376CA2D762}"/>
                  </a:ext>
                </a:extLst>
              </p:cNvPr>
              <p:cNvSpPr txBox="1"/>
              <p:nvPr/>
            </p:nvSpPr>
            <p:spPr>
              <a:xfrm>
                <a:off x="6858001" y="2192179"/>
                <a:ext cx="1002197" cy="246221"/>
              </a:xfrm>
              <a:prstGeom prst="rect">
                <a:avLst/>
              </a:prstGeom>
              <a:noFill/>
            </p:spPr>
            <p:txBody>
              <a:bodyPr wrap="none" rtlCol="0">
                <a:spAutoFit/>
              </a:bodyPr>
              <a:lstStyle/>
              <a:p>
                <a:pPr algn="ctr"/>
                <a:r>
                  <a:rPr lang="en-US" sz="1000" b="1" dirty="0">
                    <a:solidFill>
                      <a:srgbClr val="333333"/>
                    </a:solidFill>
                    <a:latin typeface="Arial" panose="020B0604020202020204" pitchFamily="34" charset="0"/>
                    <a:cs typeface="Arial" panose="020B0604020202020204" pitchFamily="34" charset="0"/>
                  </a:rPr>
                  <a:t>Regeneration</a:t>
                </a:r>
              </a:p>
            </p:txBody>
          </p:sp>
          <p:sp>
            <p:nvSpPr>
              <p:cNvPr id="24" name="TextBox 23">
                <a:extLst>
                  <a:ext uri="{FF2B5EF4-FFF2-40B4-BE49-F238E27FC236}">
                    <a16:creationId xmlns:a16="http://schemas.microsoft.com/office/drawing/2014/main" id="{52ED8141-D98F-4017-BCE8-D6BB8399CF24}"/>
                  </a:ext>
                </a:extLst>
              </p:cNvPr>
              <p:cNvSpPr txBox="1"/>
              <p:nvPr/>
            </p:nvSpPr>
            <p:spPr>
              <a:xfrm>
                <a:off x="8174463" y="2172993"/>
                <a:ext cx="840295" cy="246221"/>
              </a:xfrm>
              <a:prstGeom prst="rect">
                <a:avLst/>
              </a:prstGeom>
              <a:noFill/>
            </p:spPr>
            <p:txBody>
              <a:bodyPr wrap="none" rtlCol="0">
                <a:spAutoFit/>
              </a:bodyPr>
              <a:lstStyle/>
              <a:p>
                <a:pPr algn="ctr"/>
                <a:r>
                  <a:rPr lang="en-US" sz="1000" b="1" dirty="0">
                    <a:solidFill>
                      <a:srgbClr val="333333"/>
                    </a:solidFill>
                    <a:latin typeface="Arial" panose="020B0604020202020204" pitchFamily="34" charset="0"/>
                    <a:cs typeface="Arial" panose="020B0604020202020204" pitchFamily="34" charset="0"/>
                  </a:rPr>
                  <a:t>Maturation</a:t>
                </a:r>
              </a:p>
            </p:txBody>
          </p:sp>
        </p:grpSp>
        <p:pic>
          <p:nvPicPr>
            <p:cNvPr id="5" name="Picture 4" descr="Diagram&#10;&#10;Description automatically generated">
              <a:extLst>
                <a:ext uri="{FF2B5EF4-FFF2-40B4-BE49-F238E27FC236}">
                  <a16:creationId xmlns:a16="http://schemas.microsoft.com/office/drawing/2014/main" id="{EE284B22-E4B6-416F-FFCE-1DE782184ABF}"/>
                </a:ext>
              </a:extLst>
            </p:cNvPr>
            <p:cNvPicPr>
              <a:picLocks noChangeAspect="1"/>
            </p:cNvPicPr>
            <p:nvPr/>
          </p:nvPicPr>
          <p:blipFill>
            <a:blip r:embed="rId3"/>
            <a:stretch>
              <a:fillRect/>
            </a:stretch>
          </p:blipFill>
          <p:spPr>
            <a:xfrm>
              <a:off x="3618197" y="3032526"/>
              <a:ext cx="4057984" cy="1735986"/>
            </a:xfrm>
            <a:prstGeom prst="rect">
              <a:avLst/>
            </a:prstGeom>
          </p:spPr>
        </p:pic>
      </p:grpSp>
      <p:pic>
        <p:nvPicPr>
          <p:cNvPr id="8" name="Picture 7">
            <a:extLst>
              <a:ext uri="{FF2B5EF4-FFF2-40B4-BE49-F238E27FC236}">
                <a16:creationId xmlns:a16="http://schemas.microsoft.com/office/drawing/2014/main" id="{FD176461-7508-F98E-CC09-5797CB4EB144}"/>
              </a:ext>
            </a:extLst>
          </p:cNvPr>
          <p:cNvPicPr>
            <a:picLocks noChangeAspect="1"/>
          </p:cNvPicPr>
          <p:nvPr/>
        </p:nvPicPr>
        <p:blipFill>
          <a:blip r:embed="rId4"/>
          <a:stretch>
            <a:fillRect/>
          </a:stretch>
        </p:blipFill>
        <p:spPr>
          <a:xfrm>
            <a:off x="279888" y="2130528"/>
            <a:ext cx="2935857" cy="2843510"/>
          </a:xfrm>
          <a:prstGeom prst="rect">
            <a:avLst/>
          </a:prstGeom>
        </p:spPr>
      </p:pic>
      <p:sp>
        <p:nvSpPr>
          <p:cNvPr id="9" name="Title 1">
            <a:extLst>
              <a:ext uri="{FF2B5EF4-FFF2-40B4-BE49-F238E27FC236}">
                <a16:creationId xmlns:a16="http://schemas.microsoft.com/office/drawing/2014/main" id="{DE9B5E3B-035F-B5AB-72AD-37FC2F124983}"/>
              </a:ext>
            </a:extLst>
          </p:cNvPr>
          <p:cNvSpPr txBox="1">
            <a:spLocks noGrp="1"/>
          </p:cNvSpPr>
          <p:nvPr>
            <p:ph type="title"/>
          </p:nvPr>
        </p:nvSpPr>
        <p:spPr>
          <a:xfrm>
            <a:off x="411480" y="749808"/>
            <a:ext cx="11365992" cy="658368"/>
          </a:xfrm>
          <a:prstGeom prst="rect">
            <a:avLst/>
          </a:prstGeom>
        </p:spPr>
        <p:txBody>
          <a:bodyPr wrap="square" tIns="0" bIns="0"/>
          <a:lstStyle>
            <a:lvl1pPr algn="ctr" rtl="0" fontAlgn="base">
              <a:spcBef>
                <a:spcPct val="0"/>
              </a:spcBef>
              <a:spcAft>
                <a:spcPct val="0"/>
              </a:spcAft>
              <a:defRPr sz="3400" b="1">
                <a:solidFill>
                  <a:srgbClr val="284B90"/>
                </a:solidFill>
                <a:effectLst>
                  <a:outerShdw blurRad="38100" dist="38100" dir="2700000" algn="tl">
                    <a:srgbClr val="C0C0C0"/>
                  </a:outerShdw>
                </a:effectLst>
                <a:latin typeface="+mj-lt"/>
                <a:ea typeface="+mj-ea"/>
                <a:cs typeface="+mj-cs"/>
              </a:defRPr>
            </a:lvl1pPr>
            <a:lvl2pPr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2pPr>
            <a:lvl3pPr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3pPr>
            <a:lvl4pPr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4pPr>
            <a:lvl5pPr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5pPr>
            <a:lvl6pPr marL="457200"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6pPr>
            <a:lvl7pPr marL="914400"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7pPr>
            <a:lvl8pPr marL="1371600"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8pPr>
            <a:lvl9pPr marL="1828800" algn="ctr" rtl="0" fontAlgn="base">
              <a:spcBef>
                <a:spcPct val="0"/>
              </a:spcBef>
              <a:spcAft>
                <a:spcPct val="0"/>
              </a:spcAft>
              <a:defRPr sz="3400" b="1">
                <a:solidFill>
                  <a:srgbClr val="284B90"/>
                </a:solidFill>
                <a:effectLst>
                  <a:outerShdw blurRad="38100" dist="38100" dir="2700000" algn="tl">
                    <a:srgbClr val="C0C0C0"/>
                  </a:outerShdw>
                </a:effectLst>
                <a:latin typeface="Arial" charset="0"/>
                <a:cs typeface="Arial" charset="0"/>
              </a:defRPr>
            </a:lvl9pPr>
          </a:lstStyle>
          <a:p>
            <a:pPr eaLnBrk="1" hangingPunct="1" algn="ctr">
              <a:defRPr sz="2600" b="1">
                <a:solidFill>
                  <a:srgbClr val="285180"/>
                </a:solidFill>
                <a:latin typeface="Arial"/>
              </a:defRPr>
            </a:pPr>
            <a:r>
              <a:t>Cardiomyocyte maturation is a coordinated functional transition</a:t>
            </a:r>
            <a:endParaRPr lang="en-US" sz="2800" kern="0" dirty="0">
              <a:effectLst/>
            </a:endParaRPr>
          </a:p>
        </p:txBody>
      </p:sp>
      <p:grpSp>
        <p:nvGrpSpPr>
          <p:cNvPr id="6" name="Group 5">
            <a:extLst>
              <a:ext uri="{FF2B5EF4-FFF2-40B4-BE49-F238E27FC236}">
                <a16:creationId xmlns:a16="http://schemas.microsoft.com/office/drawing/2014/main" id="{BFF76EB4-8525-AC05-3443-E7F22B320E88}"/>
              </a:ext>
            </a:extLst>
          </p:cNvPr>
          <p:cNvGrpSpPr/>
          <p:nvPr/>
        </p:nvGrpSpPr>
        <p:grpSpPr>
          <a:xfrm>
            <a:off x="8127739" y="1981200"/>
            <a:ext cx="3849400" cy="3705025"/>
            <a:chOff x="8127739" y="1933775"/>
            <a:chExt cx="3849400" cy="3705025"/>
          </a:xfrm>
        </p:grpSpPr>
        <p:pic>
          <p:nvPicPr>
            <p:cNvPr id="23" name="Picture 22">
              <a:extLst>
                <a:ext uri="{FF2B5EF4-FFF2-40B4-BE49-F238E27FC236}">
                  <a16:creationId xmlns:a16="http://schemas.microsoft.com/office/drawing/2014/main" id="{90A7C136-5C9C-5A50-A181-DAFC5EE6ED73}"/>
                </a:ext>
              </a:extLst>
            </p:cNvPr>
            <p:cNvPicPr>
              <a:picLocks noChangeAspect="1"/>
            </p:cNvPicPr>
            <p:nvPr/>
          </p:nvPicPr>
          <p:blipFill>
            <a:blip r:embed="rId5"/>
            <a:stretch>
              <a:fillRect/>
            </a:stretch>
          </p:blipFill>
          <p:spPr>
            <a:xfrm>
              <a:off x="8127739" y="1933775"/>
              <a:ext cx="3849400" cy="1436903"/>
            </a:xfrm>
            <a:prstGeom prst="rect">
              <a:avLst/>
            </a:prstGeom>
          </p:spPr>
        </p:pic>
        <p:pic>
          <p:nvPicPr>
            <p:cNvPr id="25" name="Picture 24">
              <a:extLst>
                <a:ext uri="{FF2B5EF4-FFF2-40B4-BE49-F238E27FC236}">
                  <a16:creationId xmlns:a16="http://schemas.microsoft.com/office/drawing/2014/main" id="{0BE02150-33BC-9714-7B59-2C3DFCC4899D}"/>
                </a:ext>
              </a:extLst>
            </p:cNvPr>
            <p:cNvPicPr>
              <a:picLocks noChangeAspect="1"/>
            </p:cNvPicPr>
            <p:nvPr/>
          </p:nvPicPr>
          <p:blipFill>
            <a:blip r:embed="rId6"/>
            <a:stretch>
              <a:fillRect/>
            </a:stretch>
          </p:blipFill>
          <p:spPr>
            <a:xfrm>
              <a:off x="8229600" y="3453261"/>
              <a:ext cx="3435087" cy="2185539"/>
            </a:xfrm>
            <a:prstGeom prst="rect">
              <a:avLst/>
            </a:prstGeom>
          </p:spPr>
        </p:pic>
      </p:grpSp>
      <p:sp>
        <p:nvSpPr>
          <p:cNvPr id="2" name="TextBox 1">
            <a:extLst>
              <a:ext uri="{FF2B5EF4-FFF2-40B4-BE49-F238E27FC236}">
                <a16:creationId xmlns:a16="http://schemas.microsoft.com/office/drawing/2014/main" id="{2723D1B1-C208-9FF4-7B92-B6496E6E57D8}"/>
              </a:ext>
            </a:extLst>
          </p:cNvPr>
          <p:cNvSpPr txBox="1"/>
          <p:nvPr/>
        </p:nvSpPr>
        <p:spPr>
          <a:xfrm>
            <a:off x="304824" y="5283182"/>
            <a:ext cx="3406657" cy="276999"/>
          </a:xfrm>
          <a:prstGeom prst="rect">
            <a:avLst/>
          </a:prstGeom>
          <a:noFill/>
        </p:spPr>
        <p:txBody>
          <a:bodyPr wrap="square">
            <a:spAutoFit/>
          </a:bodyPr>
          <a:lstStyle/>
          <a:p>
            <a:r>
              <a:rPr lang="en-US" sz="1200" b="1" dirty="0">
                <a:latin typeface="Arial" panose="020B0604020202020204" pitchFamily="34" charset="0"/>
                <a:cs typeface="Arial" panose="020B0604020202020204" pitchFamily="34" charset="0"/>
              </a:rPr>
              <a:t>Tzahor E, Poss KD. Science. 356:1035-1039</a:t>
            </a:r>
          </a:p>
        </p:txBody>
      </p:sp>
      <p:sp>
        <p:nvSpPr>
          <p:cNvPr id="10" name="TextBox 9">
            <a:extLst>
              <a:ext uri="{FF2B5EF4-FFF2-40B4-BE49-F238E27FC236}">
                <a16:creationId xmlns:a16="http://schemas.microsoft.com/office/drawing/2014/main" id="{A177F030-A2AB-8D94-1C3E-574F7F9EFC6A}"/>
              </a:ext>
            </a:extLst>
          </p:cNvPr>
          <p:cNvSpPr txBox="1"/>
          <p:nvPr/>
        </p:nvSpPr>
        <p:spPr>
          <a:xfrm>
            <a:off x="9015871" y="5851138"/>
            <a:ext cx="2590774" cy="276999"/>
          </a:xfrm>
          <a:prstGeom prst="rect">
            <a:avLst/>
          </a:prstGeom>
          <a:noFill/>
        </p:spPr>
        <p:txBody>
          <a:bodyPr wrap="none" rtlCol="0">
            <a:spAutoFit/>
          </a:bodyPr>
          <a:lstStyle/>
          <a:p>
            <a:r>
              <a:rPr lang="en-US" sz="1200" b="1" dirty="0"/>
              <a:t>Garbutt T et al., Circulation. 2024</a:t>
            </a:r>
          </a:p>
        </p:txBody>
      </p:sp>
      <p:sp>
        <p:nvSpPr>
          <p:cNvPr id="278" name="TextBox 277"/>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Original background slide; paper Introduction</a:t>
            </a:r>
          </a:p>
        </p:txBody>
      </p:sp>
    </p:spTree>
    <p:extLst>
      <p:ext uri="{BB962C8B-B14F-4D97-AF65-F5344CB8AC3E}">
        <p14:creationId xmlns:p14="http://schemas.microsoft.com/office/powerpoint/2010/main" val="1173973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9F3C108-0746-12E8-51BC-F9B4B34F1433}"/>
              </a:ext>
            </a:extLst>
          </p:cNvPr>
          <p:cNvPicPr>
            <a:picLocks noChangeAspect="1"/>
          </p:cNvPicPr>
          <p:nvPr/>
        </p:nvPicPr>
        <p:blipFill>
          <a:blip r:embed="rId5"/>
          <a:srcRect/>
          <a:stretch/>
        </p:blipFill>
        <p:spPr>
          <a:xfrm>
            <a:off x="3962400" y="4105229"/>
            <a:ext cx="2141997" cy="2219371"/>
          </a:xfrm>
          <a:prstGeom prst="rect">
            <a:avLst/>
          </a:prstGeom>
        </p:spPr>
      </p:pic>
      <p:pic>
        <p:nvPicPr>
          <p:cNvPr id="9" name="Picture 8">
            <a:extLst>
              <a:ext uri="{FF2B5EF4-FFF2-40B4-BE49-F238E27FC236}">
                <a16:creationId xmlns:a16="http://schemas.microsoft.com/office/drawing/2014/main" id="{ECD6F9D8-C001-3C41-62CD-B09D1646DDEF}"/>
              </a:ext>
            </a:extLst>
          </p:cNvPr>
          <p:cNvPicPr>
            <a:picLocks noChangeAspect="1"/>
          </p:cNvPicPr>
          <p:nvPr/>
        </p:nvPicPr>
        <p:blipFill>
          <a:blip r:embed="rId6"/>
          <a:srcRect t="1586" b="-517"/>
          <a:stretch/>
        </p:blipFill>
        <p:spPr>
          <a:xfrm>
            <a:off x="6705600" y="2670153"/>
            <a:ext cx="2322760" cy="2778279"/>
          </a:xfrm>
          <a:prstGeom prst="rect">
            <a:avLst/>
          </a:prstGeom>
        </p:spPr>
      </p:pic>
      <p:sp>
        <p:nvSpPr>
          <p:cNvPr id="10" name="Rectangle 9">
            <a:extLst>
              <a:ext uri="{FF2B5EF4-FFF2-40B4-BE49-F238E27FC236}">
                <a16:creationId xmlns:a16="http://schemas.microsoft.com/office/drawing/2014/main" id="{A6DE6B58-9317-C205-24D0-CD5682731922}"/>
              </a:ext>
            </a:extLst>
          </p:cNvPr>
          <p:cNvSpPr/>
          <p:nvPr/>
        </p:nvSpPr>
        <p:spPr>
          <a:xfrm>
            <a:off x="2373119" y="2943594"/>
            <a:ext cx="1316272" cy="56557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0E354F9-2ED0-99DF-5601-61C591419219}"/>
              </a:ext>
            </a:extLst>
          </p:cNvPr>
          <p:cNvSpPr/>
          <p:nvPr/>
        </p:nvSpPr>
        <p:spPr>
          <a:xfrm>
            <a:off x="2373120" y="4826177"/>
            <a:ext cx="1402245" cy="56354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35B8193B-F5BA-2460-2A0C-7DE9D712D65D}"/>
              </a:ext>
            </a:extLst>
          </p:cNvPr>
          <p:cNvCxnSpPr>
            <a:cxnSpLocks/>
          </p:cNvCxnSpPr>
          <p:nvPr/>
        </p:nvCxnSpPr>
        <p:spPr>
          <a:xfrm>
            <a:off x="6172200" y="4026652"/>
            <a:ext cx="4572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DC31F083-9C64-4EFF-4805-B4BCB608CF43}"/>
              </a:ext>
            </a:extLst>
          </p:cNvPr>
          <p:cNvCxnSpPr>
            <a:cxnSpLocks/>
          </p:cNvCxnSpPr>
          <p:nvPr/>
        </p:nvCxnSpPr>
        <p:spPr>
          <a:xfrm>
            <a:off x="9067800" y="4029761"/>
            <a:ext cx="453852"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8" name="Rectangle 47"/>
          <p:cNvSpPr/>
          <p:nvPr/>
        </p:nvSpPr>
        <p:spPr>
          <a:xfrm>
            <a:off x="9511353" y="2715019"/>
            <a:ext cx="2528247" cy="2629484"/>
          </a:xfrm>
          <a:prstGeom prst="rect">
            <a:avLst/>
          </a:prstGeom>
          <a:noFill/>
          <a:ln w="12700">
            <a:solidFill>
              <a:srgbClr val="2851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My Movie 1_1">
            <a:hlinkClick r:id="" action="ppaction://media"/>
            <a:extLst>
              <a:ext uri="{FF2B5EF4-FFF2-40B4-BE49-F238E27FC236}">
                <a16:creationId xmlns:a16="http://schemas.microsoft.com/office/drawing/2014/main" id="{1D782A2F-A144-BFF5-2763-641357C47641}"/>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l="23117" r="22800"/>
          <a:stretch/>
        </p:blipFill>
        <p:spPr>
          <a:xfrm>
            <a:off x="9511353" y="2715019"/>
            <a:ext cx="2528247" cy="2629484"/>
          </a:xfrm>
          <a:prstGeom prst="rect">
            <a:avLst/>
          </a:prstGeom>
          <a:ln>
            <a:noFill/>
          </a:ln>
          <a:effectLst>
            <a:softEdge rad="112500"/>
          </a:effectLst>
        </p:spPr>
      </p:pic>
      <p:pic>
        <p:nvPicPr>
          <p:cNvPr id="17" name="Picture 16">
            <a:extLst>
              <a:ext uri="{FF2B5EF4-FFF2-40B4-BE49-F238E27FC236}">
                <a16:creationId xmlns:a16="http://schemas.microsoft.com/office/drawing/2014/main" id="{8034DA00-4C01-6D17-89BF-8BEF6355C43F}"/>
              </a:ext>
            </a:extLst>
          </p:cNvPr>
          <p:cNvPicPr>
            <a:picLocks noChangeAspect="1"/>
          </p:cNvPicPr>
          <p:nvPr/>
        </p:nvPicPr>
        <p:blipFill>
          <a:blip r:embed="rId8"/>
          <a:stretch>
            <a:fillRect/>
          </a:stretch>
        </p:blipFill>
        <p:spPr>
          <a:xfrm>
            <a:off x="3962400" y="1766665"/>
            <a:ext cx="2133600" cy="2263096"/>
          </a:xfrm>
          <a:prstGeom prst="rect">
            <a:avLst/>
          </a:prstGeom>
        </p:spPr>
      </p:pic>
      <p:sp>
        <p:nvSpPr>
          <p:cNvPr id="18" name="TextBox 17">
            <a:extLst>
              <a:ext uri="{FF2B5EF4-FFF2-40B4-BE49-F238E27FC236}">
                <a16:creationId xmlns:a16="http://schemas.microsoft.com/office/drawing/2014/main" id="{F7EC5345-BC50-060F-2B3B-4DE8FC4EE3A9}"/>
              </a:ext>
            </a:extLst>
          </p:cNvPr>
          <p:cNvSpPr txBox="1"/>
          <p:nvPr/>
        </p:nvSpPr>
        <p:spPr>
          <a:xfrm>
            <a:off x="284572" y="2867837"/>
            <a:ext cx="412292" cy="338554"/>
          </a:xfrm>
          <a:prstGeom prst="rect">
            <a:avLst/>
          </a:prstGeom>
          <a:noFill/>
        </p:spPr>
        <p:txBody>
          <a:bodyPr wrap="none" rtlCol="0">
            <a:spAutoFit/>
          </a:bodyPr>
          <a:lstStyle/>
          <a:p>
            <a:r>
              <a:rPr lang="en-US" sz="1600" dirty="0">
                <a:latin typeface="Arial" panose="020B0604020202020204" pitchFamily="34" charset="0"/>
                <a:cs typeface="Arial" panose="020B0604020202020204" pitchFamily="34" charset="0"/>
              </a:rPr>
              <a:t>p0</a:t>
            </a:r>
          </a:p>
        </p:txBody>
      </p:sp>
      <p:sp>
        <p:nvSpPr>
          <p:cNvPr id="19" name="TextBox 18">
            <a:extLst>
              <a:ext uri="{FF2B5EF4-FFF2-40B4-BE49-F238E27FC236}">
                <a16:creationId xmlns:a16="http://schemas.microsoft.com/office/drawing/2014/main" id="{DEAA8C1E-1CB8-5D85-4566-962C9A9DB538}"/>
              </a:ext>
            </a:extLst>
          </p:cNvPr>
          <p:cNvSpPr txBox="1"/>
          <p:nvPr/>
        </p:nvSpPr>
        <p:spPr>
          <a:xfrm>
            <a:off x="284572" y="3370484"/>
            <a:ext cx="412292" cy="338554"/>
          </a:xfrm>
          <a:prstGeom prst="rect">
            <a:avLst/>
          </a:prstGeom>
          <a:noFill/>
        </p:spPr>
        <p:txBody>
          <a:bodyPr wrap="none" rtlCol="0">
            <a:spAutoFit/>
          </a:bodyPr>
          <a:lstStyle/>
          <a:p>
            <a:r>
              <a:rPr lang="en-US" sz="1600" dirty="0">
                <a:latin typeface="Arial" panose="020B0604020202020204" pitchFamily="34" charset="0"/>
                <a:cs typeface="Arial" panose="020B0604020202020204" pitchFamily="34" charset="0"/>
              </a:rPr>
              <a:t>p7</a:t>
            </a:r>
          </a:p>
        </p:txBody>
      </p:sp>
      <p:sp>
        <p:nvSpPr>
          <p:cNvPr id="20" name="TextBox 19">
            <a:extLst>
              <a:ext uri="{FF2B5EF4-FFF2-40B4-BE49-F238E27FC236}">
                <a16:creationId xmlns:a16="http://schemas.microsoft.com/office/drawing/2014/main" id="{045C25CF-3CD3-C3B1-E079-2176281252F6}"/>
              </a:ext>
            </a:extLst>
          </p:cNvPr>
          <p:cNvSpPr txBox="1"/>
          <p:nvPr/>
        </p:nvSpPr>
        <p:spPr>
          <a:xfrm>
            <a:off x="227932" y="4072344"/>
            <a:ext cx="526106" cy="338554"/>
          </a:xfrm>
          <a:prstGeom prst="rect">
            <a:avLst/>
          </a:prstGeom>
          <a:noFill/>
        </p:spPr>
        <p:txBody>
          <a:bodyPr wrap="none" rtlCol="0">
            <a:spAutoFit/>
          </a:bodyPr>
          <a:lstStyle/>
          <a:p>
            <a:r>
              <a:rPr lang="en-US" sz="1600" dirty="0">
                <a:latin typeface="Arial" panose="020B0604020202020204" pitchFamily="34" charset="0"/>
                <a:cs typeface="Arial" panose="020B0604020202020204" pitchFamily="34" charset="0"/>
              </a:rPr>
              <a:t>p14</a:t>
            </a:r>
          </a:p>
        </p:txBody>
      </p:sp>
      <p:sp>
        <p:nvSpPr>
          <p:cNvPr id="21" name="TextBox 20">
            <a:extLst>
              <a:ext uri="{FF2B5EF4-FFF2-40B4-BE49-F238E27FC236}">
                <a16:creationId xmlns:a16="http://schemas.microsoft.com/office/drawing/2014/main" id="{D29D2F1E-10B2-F0A8-008C-F8E2B1FA59EC}"/>
              </a:ext>
            </a:extLst>
          </p:cNvPr>
          <p:cNvSpPr txBox="1"/>
          <p:nvPr/>
        </p:nvSpPr>
        <p:spPr>
          <a:xfrm>
            <a:off x="227932" y="5079104"/>
            <a:ext cx="526106" cy="338554"/>
          </a:xfrm>
          <a:prstGeom prst="rect">
            <a:avLst/>
          </a:prstGeom>
          <a:noFill/>
        </p:spPr>
        <p:txBody>
          <a:bodyPr wrap="none" rtlCol="0">
            <a:spAutoFit/>
          </a:bodyPr>
          <a:lstStyle/>
          <a:p>
            <a:r>
              <a:rPr lang="en-US" sz="1600" dirty="0">
                <a:latin typeface="Arial" panose="020B0604020202020204" pitchFamily="34" charset="0"/>
                <a:cs typeface="Arial" panose="020B0604020202020204" pitchFamily="34" charset="0"/>
              </a:rPr>
              <a:t>p21</a:t>
            </a:r>
          </a:p>
        </p:txBody>
      </p:sp>
      <p:sp>
        <p:nvSpPr>
          <p:cNvPr id="22" name="TextBox 21">
            <a:extLst>
              <a:ext uri="{FF2B5EF4-FFF2-40B4-BE49-F238E27FC236}">
                <a16:creationId xmlns:a16="http://schemas.microsoft.com/office/drawing/2014/main" id="{25393DEB-9A80-C609-BB9C-F1763B8FA0BF}"/>
              </a:ext>
            </a:extLst>
          </p:cNvPr>
          <p:cNvSpPr txBox="1"/>
          <p:nvPr/>
        </p:nvSpPr>
        <p:spPr>
          <a:xfrm>
            <a:off x="6324600" y="5481360"/>
            <a:ext cx="2911374" cy="830997"/>
          </a:xfrm>
          <a:prstGeom prst="rect">
            <a:avLst/>
          </a:prstGeom>
          <a:noFill/>
        </p:spPr>
        <p:txBody>
          <a:bodyPr wrap="none" rtlCol="0">
            <a:spAutoFit/>
          </a:bodyPr>
          <a:lstStyle/>
          <a:p>
            <a:pPr algn="ctr"/>
            <a:r>
              <a:rPr lang="en-US" sz="1600" dirty="0">
                <a:latin typeface="Arial" panose="020B0604020202020204" pitchFamily="34" charset="0"/>
                <a:cs typeface="Arial" panose="020B0604020202020204" pitchFamily="34" charset="0"/>
              </a:rPr>
              <a:t>Alignment of </a:t>
            </a:r>
          </a:p>
          <a:p>
            <a:pPr algn="ctr"/>
            <a:r>
              <a:rPr lang="en-US" sz="1600" dirty="0" err="1">
                <a:latin typeface="Arial" panose="020B0604020202020204" pitchFamily="34" charset="0"/>
                <a:cs typeface="Arial" panose="020B0604020202020204" pitchFamily="34" charset="0"/>
              </a:rPr>
              <a:t>sn</a:t>
            </a:r>
            <a:r>
              <a:rPr lang="en-US" sz="1600" dirty="0">
                <a:latin typeface="Arial" panose="020B0604020202020204" pitchFamily="34" charset="0"/>
                <a:cs typeface="Arial" panose="020B0604020202020204" pitchFamily="34" charset="0"/>
              </a:rPr>
              <a:t> and spatial transcriptomes </a:t>
            </a:r>
          </a:p>
          <a:p>
            <a:pPr algn="ctr"/>
            <a:r>
              <a:rPr lang="en-US" sz="1600" dirty="0">
                <a:latin typeface="Arial" panose="020B0604020202020204" pitchFamily="34" charset="0"/>
                <a:cs typeface="Arial" panose="020B0604020202020204" pitchFamily="34" charset="0"/>
              </a:rPr>
              <a:t>with </a:t>
            </a:r>
            <a:r>
              <a:rPr lang="en-US" sz="1600" dirty="0" err="1">
                <a:latin typeface="Arial" panose="020B0604020202020204" pitchFamily="34" charset="0"/>
                <a:cs typeface="Arial" panose="020B0604020202020204" pitchFamily="34" charset="0"/>
              </a:rPr>
              <a:t>CytoSPACE</a:t>
            </a:r>
            <a:endParaRPr lang="en-US" sz="1600" dirty="0">
              <a:latin typeface="Arial" panose="020B0604020202020204" pitchFamily="34" charset="0"/>
              <a:cs typeface="Arial" panose="020B0604020202020204" pitchFamily="34" charset="0"/>
            </a:endParaRPr>
          </a:p>
        </p:txBody>
      </p:sp>
      <p:sp>
        <p:nvSpPr>
          <p:cNvPr id="23" name="TextBox 22">
            <a:extLst>
              <a:ext uri="{FF2B5EF4-FFF2-40B4-BE49-F238E27FC236}">
                <a16:creationId xmlns:a16="http://schemas.microsoft.com/office/drawing/2014/main" id="{25E581A1-3CC8-B68C-3B3D-24A0B0A16B74}"/>
              </a:ext>
            </a:extLst>
          </p:cNvPr>
          <p:cNvSpPr txBox="1"/>
          <p:nvPr/>
        </p:nvSpPr>
        <p:spPr>
          <a:xfrm>
            <a:off x="9581225" y="5478436"/>
            <a:ext cx="2135521" cy="830997"/>
          </a:xfrm>
          <a:prstGeom prst="rect">
            <a:avLst/>
          </a:prstGeom>
          <a:noFill/>
        </p:spPr>
        <p:txBody>
          <a:bodyPr wrap="none" rtlCol="0">
            <a:spAutoFit/>
          </a:bodyPr>
          <a:lstStyle/>
          <a:p>
            <a:pPr algn="ctr"/>
            <a:r>
              <a:rPr lang="en-US" sz="1600" dirty="0">
                <a:latin typeface="Arial" panose="020B0604020202020204" pitchFamily="34" charset="0"/>
                <a:cs typeface="Arial" panose="020B0604020202020204" pitchFamily="34" charset="0"/>
              </a:rPr>
              <a:t>Genome-wide </a:t>
            </a:r>
          </a:p>
          <a:p>
            <a:pPr algn="ctr"/>
            <a:r>
              <a:rPr lang="en-US" sz="1600" dirty="0">
                <a:latin typeface="Arial" panose="020B0604020202020204" pitchFamily="34" charset="0"/>
                <a:cs typeface="Arial" panose="020B0604020202020204" pitchFamily="34" charset="0"/>
              </a:rPr>
              <a:t>spatial transcriptome </a:t>
            </a:r>
          </a:p>
          <a:p>
            <a:pPr algn="ctr"/>
            <a:r>
              <a:rPr lang="en-US" sz="1600" dirty="0">
                <a:latin typeface="Arial" panose="020B0604020202020204" pitchFamily="34" charset="0"/>
                <a:cs typeface="Arial" panose="020B0604020202020204" pitchFamily="34" charset="0"/>
              </a:rPr>
              <a:t>of postnatal heart</a:t>
            </a:r>
          </a:p>
        </p:txBody>
      </p:sp>
      <p:pic>
        <p:nvPicPr>
          <p:cNvPr id="26" name="Picture 25" descr="A diagram of a mouse&#10;&#10;AI-generated content may be incorrect.">
            <a:extLst>
              <a:ext uri="{FF2B5EF4-FFF2-40B4-BE49-F238E27FC236}">
                <a16:creationId xmlns:a16="http://schemas.microsoft.com/office/drawing/2014/main" id="{6B968109-59CF-7BEC-8DD7-40A504EC4D75}"/>
              </a:ext>
            </a:extLst>
          </p:cNvPr>
          <p:cNvPicPr>
            <a:picLocks noChangeAspect="1"/>
          </p:cNvPicPr>
          <p:nvPr/>
        </p:nvPicPr>
        <p:blipFill>
          <a:blip r:embed="rId9">
            <a:extLst>
              <a:ext uri="{28A0092B-C50C-407E-A947-70E740481C1C}">
                <a14:useLocalDpi xmlns:a14="http://schemas.microsoft.com/office/drawing/2010/main" val="0"/>
              </a:ext>
            </a:extLst>
          </a:blip>
          <a:srcRect t="16038"/>
          <a:stretch/>
        </p:blipFill>
        <p:spPr>
          <a:xfrm>
            <a:off x="656756" y="2867837"/>
            <a:ext cx="3149896" cy="2711653"/>
          </a:xfrm>
          <a:prstGeom prst="rect">
            <a:avLst/>
          </a:prstGeom>
        </p:spPr>
      </p:pic>
      <p:sp>
        <p:nvSpPr>
          <p:cNvPr id="12" name="TextBox 11">
            <a:extLst>
              <a:ext uri="{FF2B5EF4-FFF2-40B4-BE49-F238E27FC236}">
                <a16:creationId xmlns:a16="http://schemas.microsoft.com/office/drawing/2014/main" id="{07EEC9A5-C293-4D03-8923-A06A8A4B7412}"/>
              </a:ext>
            </a:extLst>
          </p:cNvPr>
          <p:cNvSpPr txBox="1"/>
          <p:nvPr/>
        </p:nvSpPr>
        <p:spPr>
          <a:xfrm>
            <a:off x="2264058" y="5300108"/>
            <a:ext cx="1534394" cy="584775"/>
          </a:xfrm>
          <a:prstGeom prst="rect">
            <a:avLst/>
          </a:prstGeom>
          <a:noFill/>
        </p:spPr>
        <p:txBody>
          <a:bodyPr wrap="none" rtlCol="0">
            <a:spAutoFit/>
          </a:bodyPr>
          <a:lstStyle/>
          <a:p>
            <a:r>
              <a:rPr lang="en-US" altLang="zh-CN" sz="1600" dirty="0">
                <a:latin typeface="Arial" panose="020B0604020202020204" pitchFamily="34" charset="0"/>
                <a:cs typeface="Arial" panose="020B0604020202020204" pitchFamily="34" charset="0"/>
              </a:rPr>
              <a:t>Single-nucleus</a:t>
            </a:r>
          </a:p>
          <a:p>
            <a:pPr algn="ctr"/>
            <a:r>
              <a:rPr lang="en-US" altLang="zh-CN" sz="1600" dirty="0">
                <a:latin typeface="Arial" panose="020B0604020202020204" pitchFamily="34" charset="0"/>
                <a:cs typeface="Arial" panose="020B0604020202020204" pitchFamily="34" charset="0"/>
              </a:rPr>
              <a:t>RNA-seq</a:t>
            </a:r>
            <a:endParaRPr lang="en-US" sz="1600" dirty="0">
              <a:latin typeface="Arial" panose="020B0604020202020204" pitchFamily="34" charset="0"/>
              <a:cs typeface="Arial" panose="020B0604020202020204" pitchFamily="34" charset="0"/>
            </a:endParaRPr>
          </a:p>
        </p:txBody>
      </p:sp>
      <p:sp>
        <p:nvSpPr>
          <p:cNvPr id="13" name="TextBox 12">
            <a:extLst>
              <a:ext uri="{FF2B5EF4-FFF2-40B4-BE49-F238E27FC236}">
                <a16:creationId xmlns:a16="http://schemas.microsoft.com/office/drawing/2014/main" id="{F3843045-9D4F-1F4B-F2F6-A32ACDCE6A1B}"/>
              </a:ext>
            </a:extLst>
          </p:cNvPr>
          <p:cNvSpPr txBox="1"/>
          <p:nvPr/>
        </p:nvSpPr>
        <p:spPr>
          <a:xfrm>
            <a:off x="2634858" y="2715019"/>
            <a:ext cx="878767" cy="338554"/>
          </a:xfrm>
          <a:prstGeom prst="rect">
            <a:avLst/>
          </a:prstGeom>
          <a:noFill/>
        </p:spPr>
        <p:txBody>
          <a:bodyPr wrap="none" rtlCol="0">
            <a:spAutoFit/>
          </a:bodyPr>
          <a:lstStyle/>
          <a:p>
            <a:r>
              <a:rPr lang="en-US" altLang="zh-CN" sz="1600" dirty="0">
                <a:latin typeface="Arial" panose="020B0604020202020204" pitchFamily="34" charset="0"/>
                <a:cs typeface="Arial" panose="020B0604020202020204" pitchFamily="34" charset="0"/>
              </a:rPr>
              <a:t>Xenium</a:t>
            </a:r>
            <a:endParaRPr lang="en-US" sz="1600" dirty="0">
              <a:latin typeface="Arial" panose="020B0604020202020204" pitchFamily="34" charset="0"/>
              <a:cs typeface="Arial" panose="020B0604020202020204" pitchFamily="34" charset="0"/>
            </a:endParaRPr>
          </a:p>
        </p:txBody>
      </p:sp>
      <p:sp>
        <p:nvSpPr>
          <p:cNvPr id="27" name="Title 26">
            <a:extLst>
              <a:ext uri="{FF2B5EF4-FFF2-40B4-BE49-F238E27FC236}">
                <a16:creationId xmlns:a16="http://schemas.microsoft.com/office/drawing/2014/main" id="{B46E04A8-2249-3031-F46D-B0B05B11AA08}"/>
              </a:ext>
            </a:extLst>
          </p:cNvPr>
          <p:cNvSpPr>
            <a:spLocks noGrp="1"/>
          </p:cNvSpPr>
          <p:nvPr>
            <p:ph type="title"/>
          </p:nvPr>
        </p:nvSpPr>
        <p:spPr>
          <a:xfrm>
            <a:off x="411480" y="749808"/>
            <a:ext cx="11365992" cy="658368"/>
          </a:xfrm>
          <a:prstGeom prst="rect">
            <a:avLst/>
          </a:prstGeom>
        </p:spPr>
        <p:txBody>
          <a:bodyPr wrap="square" tIns="0" bIns="0">
            <a:spAutoFit/>
          </a:bodyPr>
          <a:lstStyle/>
          <a:p>
            <a:pPr algn="ctr">
              <a:defRPr sz="2600" b="1">
                <a:solidFill>
                  <a:srgbClr val="285180"/>
                </a:solidFill>
                <a:latin typeface="Arial"/>
              </a:defRPr>
            </a:pPr>
            <a:r>
              <a:t>An integrated atlas captures the developing postnatal heart</a:t>
            </a:r>
          </a:p>
        </p:txBody>
      </p:sp>
      <p:sp>
        <p:nvSpPr>
          <p:cNvPr id="49" name="TextBox 48"/>
          <p:cNvSpPr txBox="1"/>
          <p:nvPr/>
        </p:nvSpPr>
        <p:spPr>
          <a:xfrm>
            <a:off x="9464040" y="2057400"/>
            <a:ext cx="2651760" cy="548640"/>
          </a:xfrm>
          <a:prstGeom prst="rect">
            <a:avLst/>
          </a:prstGeom>
          <a:noFill/>
        </p:spPr>
        <p:txBody>
          <a:bodyPr wrap="square" lIns="0" rIns="0" tIns="0" bIns="0">
            <a:spAutoFit/>
          </a:bodyPr>
          <a:lstStyle/>
          <a:p>
            <a:pPr algn="ctr">
              <a:spcAft>
                <a:spcPts val="500"/>
              </a:spcAft>
              <a:defRPr sz="1400" b="0">
                <a:solidFill>
                  <a:srgbClr val="285180"/>
                </a:solidFill>
                <a:latin typeface="Arial"/>
              </a:defRPr>
            </a:pPr>
            <a:r>
              <a:t>Atlas video</a:t>
            </a:r>
          </a:p>
          <a:p>
            <a:pPr algn="ctr">
              <a:spcAft>
                <a:spcPts val="500"/>
              </a:spcAft>
              <a:defRPr sz="1400" b="0">
                <a:solidFill>
                  <a:srgbClr val="285180"/>
                </a:solidFill>
                <a:latin typeface="Arial"/>
              </a:defRPr>
            </a:pPr>
            <a:r>
              <a:t>(click within the frame)</a:t>
            </a:r>
          </a:p>
        </p:txBody>
      </p:sp>
      <p:sp>
        <p:nvSpPr>
          <p:cNvPr id="50" name="TextBox 49"/>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1a–e,h,i; original atlas video retained</a:t>
            </a:r>
          </a:p>
        </p:txBody>
      </p:sp>
    </p:spTree>
    <p:extLst>
      <p:ext uri="{BB962C8B-B14F-4D97-AF65-F5344CB8AC3E}">
        <p14:creationId xmlns:p14="http://schemas.microsoft.com/office/powerpoint/2010/main" val="3229503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xit" presetSubtype="4" fill="hold" grpId="0" nodeType="afterEffect">
                                  <p:stCondLst>
                                    <p:cond delay="0"/>
                                  </p:stCondLst>
                                  <p:childTnLst>
                                    <p:animEffect transition="out" filter="wipe(down)">
                                      <p:cBhvr>
                                        <p:cTn id="6" dur="500"/>
                                        <p:tgtEl>
                                          <p:spTgt spid="10"/>
                                        </p:tgtEl>
                                      </p:cBhvr>
                                    </p:animEffect>
                                    <p:set>
                                      <p:cBhvr>
                                        <p:cTn id="7" dur="1" fill="hold">
                                          <p:stCondLst>
                                            <p:cond delay="499"/>
                                          </p:stCondLst>
                                        </p:cTn>
                                        <p:tgtEl>
                                          <p:spTgt spid="10"/>
                                        </p:tgtEl>
                                        <p:attrNameLst>
                                          <p:attrName>style.visibility</p:attrName>
                                        </p:attrNameLst>
                                      </p:cBhvr>
                                      <p:to>
                                        <p:strVal val="hidden"/>
                                      </p:to>
                                    </p:set>
                                  </p:childTnLst>
                                </p:cTn>
                              </p:par>
                              <p:par>
                                <p:cTn id="8" presetID="22" presetClass="exit" presetSubtype="8" fill="hold" grpId="0" nodeType="withEffect">
                                  <p:stCondLst>
                                    <p:cond delay="0"/>
                                  </p:stCondLst>
                                  <p:childTnLst>
                                    <p:animEffect transition="out" filter="wipe(left)">
                                      <p:cBhvr>
                                        <p:cTn id="9" dur="500"/>
                                        <p:tgtEl>
                                          <p:spTgt spid="11"/>
                                        </p:tgtEl>
                                      </p:cBhvr>
                                    </p:animEffect>
                                    <p:set>
                                      <p:cBhvr>
                                        <p:cTn id="10" dur="1" fill="hold">
                                          <p:stCondLst>
                                            <p:cond delay="499"/>
                                          </p:stCondLst>
                                        </p:cTn>
                                        <p:tgtEl>
                                          <p:spTgt spid="11"/>
                                        </p:tgtEl>
                                        <p:attrNameLst>
                                          <p:attrName>style.visibility</p:attrName>
                                        </p:attrNameLst>
                                      </p:cBhvr>
                                      <p:to>
                                        <p:strVal val="hidden"/>
                                      </p:to>
                                    </p:set>
                                  </p:childTnLst>
                                </p:cTn>
                              </p:par>
                              <p:par>
                                <p:cTn id="11" presetID="22" presetClass="entr" presetSubtype="8"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wipe(left)">
                                      <p:cBhvr>
                                        <p:cTn id="13" dur="500"/>
                                        <p:tgtEl>
                                          <p:spTgt spid="12"/>
                                        </p:tgtEl>
                                      </p:cBhvr>
                                    </p:animEffect>
                                  </p:childTnLst>
                                </p:cTn>
                              </p:par>
                              <p:par>
                                <p:cTn id="14" presetID="22" presetClass="entr" presetSubtype="8" fill="hold" grpId="0"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500"/>
                                        <p:tgtEl>
                                          <p:spTgt spid="13"/>
                                        </p:tgtEl>
                                      </p:cBhvr>
                                    </p:animEffect>
                                  </p:childTnLst>
                                </p:cTn>
                              </p:par>
                            </p:childTnLst>
                          </p:cTn>
                        </p:par>
                        <p:par>
                          <p:cTn id="17" fill="hold">
                            <p:stCondLst>
                              <p:cond delay="500"/>
                            </p:stCondLst>
                            <p:childTnLst>
                              <p:par>
                                <p:cTn id="18" presetID="22" presetClass="entr" presetSubtype="8" fill="hold" nodeType="after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wipe(left)">
                                      <p:cBhvr>
                                        <p:cTn id="20" dur="500"/>
                                        <p:tgtEl>
                                          <p:spTgt spid="17"/>
                                        </p:tgtEl>
                                      </p:cBhvr>
                                    </p:animEffect>
                                  </p:childTnLst>
                                </p:cTn>
                              </p:par>
                              <p:par>
                                <p:cTn id="21" presetID="22" presetClass="entr" presetSubtype="8" fill="hold" nodeType="with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500"/>
                                        <p:tgtEl>
                                          <p:spTgt spid="7"/>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nodeType="click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500"/>
                                        <p:tgtEl>
                                          <p:spTgt spid="14"/>
                                        </p:tgtEl>
                                      </p:cBhvr>
                                    </p:animEffect>
                                  </p:childTnLst>
                                </p:cTn>
                              </p:par>
                            </p:childTnLst>
                          </p:cTn>
                        </p:par>
                        <p:par>
                          <p:cTn id="29" fill="hold">
                            <p:stCondLst>
                              <p:cond delay="500"/>
                            </p:stCondLst>
                            <p:childTnLst>
                              <p:par>
                                <p:cTn id="30" presetID="22" presetClass="entr" presetSubtype="8" fill="hold" nodeType="after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par>
                                <p:cTn id="33" presetID="22" presetClass="entr" presetSubtype="8"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animEffect transition="in" filter="wipe(left)">
                                      <p:cBhvr>
                                        <p:cTn id="35" dur="500"/>
                                        <p:tgtEl>
                                          <p:spTgt spid="22"/>
                                        </p:tgtEl>
                                      </p:cBhvr>
                                    </p:animEffect>
                                  </p:childTnLst>
                                </p:cTn>
                              </p:par>
                            </p:childTnLst>
                          </p:cTn>
                        </p:par>
                        <p:par>
                          <p:cTn id="36" fill="hold">
                            <p:stCondLst>
                              <p:cond delay="1000"/>
                            </p:stCondLst>
                            <p:childTnLst>
                              <p:par>
                                <p:cTn id="37" presetID="22" presetClass="entr" presetSubtype="8" fill="hold" nodeType="after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wipe(left)">
                                      <p:cBhvr>
                                        <p:cTn id="39" dur="500"/>
                                        <p:tgtEl>
                                          <p:spTgt spid="15"/>
                                        </p:tgtEl>
                                      </p:cBhvr>
                                    </p:animEffect>
                                  </p:childTnLst>
                                </p:cTn>
                              </p:par>
                              <p:par>
                                <p:cTn id="40" presetID="1" presetClass="entr" presetSubtype="0" fill="hold" nodeType="withEffect">
                                  <p:stCondLst>
                                    <p:cond delay="0"/>
                                  </p:stCondLst>
                                  <p:childTnLst>
                                    <p:set>
                                      <p:cBhvr>
                                        <p:cTn id="41" dur="1" fill="hold">
                                          <p:stCondLst>
                                            <p:cond delay="0"/>
                                          </p:stCondLst>
                                        </p:cTn>
                                        <p:tgtEl>
                                          <p:spTgt spid="16"/>
                                        </p:tgtEl>
                                        <p:attrNameLst>
                                          <p:attrName>style.visibility</p:attrName>
                                        </p:attrNameLst>
                                      </p:cBhvr>
                                      <p:to>
                                        <p:strVal val="visible"/>
                                      </p:to>
                                    </p:set>
                                  </p:childTnLst>
                                </p:cTn>
                              </p:par>
                              <p:par>
                                <p:cTn id="42" presetID="1" presetClass="mediacall" presetSubtype="0" fill="hold" nodeType="withEffect">
                                  <p:stCondLst>
                                    <p:cond delay="0"/>
                                  </p:stCondLst>
                                  <p:childTnLst>
                                    <p:cmd type="call" cmd="playFrom(0.0)">
                                      <p:cBhvr>
                                        <p:cTn id="43" dur="4137" fill="hold"/>
                                        <p:tgtEl>
                                          <p:spTgt spid="16"/>
                                        </p:tgtEl>
                                      </p:cBhvr>
                                    </p:cmd>
                                  </p:childTnLst>
                                </p:cTn>
                              </p:par>
                              <p:par>
                                <p:cTn id="44" presetID="22" presetClass="entr" presetSubtype="8" fill="hold" grpId="0" nodeType="withEffect">
                                  <p:stCondLst>
                                    <p:cond delay="0"/>
                                  </p:stCondLst>
                                  <p:childTnLst>
                                    <p:set>
                                      <p:cBhvr>
                                        <p:cTn id="45" dur="1" fill="hold">
                                          <p:stCondLst>
                                            <p:cond delay="0"/>
                                          </p:stCondLst>
                                        </p:cTn>
                                        <p:tgtEl>
                                          <p:spTgt spid="23"/>
                                        </p:tgtEl>
                                        <p:attrNameLst>
                                          <p:attrName>style.visibility</p:attrName>
                                        </p:attrNameLst>
                                      </p:cBhvr>
                                      <p:to>
                                        <p:strVal val="visible"/>
                                      </p:to>
                                    </p:set>
                                    <p:animEffect transition="in" filter="wipe(left)">
                                      <p:cBhvr>
                                        <p:cTn id="46"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47" fill="hold" display="0">
                  <p:stCondLst>
                    <p:cond delay="indefinite"/>
                  </p:stCondLst>
                </p:cTn>
                <p:tgtEl>
                  <p:spTgt spid="16"/>
                </p:tgtEl>
              </p:cMediaNode>
            </p:video>
          </p:childTnLst>
        </p:cTn>
      </p:par>
    </p:tnLst>
    <p:bldLst>
      <p:bldP spid="10" grpId="0" animBg="1"/>
      <p:bldP spid="11" grpId="0" animBg="1"/>
      <p:bldP spid="22" grpId="0"/>
      <p:bldP spid="23" grpId="0"/>
      <p:bldP spid="12" grpId="0"/>
      <p:bldP spid="1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Box 16">
            <a:extLst>
              <a:ext uri="{FF2B5EF4-FFF2-40B4-BE49-F238E27FC236}">
                <a16:creationId xmlns:a16="http://schemas.microsoft.com/office/drawing/2014/main" id="{2845A731-82DC-0D9E-DF86-030F54AB72BA}"/>
              </a:ext>
            </a:extLst>
          </p:cNvPr>
          <p:cNvSpPr txBox="1"/>
          <p:nvPr/>
        </p:nvSpPr>
        <p:spPr>
          <a:xfrm>
            <a:off x="411480" y="749808"/>
            <a:ext cx="11365992" cy="658368"/>
          </a:xfrm>
          <a:prstGeom prst="rect">
            <a:avLst/>
          </a:prstGeom>
          <a:noFill/>
        </p:spPr>
        <p:txBody>
          <a:bodyPr wrap="square" rtlCol="0" tIns="0" bIns="0">
            <a:spAutoFit/>
          </a:bodyPr>
          <a:lstStyle/>
          <a:p>
            <a:pPr marL="0" marR="0" algn="ctr">
              <a:spcAft>
                <a:spcPts val="0"/>
              </a:spcAft>
              <a:defRPr sz="2600" b="1">
                <a:solidFill>
                  <a:srgbClr val="285180"/>
                </a:solidFill>
                <a:latin typeface="Arial"/>
              </a:defRPr>
            </a:pPr>
            <a:r>
              <a:t>Major cardiac lineages form organized spatial neighborhoods</a:t>
            </a:r>
          </a:p>
        </p:txBody>
      </p:sp>
      <p:pic>
        <p:nvPicPr>
          <p:cNvPr id="6" name="Picture 5" descr="A black screen with white text&#10;&#10;AI-generated content may be incorrect.">
            <a:extLst>
              <a:ext uri="{FF2B5EF4-FFF2-40B4-BE49-F238E27FC236}">
                <a16:creationId xmlns:a16="http://schemas.microsoft.com/office/drawing/2014/main" id="{D6FF4AF3-D20F-ACCA-1416-C7EF971079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4360" y="1874519"/>
            <a:ext cx="11000232" cy="3714438"/>
          </a:xfrm>
          <a:prstGeom prst="rect">
            <a:avLst/>
          </a:prstGeom>
        </p:spPr>
      </p:pic>
      <p:sp>
        <p:nvSpPr>
          <p:cNvPr id="18" name="TextBox 17"/>
          <p:cNvSpPr txBox="1"/>
          <p:nvPr/>
        </p:nvSpPr>
        <p:spPr>
          <a:xfrm>
            <a:off x="594360" y="6254496"/>
            <a:ext cx="11000232" cy="320040"/>
          </a:xfrm>
          <a:prstGeom prst="rect">
            <a:avLst/>
          </a:prstGeom>
          <a:noFill/>
        </p:spPr>
        <p:txBody>
          <a:bodyPr wrap="square" lIns="0" rIns="0" tIns="0" bIns="0">
            <a:spAutoFit/>
          </a:bodyPr>
          <a:lstStyle/>
          <a:p>
            <a:pPr algn="ctr">
              <a:lnSpc>
                <a:spcPts val="1600"/>
              </a:lnSpc>
              <a:spcAft>
                <a:spcPts val="0"/>
              </a:spcAft>
              <a:defRPr sz="1500" b="1">
                <a:solidFill>
                  <a:srgbClr val="285180"/>
                </a:solidFill>
                <a:latin typeface="Arial"/>
              </a:defRPr>
            </a:pPr>
            <a:r>
              <a:t>Cell identity and tissue position provide complementary biological information.</a:t>
            </a:r>
          </a:p>
        </p:txBody>
      </p:sp>
      <p:sp>
        <p:nvSpPr>
          <p:cNvPr id="19" name="TextBox 18"/>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1f,j; Fig. 2a</a:t>
            </a:r>
          </a:p>
        </p:txBody>
      </p:sp>
    </p:spTree>
    <p:extLst>
      <p:ext uri="{BB962C8B-B14F-4D97-AF65-F5344CB8AC3E}">
        <p14:creationId xmlns:p14="http://schemas.microsoft.com/office/powerpoint/2010/main" val="33573865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07822B0-FA1B-3C92-E237-0A0D5D7F6EE2}"/>
              </a:ext>
            </a:extLst>
          </p:cNvPr>
          <p:cNvSpPr/>
          <p:nvPr/>
        </p:nvSpPr>
        <p:spPr>
          <a:xfrm>
            <a:off x="7315200" y="4017503"/>
            <a:ext cx="244303" cy="237332"/>
          </a:xfrm>
          <a:prstGeom prst="rect">
            <a:avLst/>
          </a:prstGeom>
          <a:no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TextBox 21">
            <a:extLst>
              <a:ext uri="{FF2B5EF4-FFF2-40B4-BE49-F238E27FC236}">
                <a16:creationId xmlns:a16="http://schemas.microsoft.com/office/drawing/2014/main" id="{996CF98A-499F-DC13-4F5C-D8DCF0D6F78B}"/>
              </a:ext>
            </a:extLst>
          </p:cNvPr>
          <p:cNvSpPr txBox="1"/>
          <p:nvPr/>
        </p:nvSpPr>
        <p:spPr>
          <a:xfrm>
            <a:off x="411480" y="749808"/>
            <a:ext cx="11365992" cy="658368"/>
          </a:xfrm>
          <a:prstGeom prst="rect">
            <a:avLst/>
          </a:prstGeom>
          <a:noFill/>
        </p:spPr>
        <p:txBody>
          <a:bodyPr wrap="square" tIns="0" bIns="0">
            <a:spAutoFit/>
          </a:bodyPr>
          <a:lstStyle/>
          <a:p>
            <a:pPr indent="0" algn="ctr">
              <a:lnSpc>
                <a:spcPct val="115000"/>
              </a:lnSpc>
              <a:spcAft>
                <a:spcPts val="800"/>
              </a:spcAft>
              <a:buNone/>
              <a:defRPr sz="2600" b="1">
                <a:solidFill>
                  <a:srgbClr val="285180"/>
                </a:solidFill>
                <a:latin typeface="Arial"/>
              </a:defRPr>
            </a:pPr>
            <a:r>
              <a:t>CM maturation varies across both age and tissue position</a:t>
            </a:r>
            <a:endParaRPr lang="en-US" sz="3200" b="1" kern="0" dirty="0">
              <a:solidFill>
                <a:srgbClr val="284B90"/>
              </a:solidFill>
              <a:latin typeface="Arial" panose="020B0604020202020204" pitchFamily="34" charset="0"/>
              <a:ea typeface="+mj-ea"/>
              <a:cs typeface="Arial" panose="020B0604020202020204" pitchFamily="34" charset="0"/>
            </a:endParaRPr>
          </a:p>
        </p:txBody>
      </p:sp>
      <p:pic>
        <p:nvPicPr>
          <p:cNvPr id="13" name="Graphic 12">
            <a:extLst>
              <a:ext uri="{FF2B5EF4-FFF2-40B4-BE49-F238E27FC236}">
                <a16:creationId xmlns:a16="http://schemas.microsoft.com/office/drawing/2014/main" id="{6F463066-66DF-15D5-BBF5-1CE53B152D5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52400" y="1828800"/>
            <a:ext cx="6047869" cy="3658223"/>
          </a:xfrm>
          <a:prstGeom prst="rect">
            <a:avLst/>
          </a:prstGeom>
        </p:spPr>
      </p:pic>
      <p:pic>
        <p:nvPicPr>
          <p:cNvPr id="17" name="Graphic 16">
            <a:extLst>
              <a:ext uri="{FF2B5EF4-FFF2-40B4-BE49-F238E27FC236}">
                <a16:creationId xmlns:a16="http://schemas.microsoft.com/office/drawing/2014/main" id="{6C80F977-91CA-037B-FD54-CDB967F0F32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858000" y="1905000"/>
            <a:ext cx="4727550" cy="3658223"/>
          </a:xfrm>
          <a:prstGeom prst="rect">
            <a:avLst/>
          </a:prstGeom>
        </p:spPr>
      </p:pic>
      <p:sp>
        <p:nvSpPr>
          <p:cNvPr id="23" name="TextBox 22"/>
          <p:cNvSpPr txBox="1"/>
          <p:nvPr/>
        </p:nvSpPr>
        <p:spPr>
          <a:xfrm>
            <a:off x="1097280" y="5925312"/>
            <a:ext cx="10012680" cy="347472"/>
          </a:xfrm>
          <a:prstGeom prst="rect">
            <a:avLst/>
          </a:prstGeom>
          <a:noFill/>
        </p:spPr>
        <p:txBody>
          <a:bodyPr wrap="square" lIns="0" rIns="0" tIns="0" bIns="0">
            <a:spAutoFit/>
          </a:bodyPr>
          <a:lstStyle/>
          <a:p>
            <a:pPr algn="ctr">
              <a:spcAft>
                <a:spcPts val="500"/>
              </a:spcAft>
              <a:defRPr sz="1800" b="1">
                <a:solidFill>
                  <a:srgbClr val="285180"/>
                </a:solidFill>
                <a:latin typeface="Arial"/>
              </a:defRPr>
            </a:pPr>
            <a:r>
              <a:t>21 measured Xenium maturation genes · Seurat AddModuleScore (published Methods)</a:t>
            </a:r>
          </a:p>
        </p:txBody>
      </p:sp>
      <p:sp>
        <p:nvSpPr>
          <p:cNvPr id="24" name="TextBox 23"/>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4b,c; maturation Methods</a:t>
            </a:r>
          </a:p>
        </p:txBody>
      </p:sp>
    </p:spTree>
    <p:extLst>
      <p:ext uri="{BB962C8B-B14F-4D97-AF65-F5344CB8AC3E}">
        <p14:creationId xmlns:p14="http://schemas.microsoft.com/office/powerpoint/2010/main" val="2669862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8C7C3C-9A16-12F6-BF03-BA550501C9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C0D2FE5-E393-B3DE-B6FC-45F4F158C3C6}"/>
              </a:ext>
            </a:extLst>
          </p:cNvPr>
          <p:cNvSpPr>
            <a:spLocks noGrp="1"/>
          </p:cNvSpPr>
          <p:nvPr>
            <p:ph type="title"/>
          </p:nvPr>
        </p:nvSpPr>
        <p:spPr>
          <a:xfrm>
            <a:off x="411480" y="749808"/>
            <a:ext cx="11365992" cy="658368"/>
          </a:xfrm>
        </p:spPr>
        <p:txBody>
          <a:bodyPr wrap="square" tIns="0" bIns="0"/>
          <a:lstStyle/>
          <a:p>
            <a:pPr algn="ctr">
              <a:defRPr sz="2600" b="1">
                <a:solidFill>
                  <a:srgbClr val="285180"/>
                </a:solidFill>
                <a:latin typeface="Arial"/>
              </a:defRPr>
            </a:pPr>
            <a:r>
              <a:t>Spatial constraints refine cell–cell communication inference</a:t>
            </a:r>
          </a:p>
        </p:txBody>
      </p:sp>
      <p:pic>
        <p:nvPicPr>
          <p:cNvPr id="6" name="Graphic 5">
            <a:extLst>
              <a:ext uri="{FF2B5EF4-FFF2-40B4-BE49-F238E27FC236}">
                <a16:creationId xmlns:a16="http://schemas.microsoft.com/office/drawing/2014/main" id="{7CE03839-AE68-3217-FF89-000F5FC146A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29587" y="2057400"/>
            <a:ext cx="4595446" cy="3556000"/>
          </a:xfrm>
          <a:prstGeom prst="rect">
            <a:avLst/>
          </a:prstGeom>
        </p:spPr>
      </p:pic>
      <p:pic>
        <p:nvPicPr>
          <p:cNvPr id="10" name="Picture 9">
            <a:extLst>
              <a:ext uri="{FF2B5EF4-FFF2-40B4-BE49-F238E27FC236}">
                <a16:creationId xmlns:a16="http://schemas.microsoft.com/office/drawing/2014/main" id="{193716A5-A46F-2D4A-3D8D-7A247EDB733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135461" y="1501775"/>
            <a:ext cx="5457825" cy="5076825"/>
          </a:xfrm>
          <a:prstGeom prst="rect">
            <a:avLst/>
          </a:prstGeom>
        </p:spPr>
      </p:pic>
      <p:sp>
        <p:nvSpPr>
          <p:cNvPr id="11" name="TextBox 10"/>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2d; original communication schematic</a:t>
            </a:r>
          </a:p>
        </p:txBody>
      </p:sp>
    </p:spTree>
    <p:extLst>
      <p:ext uri="{BB962C8B-B14F-4D97-AF65-F5344CB8AC3E}">
        <p14:creationId xmlns:p14="http://schemas.microsoft.com/office/powerpoint/2010/main" val="17644150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E7B74-C404-F400-8A9A-5005545C22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10B1D3-57EE-D3E2-FF49-0398799CCB52}"/>
              </a:ext>
            </a:extLst>
          </p:cNvPr>
          <p:cNvSpPr>
            <a:spLocks noGrp="1"/>
          </p:cNvSpPr>
          <p:nvPr>
            <p:ph type="title"/>
          </p:nvPr>
        </p:nvSpPr>
        <p:spPr>
          <a:xfrm>
            <a:off x="411480" y="749808"/>
            <a:ext cx="11365992" cy="658368"/>
          </a:xfrm>
        </p:spPr>
        <p:txBody>
          <a:bodyPr wrap="square" tIns="0" bIns="0"/>
          <a:lstStyle/>
          <a:p>
            <a:pPr algn="ctr">
              <a:defRPr sz="2600" b="1">
                <a:solidFill>
                  <a:srgbClr val="285180"/>
                </a:solidFill>
                <a:latin typeface="Arial"/>
              </a:defRPr>
            </a:pPr>
            <a:r>
              <a:t>CMs encounter changing extrinsic cues during maturation</a:t>
            </a:r>
            <a:endParaRPr lang="en-US" sz="3200" dirty="0">
              <a:effectLst/>
              <a:latin typeface="Arial" panose="020B0604020202020204" pitchFamily="34" charset="0"/>
              <a:cs typeface="Arial" panose="020B0604020202020204" pitchFamily="34" charset="0"/>
            </a:endParaRPr>
          </a:p>
        </p:txBody>
      </p:sp>
      <p:pic>
        <p:nvPicPr>
          <p:cNvPr id="6" name="Picture 5">
            <a:extLst>
              <a:ext uri="{FF2B5EF4-FFF2-40B4-BE49-F238E27FC236}">
                <a16:creationId xmlns:a16="http://schemas.microsoft.com/office/drawing/2014/main" id="{FDDC6D53-92A4-A97A-0EC3-2939819F9147}"/>
              </a:ext>
            </a:extLst>
          </p:cNvPr>
          <p:cNvPicPr>
            <a:picLocks noChangeAspect="1"/>
          </p:cNvPicPr>
          <p:nvPr/>
        </p:nvPicPr>
        <p:blipFill>
          <a:blip r:embed="rId3"/>
          <a:stretch>
            <a:fillRect/>
          </a:stretch>
        </p:blipFill>
        <p:spPr>
          <a:xfrm>
            <a:off x="2572043" y="1600200"/>
            <a:ext cx="7047608" cy="4480560"/>
          </a:xfrm>
          <a:prstGeom prst="rect">
            <a:avLst/>
          </a:prstGeom>
        </p:spPr>
      </p:pic>
      <p:sp>
        <p:nvSpPr>
          <p:cNvPr id="7" name="TextBox 6"/>
          <p:cNvSpPr txBox="1"/>
          <p:nvPr/>
        </p:nvSpPr>
        <p:spPr>
          <a:xfrm>
            <a:off x="594360" y="6254496"/>
            <a:ext cx="11000232" cy="320040"/>
          </a:xfrm>
          <a:prstGeom prst="rect">
            <a:avLst/>
          </a:prstGeom>
          <a:noFill/>
        </p:spPr>
        <p:txBody>
          <a:bodyPr wrap="square" lIns="0" rIns="0" tIns="0" bIns="0">
            <a:spAutoFit/>
          </a:bodyPr>
          <a:lstStyle/>
          <a:p>
            <a:pPr algn="ctr">
              <a:lnSpc>
                <a:spcPts val="1600"/>
              </a:lnSpc>
              <a:spcAft>
                <a:spcPts val="0"/>
              </a:spcAft>
              <a:defRPr sz="1500" b="1">
                <a:solidFill>
                  <a:srgbClr val="285180"/>
                </a:solidFill>
                <a:latin typeface="Arial"/>
              </a:defRPr>
            </a:pPr>
            <a:r>
              <a:t>The extracellular signaling landscape changes together with CM state.</a:t>
            </a:r>
          </a:p>
        </p:txBody>
      </p:sp>
      <p:sp>
        <p:nvSpPr>
          <p:cNvPr id="8" name="TextBox 7"/>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5e; Supplementary Fig. 21; original signaling heatmaps</a:t>
            </a:r>
          </a:p>
        </p:txBody>
      </p:sp>
    </p:spTree>
    <p:extLst>
      <p:ext uri="{BB962C8B-B14F-4D97-AF65-F5344CB8AC3E}">
        <p14:creationId xmlns:p14="http://schemas.microsoft.com/office/powerpoint/2010/main" val="32483497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283603-10EA-252A-6083-CC86DF5FB2CB}"/>
              </a:ext>
            </a:extLst>
          </p:cNvPr>
          <p:cNvSpPr>
            <a:spLocks noGrp="1"/>
          </p:cNvSpPr>
          <p:nvPr>
            <p:ph type="title"/>
          </p:nvPr>
        </p:nvSpPr>
        <p:spPr>
          <a:xfrm>
            <a:off x="411480" y="749808"/>
            <a:ext cx="11365992" cy="658368"/>
          </a:xfrm>
        </p:spPr>
        <p:txBody>
          <a:bodyPr wrap="square" tIns="0" bIns="0"/>
          <a:lstStyle/>
          <a:p>
            <a:pPr algn="ctr">
              <a:defRPr sz="2600" b="1">
                <a:solidFill>
                  <a:srgbClr val="285180"/>
                </a:solidFill>
                <a:latin typeface="Arial"/>
              </a:defRPr>
            </a:pPr>
            <a:r>
              <a:t>CM regulatory programs change sharply between P7 and P14</a:t>
            </a:r>
          </a:p>
        </p:txBody>
      </p:sp>
      <p:grpSp>
        <p:nvGrpSpPr>
          <p:cNvPr id="10" name="Group 9">
            <a:extLst>
              <a:ext uri="{FF2B5EF4-FFF2-40B4-BE49-F238E27FC236}">
                <a16:creationId xmlns:a16="http://schemas.microsoft.com/office/drawing/2014/main" id="{F5EFAFFE-6220-A78A-C157-C4AE7B1071C5}"/>
              </a:ext>
            </a:extLst>
          </p:cNvPr>
          <p:cNvGrpSpPr/>
          <p:nvPr/>
        </p:nvGrpSpPr>
        <p:grpSpPr>
          <a:xfrm>
            <a:off x="4709160" y="1490472"/>
            <a:ext cx="6337218" cy="4828032"/>
            <a:chOff x="623591" y="1560810"/>
            <a:chExt cx="5481934" cy="4707930"/>
          </a:xfrm>
        </p:grpSpPr>
        <p:pic>
          <p:nvPicPr>
            <p:cNvPr id="5" name="Picture 4">
              <a:extLst>
                <a:ext uri="{FF2B5EF4-FFF2-40B4-BE49-F238E27FC236}">
                  <a16:creationId xmlns:a16="http://schemas.microsoft.com/office/drawing/2014/main" id="{113CDA28-41CC-4B7D-22D3-6497D69BD72F}"/>
                </a:ext>
              </a:extLst>
            </p:cNvPr>
            <p:cNvPicPr>
              <a:picLocks noChangeAspect="1"/>
            </p:cNvPicPr>
            <p:nvPr/>
          </p:nvPicPr>
          <p:blipFill>
            <a:blip r:embed="rId3"/>
            <a:stretch>
              <a:fillRect/>
            </a:stretch>
          </p:blipFill>
          <p:spPr>
            <a:xfrm>
              <a:off x="623591" y="1560810"/>
              <a:ext cx="5481934" cy="4707930"/>
            </a:xfrm>
            <a:prstGeom prst="rect">
              <a:avLst/>
            </a:prstGeom>
          </p:spPr>
        </p:pic>
        <p:sp>
          <p:nvSpPr>
            <p:cNvPr id="8" name="Rectangle 7">
              <a:extLst>
                <a:ext uri="{FF2B5EF4-FFF2-40B4-BE49-F238E27FC236}">
                  <a16:creationId xmlns:a16="http://schemas.microsoft.com/office/drawing/2014/main" id="{F62DEE2C-B630-A6CC-62C7-B4BF0FB4C38B}"/>
                </a:ext>
              </a:extLst>
            </p:cNvPr>
            <p:cNvSpPr/>
            <p:nvPr/>
          </p:nvSpPr>
          <p:spPr>
            <a:xfrm>
              <a:off x="2438400" y="1560810"/>
              <a:ext cx="2495550" cy="4707930"/>
            </a:xfrm>
            <a:prstGeom prst="rect">
              <a:avLst/>
            </a:prstGeom>
            <a:solidFill>
              <a:srgbClr val="FFFFF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 name="Group 2">
            <a:extLst>
              <a:ext uri="{FF2B5EF4-FFF2-40B4-BE49-F238E27FC236}">
                <a16:creationId xmlns:a16="http://schemas.microsoft.com/office/drawing/2014/main" id="{65961E23-E9B5-CCE3-B92B-3B1081004F7B}"/>
              </a:ext>
            </a:extLst>
          </p:cNvPr>
          <p:cNvGrpSpPr/>
          <p:nvPr/>
        </p:nvGrpSpPr>
        <p:grpSpPr>
          <a:xfrm>
            <a:off x="1325880" y="1536192"/>
            <a:ext cx="2481759" cy="4800600"/>
            <a:chOff x="982964" y="1457215"/>
            <a:chExt cx="2640817" cy="5108274"/>
          </a:xfrm>
        </p:grpSpPr>
        <p:pic>
          <p:nvPicPr>
            <p:cNvPr id="4" name="Picture 3">
              <a:extLst>
                <a:ext uri="{FF2B5EF4-FFF2-40B4-BE49-F238E27FC236}">
                  <a16:creationId xmlns:a16="http://schemas.microsoft.com/office/drawing/2014/main" id="{8CAE2C87-022C-22CE-34FE-4D00FFA5352E}"/>
                </a:ext>
              </a:extLst>
            </p:cNvPr>
            <p:cNvPicPr>
              <a:picLocks noChangeAspect="1"/>
            </p:cNvPicPr>
            <p:nvPr/>
          </p:nvPicPr>
          <p:blipFill>
            <a:blip r:embed="rId4"/>
            <a:stretch>
              <a:fillRect/>
            </a:stretch>
          </p:blipFill>
          <p:spPr>
            <a:xfrm>
              <a:off x="982964" y="2031697"/>
              <a:ext cx="2640817" cy="4533792"/>
            </a:xfrm>
            <a:prstGeom prst="rect">
              <a:avLst/>
            </a:prstGeom>
          </p:spPr>
        </p:pic>
        <p:sp>
          <p:nvSpPr>
            <p:cNvPr id="6" name="TextBox 5">
              <a:extLst>
                <a:ext uri="{FF2B5EF4-FFF2-40B4-BE49-F238E27FC236}">
                  <a16:creationId xmlns:a16="http://schemas.microsoft.com/office/drawing/2014/main" id="{FB317257-4305-1786-6C44-2B8ECD267032}"/>
                </a:ext>
              </a:extLst>
            </p:cNvPr>
            <p:cNvSpPr txBox="1"/>
            <p:nvPr/>
          </p:nvSpPr>
          <p:spPr>
            <a:xfrm>
              <a:off x="1327784" y="1457215"/>
              <a:ext cx="1951175" cy="369332"/>
            </a:xfrm>
            <a:prstGeom prst="rect">
              <a:avLst/>
            </a:prstGeom>
            <a:noFill/>
          </p:spPr>
          <p:txBody>
            <a:bodyPr wrap="none" rtlCol="0">
              <a:spAutoFit/>
            </a:bodyPr>
            <a:lstStyle/>
            <a:p>
              <a:r>
                <a:rPr lang="en-US" altLang="zh-CN" dirty="0"/>
                <a:t>SCENIC</a:t>
              </a:r>
              <a:r>
                <a:rPr lang="zh-CN" altLang="en-US" dirty="0"/>
                <a:t> </a:t>
              </a:r>
              <a:r>
                <a:rPr lang="en-US" altLang="zh-CN" dirty="0"/>
                <a:t>analysis</a:t>
              </a:r>
              <a:endParaRPr lang="en-US" dirty="0"/>
            </a:p>
          </p:txBody>
        </p:sp>
        <p:sp>
          <p:nvSpPr>
            <p:cNvPr id="7" name="TextBox 6">
              <a:extLst>
                <a:ext uri="{FF2B5EF4-FFF2-40B4-BE49-F238E27FC236}">
                  <a16:creationId xmlns:a16="http://schemas.microsoft.com/office/drawing/2014/main" id="{2714E35E-5C2B-D34F-702A-EF271CF71F20}"/>
                </a:ext>
              </a:extLst>
            </p:cNvPr>
            <p:cNvSpPr txBox="1"/>
            <p:nvPr/>
          </p:nvSpPr>
          <p:spPr>
            <a:xfrm>
              <a:off x="1190709" y="1826547"/>
              <a:ext cx="2433072" cy="261610"/>
            </a:xfrm>
            <a:prstGeom prst="rect">
              <a:avLst/>
            </a:prstGeom>
            <a:noFill/>
          </p:spPr>
          <p:txBody>
            <a:bodyPr wrap="square">
              <a:spAutoFit/>
            </a:bodyPr>
            <a:lstStyle/>
            <a:p>
              <a:r>
                <a:rPr lang="en-US" sz="1100" b="0" i="0" u="none" strike="noStrike" dirty="0" err="1">
                  <a:solidFill>
                    <a:srgbClr val="222222"/>
                  </a:solidFill>
                  <a:effectLst/>
                  <a:latin typeface="+mn-ea"/>
                </a:rPr>
                <a:t>Aibar</a:t>
              </a:r>
              <a:r>
                <a:rPr lang="en-US" sz="1100" b="0" i="0" u="none" strike="noStrike" dirty="0">
                  <a:solidFill>
                    <a:srgbClr val="222222"/>
                  </a:solidFill>
                  <a:effectLst/>
                  <a:latin typeface="+mn-ea"/>
                </a:rPr>
                <a:t>, S.</a:t>
              </a:r>
              <a:r>
                <a:rPr lang="en-US" altLang="zh-CN" sz="1100" b="0" i="0" u="none" strike="noStrike" dirty="0">
                  <a:solidFill>
                    <a:srgbClr val="222222"/>
                  </a:solidFill>
                  <a:effectLst/>
                  <a:latin typeface="+mn-ea"/>
                </a:rPr>
                <a:t>,</a:t>
              </a:r>
              <a:r>
                <a:rPr lang="en-US" sz="1100" b="0" i="0" u="none" strike="noStrike" dirty="0">
                  <a:solidFill>
                    <a:srgbClr val="222222"/>
                  </a:solidFill>
                  <a:effectLst/>
                  <a:latin typeface="+mn-ea"/>
                </a:rPr>
                <a:t> </a:t>
              </a:r>
              <a:r>
                <a:rPr lang="en-US" sz="1100" b="0" i="1" u="none" strike="noStrike" dirty="0">
                  <a:solidFill>
                    <a:srgbClr val="222222"/>
                  </a:solidFill>
                  <a:effectLst/>
                  <a:latin typeface="+mn-ea"/>
                </a:rPr>
                <a:t>et al.</a:t>
              </a:r>
              <a:r>
                <a:rPr lang="en-US" sz="1100" b="0" i="0" u="none" strike="noStrike" dirty="0">
                  <a:solidFill>
                    <a:srgbClr val="222222"/>
                  </a:solidFill>
                  <a:effectLst/>
                  <a:latin typeface="+mn-ea"/>
                </a:rPr>
                <a:t> </a:t>
              </a:r>
              <a:r>
                <a:rPr lang="en-US" sz="1100" b="0" i="1" u="none" strike="noStrike" dirty="0">
                  <a:solidFill>
                    <a:srgbClr val="222222"/>
                  </a:solidFill>
                  <a:effectLst/>
                  <a:latin typeface="+mn-ea"/>
                </a:rPr>
                <a:t>Nat Methods</a:t>
              </a:r>
              <a:r>
                <a:rPr lang="en-US" altLang="zh-CN" sz="1100" dirty="0">
                  <a:solidFill>
                    <a:srgbClr val="222222"/>
                  </a:solidFill>
                  <a:latin typeface="+mn-ea"/>
                </a:rPr>
                <a:t>,</a:t>
              </a:r>
              <a:r>
                <a:rPr lang="zh-CN" altLang="en-US" sz="1100" dirty="0">
                  <a:solidFill>
                    <a:srgbClr val="222222"/>
                  </a:solidFill>
                  <a:latin typeface="+mn-ea"/>
                </a:rPr>
                <a:t> </a:t>
              </a:r>
              <a:r>
                <a:rPr lang="en-US" sz="1100" b="0" i="0" u="none" strike="noStrike" dirty="0">
                  <a:solidFill>
                    <a:srgbClr val="222222"/>
                  </a:solidFill>
                  <a:effectLst/>
                  <a:latin typeface="+mn-ea"/>
                </a:rPr>
                <a:t>2017</a:t>
              </a:r>
              <a:endParaRPr lang="en-US" sz="1100" dirty="0">
                <a:latin typeface="+mn-ea"/>
              </a:endParaRPr>
            </a:p>
          </p:txBody>
        </p:sp>
      </p:grpSp>
      <p:sp>
        <p:nvSpPr>
          <p:cNvPr id="11" name="TextBox 10"/>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3a,b; original SCENIC panels</a:t>
            </a:r>
          </a:p>
        </p:txBody>
      </p:sp>
    </p:spTree>
    <p:extLst>
      <p:ext uri="{BB962C8B-B14F-4D97-AF65-F5344CB8AC3E}">
        <p14:creationId xmlns:p14="http://schemas.microsoft.com/office/powerpoint/2010/main" val="25783149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04445-CB29-1F7F-B99A-60918CB6C74F}"/>
              </a:ext>
            </a:extLst>
          </p:cNvPr>
          <p:cNvSpPr>
            <a:spLocks noGrp="1"/>
          </p:cNvSpPr>
          <p:nvPr>
            <p:ph type="title"/>
          </p:nvPr>
        </p:nvSpPr>
        <p:spPr>
          <a:xfrm>
            <a:off x="411480" y="749808"/>
            <a:ext cx="11365992" cy="658368"/>
          </a:xfrm>
        </p:spPr>
        <p:txBody>
          <a:bodyPr wrap="square" tIns="0" bIns="0"/>
          <a:lstStyle/>
          <a:p>
            <a:pPr algn="ctr">
              <a:defRPr sz="2600" b="1">
                <a:solidFill>
                  <a:srgbClr val="285180"/>
                </a:solidFill>
                <a:latin typeface="Arial"/>
              </a:defRPr>
            </a:pPr>
            <a:r>
              <a:t>Temporal regulon networks nominate intrinsic maturation regulators</a:t>
            </a:r>
            <a:endParaRPr lang="en-US" sz="3200" dirty="0">
              <a:effectLst/>
            </a:endParaRPr>
          </a:p>
        </p:txBody>
      </p:sp>
      <p:pic>
        <p:nvPicPr>
          <p:cNvPr id="3" name="Picture 2">
            <a:extLst>
              <a:ext uri="{FF2B5EF4-FFF2-40B4-BE49-F238E27FC236}">
                <a16:creationId xmlns:a16="http://schemas.microsoft.com/office/drawing/2014/main" id="{1F8D0624-9108-94F3-009E-F4B5A005588A}"/>
              </a:ext>
            </a:extLst>
          </p:cNvPr>
          <p:cNvPicPr>
            <a:picLocks noChangeAspect="1"/>
          </p:cNvPicPr>
          <p:nvPr/>
        </p:nvPicPr>
        <p:blipFill>
          <a:blip r:embed="rId3"/>
          <a:stretch>
            <a:fillRect/>
          </a:stretch>
        </p:blipFill>
        <p:spPr>
          <a:xfrm>
            <a:off x="2971800" y="1536192"/>
            <a:ext cx="4798388" cy="4526280"/>
          </a:xfrm>
          <a:prstGeom prst="rect">
            <a:avLst/>
          </a:prstGeom>
        </p:spPr>
      </p:pic>
      <p:sp>
        <p:nvSpPr>
          <p:cNvPr id="4" name="TextBox 3"/>
          <p:cNvSpPr txBox="1"/>
          <p:nvPr/>
        </p:nvSpPr>
        <p:spPr>
          <a:xfrm>
            <a:off x="8549640" y="2103120"/>
            <a:ext cx="2743200" cy="2971800"/>
          </a:xfrm>
          <a:prstGeom prst="rect">
            <a:avLst/>
          </a:prstGeom>
          <a:noFill/>
        </p:spPr>
        <p:txBody>
          <a:bodyPr wrap="square" lIns="0" rIns="0" tIns="0" bIns="0">
            <a:spAutoFit/>
          </a:bodyPr>
          <a:lstStyle/>
          <a:p>
            <a:pPr>
              <a:spcAft>
                <a:spcPts val="500"/>
              </a:spcAft>
              <a:defRPr sz="2300" b="1">
                <a:solidFill>
                  <a:srgbClr val="285180"/>
                </a:solidFill>
                <a:latin typeface="Arial"/>
              </a:defRPr>
            </a:pPr>
            <a:r>
              <a:t>32 CM regulons</a:t>
            </a:r>
          </a:p>
          <a:p>
            <a:pPr>
              <a:spcAft>
                <a:spcPts val="500"/>
              </a:spcAft>
              <a:defRPr sz="2300" b="1">
                <a:solidFill>
                  <a:srgbClr val="285180"/>
                </a:solidFill>
                <a:latin typeface="Arial"/>
              </a:defRPr>
            </a:pPr>
          </a:p>
          <a:p>
            <a:pPr>
              <a:spcAft>
                <a:spcPts val="500"/>
              </a:spcAft>
              <a:defRPr sz="2300" b="1">
                <a:solidFill>
                  <a:srgbClr val="285180"/>
                </a:solidFill>
                <a:latin typeface="Arial"/>
              </a:defRPr>
            </a:pPr>
            <a:r>
              <a:t>7 previously linked</a:t>
            </a:r>
          </a:p>
          <a:p>
            <a:pPr>
              <a:spcAft>
                <a:spcPts val="500"/>
              </a:spcAft>
              <a:defRPr sz="2300" b="1">
                <a:solidFill>
                  <a:srgbClr val="285180"/>
                </a:solidFill>
                <a:latin typeface="Arial"/>
              </a:defRPr>
            </a:pPr>
            <a:r>
              <a:t>25 candidates</a:t>
            </a:r>
          </a:p>
        </p:txBody>
      </p:sp>
      <p:sp>
        <p:nvSpPr>
          <p:cNvPr id="5" name="TextBox 4"/>
          <p:cNvSpPr txBox="1"/>
          <p:nvPr/>
        </p:nvSpPr>
        <p:spPr>
          <a:xfrm>
            <a:off x="594360" y="6254496"/>
            <a:ext cx="11000232" cy="320040"/>
          </a:xfrm>
          <a:prstGeom prst="rect">
            <a:avLst/>
          </a:prstGeom>
          <a:noFill/>
        </p:spPr>
        <p:txBody>
          <a:bodyPr wrap="square" lIns="0" rIns="0" tIns="0" bIns="0">
            <a:spAutoFit/>
          </a:bodyPr>
          <a:lstStyle/>
          <a:p>
            <a:pPr algn="ctr">
              <a:lnSpc>
                <a:spcPts val="1600"/>
              </a:lnSpc>
              <a:spcAft>
                <a:spcPts val="0"/>
              </a:spcAft>
              <a:defRPr sz="1500" b="1">
                <a:solidFill>
                  <a:srgbClr val="285180"/>
                </a:solidFill>
                <a:latin typeface="Arial"/>
              </a:defRPr>
            </a:pPr>
            <a:r>
              <a:t>32 CM-specific regulons include 7 previously linked and 25 candidate maturation regulators.</a:t>
            </a:r>
          </a:p>
        </p:txBody>
      </p:sp>
      <p:sp>
        <p:nvSpPr>
          <p:cNvPr id="6" name="TextBox 5"/>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5d</a:t>
            </a:r>
          </a:p>
        </p:txBody>
      </p:sp>
    </p:spTree>
    <p:extLst>
      <p:ext uri="{BB962C8B-B14F-4D97-AF65-F5344CB8AC3E}">
        <p14:creationId xmlns:p14="http://schemas.microsoft.com/office/powerpoint/2010/main" val="30724633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D00DA1-A093-52C0-37B8-03F4B04C0E9E}"/>
              </a:ext>
            </a:extLst>
          </p:cNvPr>
          <p:cNvSpPr>
            <a:spLocks noGrp="1"/>
          </p:cNvSpPr>
          <p:nvPr>
            <p:ph type="title"/>
          </p:nvPr>
        </p:nvSpPr>
        <p:spPr>
          <a:xfrm>
            <a:off x="411480" y="749808"/>
            <a:ext cx="11365992" cy="658368"/>
          </a:xfrm>
        </p:spPr>
        <p:txBody>
          <a:bodyPr wrap="square" tIns="0" bIns="0"/>
          <a:lstStyle/>
          <a:p>
            <a:pPr algn="ctr">
              <a:defRPr sz="2600" b="1">
                <a:solidFill>
                  <a:srgbClr val="285180"/>
                </a:solidFill>
                <a:latin typeface="Arial"/>
              </a:defRPr>
            </a:pPr>
            <a:r>
              <a:t>The atlas nominates regulators that now require in vivo tests</a:t>
            </a:r>
            <a:endParaRPr lang="en-US" sz="3200" dirty="0">
              <a:effectLst/>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5967B174-7CD0-5269-3E85-B2F30A1F2154}"/>
              </a:ext>
            </a:extLst>
          </p:cNvPr>
          <p:cNvSpPr txBox="1"/>
          <p:nvPr/>
        </p:nvSpPr>
        <p:spPr>
          <a:xfrm>
            <a:off x="1341916" y="5542499"/>
            <a:ext cx="9230928" cy="830997"/>
          </a:xfrm>
          <a:prstGeom prst="rect">
            <a:avLst/>
          </a:prstGeom>
          <a:noFill/>
        </p:spPr>
        <p:txBody>
          <a:bodyPr wrap="square">
            <a:spAutoFit/>
          </a:bodyPr>
          <a:lstStyle/>
          <a:p>
            <a:pPr algn="ctr"/>
            <a:r>
              <a:rPr lang="en-US" sz="2400" dirty="0">
                <a:latin typeface="Arial" panose="020B0604020202020204" pitchFamily="34" charset="0"/>
                <a:cs typeface="Arial" panose="020B0604020202020204" pitchFamily="34" charset="0"/>
              </a:rPr>
              <a:t>How can we test the functions of uncharacterized regulators efficiently and directly </a:t>
            </a:r>
            <a:r>
              <a:rPr lang="en-US" sz="2400" i="1" dirty="0">
                <a:latin typeface="Arial" panose="020B0604020202020204" pitchFamily="34" charset="0"/>
                <a:cs typeface="Arial" panose="020B0604020202020204" pitchFamily="34" charset="0"/>
              </a:rPr>
              <a:t>in vivo</a:t>
            </a:r>
            <a:r>
              <a:rPr lang="en-US" sz="2400" dirty="0">
                <a:latin typeface="Arial" panose="020B0604020202020204" pitchFamily="34" charset="0"/>
                <a:cs typeface="Arial" panose="020B0604020202020204" pitchFamily="34" charset="0"/>
              </a:rPr>
              <a:t>?</a:t>
            </a:r>
          </a:p>
        </p:txBody>
      </p:sp>
      <p:pic>
        <p:nvPicPr>
          <p:cNvPr id="6" name="Picture 5">
            <a:extLst>
              <a:ext uri="{FF2B5EF4-FFF2-40B4-BE49-F238E27FC236}">
                <a16:creationId xmlns:a16="http://schemas.microsoft.com/office/drawing/2014/main" id="{79244181-04BC-F361-9944-72DA062C4BE1}"/>
              </a:ext>
            </a:extLst>
          </p:cNvPr>
          <p:cNvPicPr>
            <a:picLocks noChangeAspect="1"/>
          </p:cNvPicPr>
          <p:nvPr/>
        </p:nvPicPr>
        <p:blipFill>
          <a:blip r:embed="rId3"/>
          <a:stretch>
            <a:fillRect/>
          </a:stretch>
        </p:blipFill>
        <p:spPr>
          <a:xfrm>
            <a:off x="5768195" y="1756811"/>
            <a:ext cx="5829445" cy="3706105"/>
          </a:xfrm>
          <a:prstGeom prst="rect">
            <a:avLst/>
          </a:prstGeom>
        </p:spPr>
      </p:pic>
      <p:pic>
        <p:nvPicPr>
          <p:cNvPr id="7" name="Picture 6">
            <a:extLst>
              <a:ext uri="{FF2B5EF4-FFF2-40B4-BE49-F238E27FC236}">
                <a16:creationId xmlns:a16="http://schemas.microsoft.com/office/drawing/2014/main" id="{CB9D7ABB-0A59-DD7B-6C2B-268B7E85C05E}"/>
              </a:ext>
            </a:extLst>
          </p:cNvPr>
          <p:cNvPicPr>
            <a:picLocks noChangeAspect="1"/>
          </p:cNvPicPr>
          <p:nvPr/>
        </p:nvPicPr>
        <p:blipFill>
          <a:blip r:embed="rId4"/>
          <a:stretch>
            <a:fillRect/>
          </a:stretch>
        </p:blipFill>
        <p:spPr>
          <a:xfrm>
            <a:off x="1144846" y="1652812"/>
            <a:ext cx="4158895" cy="3867312"/>
          </a:xfrm>
          <a:prstGeom prst="rect">
            <a:avLst/>
          </a:prstGeom>
        </p:spPr>
      </p:pic>
      <p:sp>
        <p:nvSpPr>
          <p:cNvPr id="8" name="TextBox 7"/>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4–5; original candidate overview</a:t>
            </a:r>
          </a:p>
        </p:txBody>
      </p:sp>
    </p:spTree>
    <p:extLst>
      <p:ext uri="{BB962C8B-B14F-4D97-AF65-F5344CB8AC3E}">
        <p14:creationId xmlns:p14="http://schemas.microsoft.com/office/powerpoint/2010/main" val="3901004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F33DBB-E555-39A0-5D65-B4AB2BC18803}"/>
              </a:ext>
            </a:extLst>
          </p:cNvPr>
          <p:cNvSpPr>
            <a:spLocks noGrp="1"/>
          </p:cNvSpPr>
          <p:nvPr>
            <p:ph type="title"/>
          </p:nvPr>
        </p:nvSpPr>
        <p:spPr>
          <a:xfrm>
            <a:off x="411480" y="749808"/>
            <a:ext cx="11365992" cy="658368"/>
          </a:xfrm>
        </p:spPr>
        <p:txBody>
          <a:bodyPr wrap="square" tIns="0" bIns="0"/>
          <a:lstStyle/>
          <a:p>
            <a:pPr algn="ctr">
              <a:defRPr sz="2600" b="1">
                <a:solidFill>
                  <a:srgbClr val="285180"/>
                </a:solidFill>
                <a:latin typeface="Arial"/>
              </a:defRPr>
            </a:pPr>
            <a:r>
              <a:t>Pooled perturbation links gene identity to an RNA phenotype</a:t>
            </a:r>
          </a:p>
        </p:txBody>
      </p:sp>
      <p:sp>
        <p:nvSpPr>
          <p:cNvPr id="7" name="TextBox 6">
            <a:extLst>
              <a:ext uri="{FF2B5EF4-FFF2-40B4-BE49-F238E27FC236}">
                <a16:creationId xmlns:a16="http://schemas.microsoft.com/office/drawing/2014/main" id="{1091C049-1AE8-86E7-0B18-BDB9C57ED11D}"/>
              </a:ext>
            </a:extLst>
          </p:cNvPr>
          <p:cNvSpPr txBox="1"/>
          <p:nvPr/>
        </p:nvSpPr>
        <p:spPr>
          <a:xfrm>
            <a:off x="8382000" y="2253834"/>
            <a:ext cx="3482043" cy="1077218"/>
          </a:xfrm>
          <a:prstGeom prst="rect">
            <a:avLst/>
          </a:prstGeom>
          <a:noFill/>
        </p:spPr>
        <p:txBody>
          <a:bodyPr wrap="none" rtlCol="0">
            <a:spAutoFit/>
          </a:bodyPr>
          <a:lstStyle/>
          <a:p>
            <a:r>
              <a:rPr lang="en-US" sz="1600" b="1" dirty="0"/>
              <a:t>Application: </a:t>
            </a:r>
          </a:p>
          <a:p>
            <a:r>
              <a:rPr lang="en-US" sz="1600" b="1" dirty="0">
                <a:solidFill>
                  <a:srgbClr val="0070C0"/>
                </a:solidFill>
              </a:rPr>
              <a:t>discovery of gene function </a:t>
            </a:r>
          </a:p>
          <a:p>
            <a:r>
              <a:rPr lang="en-US" sz="1600" b="1" dirty="0">
                <a:solidFill>
                  <a:srgbClr val="7030A0"/>
                </a:solidFill>
              </a:rPr>
              <a:t>mapping transcriptional networks</a:t>
            </a:r>
          </a:p>
          <a:p>
            <a:r>
              <a:rPr lang="en-US" sz="1600" b="1" dirty="0">
                <a:solidFill>
                  <a:srgbClr val="00B050"/>
                </a:solidFill>
              </a:rPr>
              <a:t>dissection of genetic interaction</a:t>
            </a:r>
          </a:p>
        </p:txBody>
      </p:sp>
      <p:pic>
        <p:nvPicPr>
          <p:cNvPr id="26" name="Picture 25">
            <a:extLst>
              <a:ext uri="{FF2B5EF4-FFF2-40B4-BE49-F238E27FC236}">
                <a16:creationId xmlns:a16="http://schemas.microsoft.com/office/drawing/2014/main" id="{40E47649-1213-F712-04F5-D94AC8D4938A}"/>
              </a:ext>
            </a:extLst>
          </p:cNvPr>
          <p:cNvPicPr>
            <a:picLocks noChangeAspect="1"/>
          </p:cNvPicPr>
          <p:nvPr/>
        </p:nvPicPr>
        <p:blipFill>
          <a:blip r:embed="rId3"/>
          <a:stretch>
            <a:fillRect/>
          </a:stretch>
        </p:blipFill>
        <p:spPr>
          <a:xfrm>
            <a:off x="508000" y="1987388"/>
            <a:ext cx="7506116" cy="1761655"/>
          </a:xfrm>
          <a:prstGeom prst="rect">
            <a:avLst/>
          </a:prstGeom>
        </p:spPr>
      </p:pic>
      <p:grpSp>
        <p:nvGrpSpPr>
          <p:cNvPr id="33" name="Group 32">
            <a:extLst>
              <a:ext uri="{FF2B5EF4-FFF2-40B4-BE49-F238E27FC236}">
                <a16:creationId xmlns:a16="http://schemas.microsoft.com/office/drawing/2014/main" id="{69BC8E16-0DAB-31DF-5BA2-22B9B424F260}"/>
              </a:ext>
            </a:extLst>
          </p:cNvPr>
          <p:cNvGrpSpPr/>
          <p:nvPr/>
        </p:nvGrpSpPr>
        <p:grpSpPr>
          <a:xfrm>
            <a:off x="650282" y="4042531"/>
            <a:ext cx="10891435" cy="2206115"/>
            <a:chOff x="650282" y="4042531"/>
            <a:chExt cx="10891435" cy="2206115"/>
          </a:xfrm>
        </p:grpSpPr>
        <p:pic>
          <p:nvPicPr>
            <p:cNvPr id="31" name="Picture 30" descr="A close-up of a diagram&#10;&#10;AI-generated content may be incorrect.">
              <a:extLst>
                <a:ext uri="{FF2B5EF4-FFF2-40B4-BE49-F238E27FC236}">
                  <a16:creationId xmlns:a16="http://schemas.microsoft.com/office/drawing/2014/main" id="{560CA2FD-DB72-B9AF-41EA-9795BF11A592}"/>
                </a:ext>
              </a:extLst>
            </p:cNvPr>
            <p:cNvPicPr>
              <a:picLocks noChangeAspect="1"/>
            </p:cNvPicPr>
            <p:nvPr/>
          </p:nvPicPr>
          <p:blipFill>
            <a:blip r:embed="rId4">
              <a:extLst>
                <a:ext uri="{28A0092B-C50C-407E-A947-70E740481C1C}">
                  <a14:useLocalDpi xmlns:a14="http://schemas.microsoft.com/office/drawing/2010/main" val="0"/>
                </a:ext>
              </a:extLst>
            </a:blip>
            <a:srcRect b="79354"/>
            <a:stretch>
              <a:fillRect/>
            </a:stretch>
          </p:blipFill>
          <p:spPr>
            <a:xfrm>
              <a:off x="650282" y="4042531"/>
              <a:ext cx="10891435" cy="2206115"/>
            </a:xfrm>
            <a:prstGeom prst="rect">
              <a:avLst/>
            </a:prstGeom>
          </p:spPr>
        </p:pic>
        <p:sp>
          <p:nvSpPr>
            <p:cNvPr id="32" name="Rectangle 31">
              <a:extLst>
                <a:ext uri="{FF2B5EF4-FFF2-40B4-BE49-F238E27FC236}">
                  <a16:creationId xmlns:a16="http://schemas.microsoft.com/office/drawing/2014/main" id="{88330390-4B85-EAAB-BA3D-FAFA0BECF0B2}"/>
                </a:ext>
              </a:extLst>
            </p:cNvPr>
            <p:cNvSpPr/>
            <p:nvPr/>
          </p:nvSpPr>
          <p:spPr>
            <a:xfrm>
              <a:off x="650282" y="4042531"/>
              <a:ext cx="187918" cy="30086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TextBox 33"/>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Original Perturb-seq background; paper Introduction</a:t>
            </a:r>
          </a:p>
        </p:txBody>
      </p:sp>
    </p:spTree>
    <p:extLst>
      <p:ext uri="{BB962C8B-B14F-4D97-AF65-F5344CB8AC3E}">
        <p14:creationId xmlns:p14="http://schemas.microsoft.com/office/powerpoint/2010/main" val="23076101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E2825113-53A7-9A30-F7E0-39D8BB0EBE21}"/>
              </a:ext>
            </a:extLst>
          </p:cNvPr>
          <p:cNvGrpSpPr/>
          <p:nvPr/>
        </p:nvGrpSpPr>
        <p:grpSpPr>
          <a:xfrm>
            <a:off x="6324600" y="1749623"/>
            <a:ext cx="4811671" cy="2365177"/>
            <a:chOff x="6324600" y="1749623"/>
            <a:chExt cx="4811671" cy="2365177"/>
          </a:xfrm>
        </p:grpSpPr>
        <p:sp>
          <p:nvSpPr>
            <p:cNvPr id="25" name="TextBox 24">
              <a:extLst>
                <a:ext uri="{FF2B5EF4-FFF2-40B4-BE49-F238E27FC236}">
                  <a16:creationId xmlns:a16="http://schemas.microsoft.com/office/drawing/2014/main" id="{6559BC47-7330-3918-02BD-5CAA6A5D6187}"/>
                </a:ext>
              </a:extLst>
            </p:cNvPr>
            <p:cNvSpPr txBox="1"/>
            <p:nvPr/>
          </p:nvSpPr>
          <p:spPr>
            <a:xfrm>
              <a:off x="7652287" y="1749623"/>
              <a:ext cx="2218877" cy="307777"/>
            </a:xfrm>
            <a:prstGeom prst="rect">
              <a:avLst/>
            </a:prstGeom>
            <a:noFill/>
          </p:spPr>
          <p:txBody>
            <a:bodyPr wrap="none" rtlCol="0">
              <a:spAutoFit/>
            </a:bodyPr>
            <a:lstStyle/>
            <a:p>
              <a:r>
                <a:rPr lang="en-US" altLang="zh-CN" sz="1400" b="1" dirty="0">
                  <a:solidFill>
                    <a:srgbClr val="FF0000"/>
                  </a:solidFill>
                  <a:latin typeface="Arial" panose="020B0604020202020204" pitchFamily="34" charset="0"/>
                  <a:cs typeface="Arial" panose="020B0604020202020204" pitchFamily="34" charset="0"/>
                </a:rPr>
                <a:t>ACTN2</a:t>
              </a:r>
              <a:r>
                <a:rPr lang="en-US" altLang="zh-CN" sz="1400" b="1" dirty="0">
                  <a:latin typeface="Arial" panose="020B0604020202020204" pitchFamily="34" charset="0"/>
                  <a:cs typeface="Arial" panose="020B0604020202020204" pitchFamily="34" charset="0"/>
                </a:rPr>
                <a:t>/</a:t>
              </a:r>
              <a:r>
                <a:rPr lang="en-US" altLang="zh-CN" sz="1400" b="1" dirty="0">
                  <a:solidFill>
                    <a:srgbClr val="92D050"/>
                  </a:solidFill>
                  <a:latin typeface="Arial" panose="020B0604020202020204" pitchFamily="34" charset="0"/>
                  <a:cs typeface="Arial" panose="020B0604020202020204" pitchFamily="34" charset="0"/>
                </a:rPr>
                <a:t>SUN1-GFP</a:t>
              </a:r>
              <a:r>
                <a:rPr lang="en-US" altLang="zh-CN" sz="1400" b="1" dirty="0">
                  <a:latin typeface="Arial" panose="020B0604020202020204" pitchFamily="34" charset="0"/>
                  <a:cs typeface="Arial" panose="020B0604020202020204" pitchFamily="34" charset="0"/>
                </a:rPr>
                <a:t>/</a:t>
              </a:r>
              <a:r>
                <a:rPr lang="en-US" altLang="zh-CN" sz="1400" b="1" dirty="0">
                  <a:solidFill>
                    <a:srgbClr val="0070C0"/>
                  </a:solidFill>
                  <a:latin typeface="Arial" panose="020B0604020202020204" pitchFamily="34" charset="0"/>
                  <a:cs typeface="Arial" panose="020B0604020202020204" pitchFamily="34" charset="0"/>
                </a:rPr>
                <a:t>DAPI</a:t>
              </a:r>
              <a:endParaRPr lang="en-US" sz="1400" b="1" dirty="0">
                <a:solidFill>
                  <a:srgbClr val="0070C0"/>
                </a:solidFill>
                <a:latin typeface="Arial" panose="020B0604020202020204" pitchFamily="34" charset="0"/>
                <a:cs typeface="Arial" panose="020B0604020202020204" pitchFamily="34" charset="0"/>
              </a:endParaRPr>
            </a:p>
          </p:txBody>
        </p:sp>
        <p:grpSp>
          <p:nvGrpSpPr>
            <p:cNvPr id="30" name="Group 29">
              <a:extLst>
                <a:ext uri="{FF2B5EF4-FFF2-40B4-BE49-F238E27FC236}">
                  <a16:creationId xmlns:a16="http://schemas.microsoft.com/office/drawing/2014/main" id="{E1A017A1-CDB3-F437-DAA7-4A7BDFBA00B4}"/>
                </a:ext>
              </a:extLst>
            </p:cNvPr>
            <p:cNvGrpSpPr/>
            <p:nvPr/>
          </p:nvGrpSpPr>
          <p:grpSpPr>
            <a:xfrm>
              <a:off x="6324600" y="2057692"/>
              <a:ext cx="4811671" cy="2057108"/>
              <a:chOff x="6338953" y="5582160"/>
              <a:chExt cx="4811671" cy="2057108"/>
            </a:xfrm>
          </p:grpSpPr>
          <p:pic>
            <p:nvPicPr>
              <p:cNvPr id="24" name="Picture 23">
                <a:extLst>
                  <a:ext uri="{FF2B5EF4-FFF2-40B4-BE49-F238E27FC236}">
                    <a16:creationId xmlns:a16="http://schemas.microsoft.com/office/drawing/2014/main" id="{22D0010F-4C38-CF39-3360-98107CB699A5}"/>
                  </a:ext>
                </a:extLst>
              </p:cNvPr>
              <p:cNvPicPr>
                <a:picLocks noChangeAspect="1"/>
              </p:cNvPicPr>
              <p:nvPr/>
            </p:nvPicPr>
            <p:blipFill>
              <a:blip r:embed="rId3"/>
              <a:srcRect/>
              <a:stretch/>
            </p:blipFill>
            <p:spPr>
              <a:xfrm>
                <a:off x="8401905" y="5587628"/>
                <a:ext cx="2748719" cy="2043753"/>
              </a:xfrm>
              <a:prstGeom prst="rect">
                <a:avLst/>
              </a:prstGeom>
            </p:spPr>
          </p:pic>
          <p:grpSp>
            <p:nvGrpSpPr>
              <p:cNvPr id="19" name="Group 18">
                <a:extLst>
                  <a:ext uri="{FF2B5EF4-FFF2-40B4-BE49-F238E27FC236}">
                    <a16:creationId xmlns:a16="http://schemas.microsoft.com/office/drawing/2014/main" id="{B561B35D-814B-0A18-1630-489D248113BB}"/>
                  </a:ext>
                </a:extLst>
              </p:cNvPr>
              <p:cNvGrpSpPr/>
              <p:nvPr/>
            </p:nvGrpSpPr>
            <p:grpSpPr>
              <a:xfrm>
                <a:off x="6338953" y="5582160"/>
                <a:ext cx="2437126" cy="2057108"/>
                <a:chOff x="215746" y="2398254"/>
                <a:chExt cx="2437126" cy="2057108"/>
              </a:xfrm>
            </p:grpSpPr>
            <p:pic>
              <p:nvPicPr>
                <p:cNvPr id="20" name="Picture 19">
                  <a:extLst>
                    <a:ext uri="{FF2B5EF4-FFF2-40B4-BE49-F238E27FC236}">
                      <a16:creationId xmlns:a16="http://schemas.microsoft.com/office/drawing/2014/main" id="{60E0217F-441E-6DA9-9DB1-3B046DA6948E}"/>
                    </a:ext>
                  </a:extLst>
                </p:cNvPr>
                <p:cNvPicPr>
                  <a:picLocks noChangeAspect="1"/>
                </p:cNvPicPr>
                <p:nvPr/>
              </p:nvPicPr>
              <p:blipFill>
                <a:blip r:embed="rId4"/>
                <a:stretch>
                  <a:fillRect/>
                </a:stretch>
              </p:blipFill>
              <p:spPr>
                <a:xfrm>
                  <a:off x="215746" y="2398254"/>
                  <a:ext cx="2024031" cy="2053154"/>
                </a:xfrm>
                <a:prstGeom prst="rect">
                  <a:avLst/>
                </a:prstGeom>
              </p:spPr>
            </p:pic>
            <p:sp>
              <p:nvSpPr>
                <p:cNvPr id="21" name="Rectangle 20">
                  <a:extLst>
                    <a:ext uri="{FF2B5EF4-FFF2-40B4-BE49-F238E27FC236}">
                      <a16:creationId xmlns:a16="http://schemas.microsoft.com/office/drawing/2014/main" id="{656C0C49-7D4E-34E9-A3A7-DD975F713182}"/>
                    </a:ext>
                  </a:extLst>
                </p:cNvPr>
                <p:cNvSpPr/>
                <p:nvPr/>
              </p:nvSpPr>
              <p:spPr>
                <a:xfrm>
                  <a:off x="2290208" y="3989001"/>
                  <a:ext cx="362664" cy="331720"/>
                </a:xfrm>
                <a:prstGeom prst="rect">
                  <a:avLst/>
                </a:pr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Connector 21">
                  <a:extLst>
                    <a:ext uri="{FF2B5EF4-FFF2-40B4-BE49-F238E27FC236}">
                      <a16:creationId xmlns:a16="http://schemas.microsoft.com/office/drawing/2014/main" id="{67426CEE-254B-E158-0587-85816DDA8FEB}"/>
                    </a:ext>
                  </a:extLst>
                </p:cNvPr>
                <p:cNvCxnSpPr>
                  <a:cxnSpLocks/>
                </p:cNvCxnSpPr>
                <p:nvPr/>
              </p:nvCxnSpPr>
              <p:spPr>
                <a:xfrm flipH="1" flipV="1">
                  <a:off x="2224568" y="2398254"/>
                  <a:ext cx="65640" cy="159074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DD351D3-1774-0D14-B5D1-2FCF53548215}"/>
                    </a:ext>
                  </a:extLst>
                </p:cNvPr>
                <p:cNvCxnSpPr>
                  <a:cxnSpLocks/>
                </p:cNvCxnSpPr>
                <p:nvPr/>
              </p:nvCxnSpPr>
              <p:spPr>
                <a:xfrm flipH="1">
                  <a:off x="2224568" y="4316403"/>
                  <a:ext cx="65640" cy="138959"/>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grpSp>
      </p:grpSp>
      <p:sp>
        <p:nvSpPr>
          <p:cNvPr id="10" name="Title 9">
            <a:extLst>
              <a:ext uri="{FF2B5EF4-FFF2-40B4-BE49-F238E27FC236}">
                <a16:creationId xmlns:a16="http://schemas.microsoft.com/office/drawing/2014/main" id="{E2084073-06B8-72DB-60A7-EF5BCE816530}"/>
              </a:ext>
            </a:extLst>
          </p:cNvPr>
          <p:cNvSpPr>
            <a:spLocks noGrp="1"/>
          </p:cNvSpPr>
          <p:nvPr>
            <p:ph type="title"/>
          </p:nvPr>
        </p:nvSpPr>
        <p:spPr>
          <a:xfrm>
            <a:off x="411480" y="749808"/>
            <a:ext cx="11365992" cy="658368"/>
          </a:xfrm>
        </p:spPr>
        <p:txBody>
          <a:bodyPr wrap="square" tIns="0" bIns="0"/>
          <a:lstStyle/>
          <a:p>
            <a:pPr algn="ctr">
              <a:defRPr sz="2600" b="1">
                <a:solidFill>
                  <a:srgbClr val="285180"/>
                </a:solidFill>
                <a:latin typeface="Arial"/>
              </a:defRPr>
            </a:pPr>
            <a:r>
              <a:t>PIP-seq tests candidate regulators within the postnatal heart</a:t>
            </a:r>
            <a:endParaRPr lang="en-US" sz="3200" dirty="0"/>
          </a:p>
        </p:txBody>
      </p:sp>
      <p:grpSp>
        <p:nvGrpSpPr>
          <p:cNvPr id="4" name="Group 3">
            <a:extLst>
              <a:ext uri="{FF2B5EF4-FFF2-40B4-BE49-F238E27FC236}">
                <a16:creationId xmlns:a16="http://schemas.microsoft.com/office/drawing/2014/main" id="{D8DDDB41-BDC4-D85E-40F3-2DE3E03B7647}"/>
              </a:ext>
            </a:extLst>
          </p:cNvPr>
          <p:cNvGrpSpPr/>
          <p:nvPr/>
        </p:nvGrpSpPr>
        <p:grpSpPr>
          <a:xfrm>
            <a:off x="452531" y="2304645"/>
            <a:ext cx="5036264" cy="3024403"/>
            <a:chOff x="644611" y="4419600"/>
            <a:chExt cx="4369700" cy="2362200"/>
          </a:xfrm>
        </p:grpSpPr>
        <p:pic>
          <p:nvPicPr>
            <p:cNvPr id="29" name="Picture 28">
              <a:extLst>
                <a:ext uri="{FF2B5EF4-FFF2-40B4-BE49-F238E27FC236}">
                  <a16:creationId xmlns:a16="http://schemas.microsoft.com/office/drawing/2014/main" id="{E261BEFA-C4B4-EF6B-8937-3C70484F5389}"/>
                </a:ext>
              </a:extLst>
            </p:cNvPr>
            <p:cNvPicPr>
              <a:picLocks noChangeAspect="1"/>
            </p:cNvPicPr>
            <p:nvPr/>
          </p:nvPicPr>
          <p:blipFill>
            <a:blip r:embed="rId5"/>
            <a:srcRect t="11034" r="17321" b="64605"/>
            <a:stretch/>
          </p:blipFill>
          <p:spPr>
            <a:xfrm>
              <a:off x="644611" y="4419600"/>
              <a:ext cx="3606800" cy="457200"/>
            </a:xfrm>
            <a:prstGeom prst="rect">
              <a:avLst/>
            </a:prstGeom>
          </p:spPr>
        </p:pic>
        <p:pic>
          <p:nvPicPr>
            <p:cNvPr id="27" name="Picture 26">
              <a:extLst>
                <a:ext uri="{FF2B5EF4-FFF2-40B4-BE49-F238E27FC236}">
                  <a16:creationId xmlns:a16="http://schemas.microsoft.com/office/drawing/2014/main" id="{3766F6F7-3DAA-5FA4-2576-52EDF7A2113B}"/>
                </a:ext>
              </a:extLst>
            </p:cNvPr>
            <p:cNvPicPr>
              <a:picLocks noChangeAspect="1"/>
            </p:cNvPicPr>
            <p:nvPr/>
          </p:nvPicPr>
          <p:blipFill>
            <a:blip r:embed="rId5"/>
            <a:srcRect t="33697" b="19455"/>
            <a:stretch/>
          </p:blipFill>
          <p:spPr>
            <a:xfrm>
              <a:off x="644611" y="5445704"/>
              <a:ext cx="4362451" cy="879221"/>
            </a:xfrm>
            <a:prstGeom prst="rect">
              <a:avLst/>
            </a:prstGeom>
          </p:spPr>
        </p:pic>
        <p:sp>
          <p:nvSpPr>
            <p:cNvPr id="31" name="TextBox 30">
              <a:extLst>
                <a:ext uri="{FF2B5EF4-FFF2-40B4-BE49-F238E27FC236}">
                  <a16:creationId xmlns:a16="http://schemas.microsoft.com/office/drawing/2014/main" id="{888E7D37-A046-4D72-69FD-4E2805E9D2C0}"/>
                </a:ext>
              </a:extLst>
            </p:cNvPr>
            <p:cNvSpPr txBox="1"/>
            <p:nvPr/>
          </p:nvSpPr>
          <p:spPr>
            <a:xfrm>
              <a:off x="1391419" y="4909528"/>
              <a:ext cx="2252348" cy="461665"/>
            </a:xfrm>
            <a:prstGeom prst="rect">
              <a:avLst/>
            </a:prstGeom>
            <a:noFill/>
          </p:spPr>
          <p:txBody>
            <a:bodyPr wrap="none" rtlCol="0">
              <a:spAutoFit/>
            </a:bodyPr>
            <a:lstStyle/>
            <a:p>
              <a:pPr algn="ctr"/>
              <a:r>
                <a:rPr lang="en-US" altLang="zh-CN" sz="1200" b="1" dirty="0">
                  <a:latin typeface="+mj-lt"/>
                  <a:cs typeface="Arial" panose="020B0604020202020204" pitchFamily="34" charset="0"/>
                </a:rPr>
                <a:t>AAV9</a:t>
              </a:r>
              <a:r>
                <a:rPr lang="zh-CN" altLang="en-US" sz="1200" b="1" dirty="0">
                  <a:latin typeface="+mj-lt"/>
                  <a:cs typeface="Arial" panose="020B0604020202020204" pitchFamily="34" charset="0"/>
                </a:rPr>
                <a:t> </a:t>
              </a:r>
              <a:r>
                <a:rPr lang="en-US" altLang="zh-CN" sz="1200" b="1" dirty="0">
                  <a:latin typeface="+mj-lt"/>
                  <a:cs typeface="Arial" panose="020B0604020202020204" pitchFamily="34" charset="0"/>
                </a:rPr>
                <a:t>with</a:t>
              </a:r>
              <a:r>
                <a:rPr lang="zh-CN" altLang="en-US" sz="1200" b="1" dirty="0">
                  <a:latin typeface="+mj-lt"/>
                  <a:cs typeface="Arial" panose="020B0604020202020204" pitchFamily="34" charset="0"/>
                </a:rPr>
                <a:t> </a:t>
              </a:r>
              <a:r>
                <a:rPr lang="en-US" altLang="zh-CN" sz="1200" b="1" dirty="0">
                  <a:latin typeface="+mj-lt"/>
                  <a:cs typeface="Arial" panose="020B0604020202020204" pitchFamily="34" charset="0"/>
                </a:rPr>
                <a:t>dual</a:t>
              </a:r>
              <a:r>
                <a:rPr lang="zh-CN" altLang="en-US" sz="1200" b="1" dirty="0">
                  <a:latin typeface="+mj-lt"/>
                  <a:cs typeface="Arial" panose="020B0604020202020204" pitchFamily="34" charset="0"/>
                </a:rPr>
                <a:t> </a:t>
              </a:r>
              <a:r>
                <a:rPr lang="en-US" altLang="zh-CN" sz="1200" b="1" dirty="0">
                  <a:latin typeface="+mj-lt"/>
                  <a:cs typeface="Arial" panose="020B0604020202020204" pitchFamily="34" charset="0"/>
                </a:rPr>
                <a:t>sgRNAs</a:t>
              </a:r>
              <a:r>
                <a:rPr lang="zh-CN" altLang="en-US" sz="1200" b="1" dirty="0">
                  <a:latin typeface="+mj-lt"/>
                  <a:cs typeface="Arial" panose="020B0604020202020204" pitchFamily="34" charset="0"/>
                </a:rPr>
                <a:t> </a:t>
              </a:r>
              <a:r>
                <a:rPr lang="en-US" altLang="zh-CN" sz="1200" b="1" dirty="0">
                  <a:latin typeface="+mj-lt"/>
                  <a:cs typeface="Arial" panose="020B0604020202020204" pitchFamily="34" charset="0"/>
                </a:rPr>
                <a:t>and</a:t>
              </a:r>
            </a:p>
            <a:p>
              <a:pPr algn="ctr"/>
              <a:r>
                <a:rPr lang="en-US" altLang="zh-CN" sz="1200" b="1" dirty="0">
                  <a:latin typeface="+mj-lt"/>
                  <a:cs typeface="Arial" panose="020B0604020202020204" pitchFamily="34" charset="0"/>
                </a:rPr>
                <a:t>CM-specific</a:t>
              </a:r>
              <a:r>
                <a:rPr lang="zh-CN" altLang="en-US" sz="1200" b="1" dirty="0">
                  <a:latin typeface="+mj-lt"/>
                  <a:cs typeface="Arial" panose="020B0604020202020204" pitchFamily="34" charset="0"/>
                </a:rPr>
                <a:t> </a:t>
              </a:r>
              <a:r>
                <a:rPr lang="en-US" altLang="zh-CN" sz="1200" b="1" dirty="0">
                  <a:latin typeface="+mj-lt"/>
                  <a:cs typeface="Arial" panose="020B0604020202020204" pitchFamily="34" charset="0"/>
                </a:rPr>
                <a:t>CRE</a:t>
              </a:r>
              <a:endParaRPr lang="en-US" sz="1200" b="1" dirty="0">
                <a:latin typeface="+mj-lt"/>
                <a:cs typeface="Arial" panose="020B0604020202020204" pitchFamily="34" charset="0"/>
              </a:endParaRPr>
            </a:p>
          </p:txBody>
        </p:sp>
        <p:sp>
          <p:nvSpPr>
            <p:cNvPr id="32" name="TextBox 31">
              <a:extLst>
                <a:ext uri="{FF2B5EF4-FFF2-40B4-BE49-F238E27FC236}">
                  <a16:creationId xmlns:a16="http://schemas.microsoft.com/office/drawing/2014/main" id="{6923B34A-6DF5-6A6C-F29A-B8C637F5C662}"/>
                </a:ext>
              </a:extLst>
            </p:cNvPr>
            <p:cNvSpPr txBox="1"/>
            <p:nvPr/>
          </p:nvSpPr>
          <p:spPr>
            <a:xfrm>
              <a:off x="2655973" y="6320135"/>
              <a:ext cx="2358338" cy="461665"/>
            </a:xfrm>
            <a:prstGeom prst="rect">
              <a:avLst/>
            </a:prstGeom>
            <a:noFill/>
          </p:spPr>
          <p:txBody>
            <a:bodyPr wrap="none" rtlCol="0">
              <a:spAutoFit/>
            </a:bodyPr>
            <a:lstStyle/>
            <a:p>
              <a:pPr algn="ctr"/>
              <a:r>
                <a:rPr lang="en-US" altLang="zh-CN" sz="1200" b="1" dirty="0">
                  <a:latin typeface="+mj-lt"/>
                  <a:cs typeface="Arial" panose="020B0604020202020204" pitchFamily="34" charset="0"/>
                </a:rPr>
                <a:t>CM</a:t>
              </a:r>
              <a:r>
                <a:rPr lang="zh-CN" altLang="en-US" sz="1200" b="1" dirty="0">
                  <a:latin typeface="+mj-lt"/>
                  <a:cs typeface="Arial" panose="020B0604020202020204" pitchFamily="34" charset="0"/>
                </a:rPr>
                <a:t> </a:t>
              </a:r>
              <a:r>
                <a:rPr lang="en-US" altLang="zh-CN" sz="1200" b="1" dirty="0">
                  <a:latin typeface="+mj-lt"/>
                  <a:cs typeface="Arial" panose="020B0604020202020204" pitchFamily="34" charset="0"/>
                </a:rPr>
                <a:t>nuclei</a:t>
              </a:r>
              <a:r>
                <a:rPr lang="zh-CN" altLang="en-US" sz="1200" b="1" dirty="0">
                  <a:latin typeface="+mj-lt"/>
                  <a:cs typeface="Arial" panose="020B0604020202020204" pitchFamily="34" charset="0"/>
                </a:rPr>
                <a:t> </a:t>
              </a:r>
              <a:r>
                <a:rPr lang="en-US" altLang="zh-CN" sz="1200" b="1" dirty="0">
                  <a:latin typeface="+mj-lt"/>
                  <a:cs typeface="Arial" panose="020B0604020202020204" pitchFamily="34" charset="0"/>
                </a:rPr>
                <a:t>membrane</a:t>
              </a:r>
              <a:r>
                <a:rPr lang="zh-CN" altLang="en-US" sz="1200" b="1" dirty="0">
                  <a:latin typeface="+mj-lt"/>
                  <a:cs typeface="Arial" panose="020B0604020202020204" pitchFamily="34" charset="0"/>
                </a:rPr>
                <a:t> </a:t>
              </a:r>
              <a:r>
                <a:rPr lang="en-US" altLang="zh-CN" sz="1200" b="1" dirty="0">
                  <a:latin typeface="+mj-lt"/>
                  <a:cs typeface="Arial" panose="020B0604020202020204" pitchFamily="34" charset="0"/>
                </a:rPr>
                <a:t>labeling</a:t>
              </a:r>
            </a:p>
            <a:p>
              <a:pPr algn="ctr"/>
              <a:r>
                <a:rPr lang="en-US" altLang="zh-CN" sz="1200" b="1" dirty="0">
                  <a:latin typeface="+mj-lt"/>
                  <a:cs typeface="Arial" panose="020B0604020202020204" pitchFamily="34" charset="0"/>
                </a:rPr>
                <a:t>of</a:t>
              </a:r>
              <a:r>
                <a:rPr lang="zh-CN" altLang="en-US" sz="1200" b="1" dirty="0">
                  <a:latin typeface="+mj-lt"/>
                  <a:cs typeface="Arial" panose="020B0604020202020204" pitchFamily="34" charset="0"/>
                </a:rPr>
                <a:t> </a:t>
              </a:r>
              <a:r>
                <a:rPr lang="en-US" altLang="zh-CN" sz="1200" b="1" dirty="0">
                  <a:latin typeface="+mj-lt"/>
                  <a:cs typeface="Arial" panose="020B0604020202020204" pitchFamily="34" charset="0"/>
                </a:rPr>
                <a:t>AAV9-infected</a:t>
              </a:r>
              <a:r>
                <a:rPr lang="zh-CN" altLang="en-US" sz="1200" b="1" dirty="0">
                  <a:latin typeface="+mj-lt"/>
                  <a:cs typeface="Arial" panose="020B0604020202020204" pitchFamily="34" charset="0"/>
                </a:rPr>
                <a:t> </a:t>
              </a:r>
              <a:r>
                <a:rPr lang="en-US" altLang="zh-CN" sz="1200" b="1" dirty="0">
                  <a:latin typeface="+mj-lt"/>
                  <a:cs typeface="Arial" panose="020B0604020202020204" pitchFamily="34" charset="0"/>
                </a:rPr>
                <a:t>cells</a:t>
              </a:r>
              <a:r>
                <a:rPr lang="zh-CN" altLang="en-US" sz="1200" b="1" dirty="0">
                  <a:latin typeface="+mj-lt"/>
                  <a:cs typeface="Arial" panose="020B0604020202020204" pitchFamily="34" charset="0"/>
                </a:rPr>
                <a:t>  </a:t>
              </a:r>
              <a:endParaRPr lang="en-US" sz="1200" b="1" dirty="0">
                <a:latin typeface="+mj-lt"/>
                <a:cs typeface="Arial" panose="020B0604020202020204" pitchFamily="34" charset="0"/>
              </a:endParaRPr>
            </a:p>
          </p:txBody>
        </p:sp>
      </p:grpSp>
      <p:grpSp>
        <p:nvGrpSpPr>
          <p:cNvPr id="6" name="Group 5">
            <a:extLst>
              <a:ext uri="{FF2B5EF4-FFF2-40B4-BE49-F238E27FC236}">
                <a16:creationId xmlns:a16="http://schemas.microsoft.com/office/drawing/2014/main" id="{29538119-8A06-0CED-81BC-61074ACA9C4B}"/>
              </a:ext>
            </a:extLst>
          </p:cNvPr>
          <p:cNvGrpSpPr/>
          <p:nvPr/>
        </p:nvGrpSpPr>
        <p:grpSpPr>
          <a:xfrm>
            <a:off x="6130774" y="4312361"/>
            <a:ext cx="5446406" cy="2005037"/>
            <a:chOff x="6130774" y="4312361"/>
            <a:chExt cx="5446406" cy="2005037"/>
          </a:xfrm>
        </p:grpSpPr>
        <p:grpSp>
          <p:nvGrpSpPr>
            <p:cNvPr id="34" name="Group 33">
              <a:extLst>
                <a:ext uri="{FF2B5EF4-FFF2-40B4-BE49-F238E27FC236}">
                  <a16:creationId xmlns:a16="http://schemas.microsoft.com/office/drawing/2014/main" id="{CCA6B1CA-5F6A-CF46-3CB7-C1157270765D}"/>
                </a:ext>
              </a:extLst>
            </p:cNvPr>
            <p:cNvGrpSpPr/>
            <p:nvPr/>
          </p:nvGrpSpPr>
          <p:grpSpPr>
            <a:xfrm>
              <a:off x="8935581" y="5036391"/>
              <a:ext cx="2641599" cy="1107505"/>
              <a:chOff x="9137574" y="4648200"/>
              <a:chExt cx="2285274" cy="956838"/>
            </a:xfrm>
          </p:grpSpPr>
          <p:pic>
            <p:nvPicPr>
              <p:cNvPr id="14" name="Picture Placeholder 6" descr="A screenshot of a computer screen&#10;&#10;Description automatically generated">
                <a:extLst>
                  <a:ext uri="{FF2B5EF4-FFF2-40B4-BE49-F238E27FC236}">
                    <a16:creationId xmlns:a16="http://schemas.microsoft.com/office/drawing/2014/main" id="{9C3699B3-630F-C344-40BB-176F29DAEA13}"/>
                  </a:ext>
                </a:extLst>
              </p:cNvPr>
              <p:cNvPicPr>
                <a:picLocks noChangeAspect="1"/>
              </p:cNvPicPr>
              <p:nvPr/>
            </p:nvPicPr>
            <p:blipFill rotWithShape="1">
              <a:blip r:embed="rId6"/>
              <a:srcRect l="7114" t="67755" r="41139" b="9740"/>
              <a:stretch/>
            </p:blipFill>
            <p:spPr>
              <a:xfrm>
                <a:off x="9546606" y="4966020"/>
                <a:ext cx="1754886" cy="639018"/>
              </a:xfrm>
              <a:prstGeom prst="rect">
                <a:avLst/>
              </a:prstGeom>
            </p:spPr>
          </p:pic>
          <p:pic>
            <p:nvPicPr>
              <p:cNvPr id="16" name="Picture Placeholder 6" descr="A screenshot of a computer screen&#10;&#10;Description automatically generated">
                <a:extLst>
                  <a:ext uri="{FF2B5EF4-FFF2-40B4-BE49-F238E27FC236}">
                    <a16:creationId xmlns:a16="http://schemas.microsoft.com/office/drawing/2014/main" id="{5D8E52C2-43CD-1901-D3E7-8C9D7CE8D800}"/>
                  </a:ext>
                </a:extLst>
              </p:cNvPr>
              <p:cNvPicPr>
                <a:picLocks noChangeAspect="1"/>
              </p:cNvPicPr>
              <p:nvPr/>
            </p:nvPicPr>
            <p:blipFill rotWithShape="1">
              <a:blip r:embed="rId6"/>
              <a:srcRect l="5273" t="47168" r="38379" b="35022"/>
              <a:stretch/>
            </p:blipFill>
            <p:spPr>
              <a:xfrm>
                <a:off x="9511901" y="4648200"/>
                <a:ext cx="1910947" cy="505687"/>
              </a:xfrm>
              <a:prstGeom prst="rect">
                <a:avLst/>
              </a:prstGeom>
            </p:spPr>
          </p:pic>
          <p:sp>
            <p:nvSpPr>
              <p:cNvPr id="17" name="TextBox 16">
                <a:extLst>
                  <a:ext uri="{FF2B5EF4-FFF2-40B4-BE49-F238E27FC236}">
                    <a16:creationId xmlns:a16="http://schemas.microsoft.com/office/drawing/2014/main" id="{0EE1324B-85B7-A0D8-59D8-AB8B202589A2}"/>
                  </a:ext>
                </a:extLst>
              </p:cNvPr>
              <p:cNvSpPr txBox="1"/>
              <p:nvPr/>
            </p:nvSpPr>
            <p:spPr>
              <a:xfrm>
                <a:off x="9139122" y="5356806"/>
                <a:ext cx="359452" cy="239315"/>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KO</a:t>
                </a:r>
              </a:p>
            </p:txBody>
          </p:sp>
          <p:sp>
            <p:nvSpPr>
              <p:cNvPr id="18" name="TextBox 17">
                <a:extLst>
                  <a:ext uri="{FF2B5EF4-FFF2-40B4-BE49-F238E27FC236}">
                    <a16:creationId xmlns:a16="http://schemas.microsoft.com/office/drawing/2014/main" id="{86AAAC41-E034-8F92-03A3-20901D52C745}"/>
                  </a:ext>
                </a:extLst>
              </p:cNvPr>
              <p:cNvSpPr txBox="1"/>
              <p:nvPr/>
            </p:nvSpPr>
            <p:spPr>
              <a:xfrm>
                <a:off x="9137574" y="4886586"/>
                <a:ext cx="367772" cy="239315"/>
              </a:xfrm>
              <a:prstGeom prst="rect">
                <a:avLst/>
              </a:prstGeom>
              <a:noFill/>
            </p:spPr>
            <p:txBody>
              <a:bodyPr wrap="none" rtlCol="0">
                <a:spAutoFit/>
              </a:bodyPr>
              <a:lstStyle/>
              <a:p>
                <a:r>
                  <a:rPr lang="en-US" sz="1200" b="1" dirty="0">
                    <a:latin typeface="Arial" panose="020B0604020202020204" pitchFamily="34" charset="0"/>
                    <a:cs typeface="Arial" panose="020B0604020202020204" pitchFamily="34" charset="0"/>
                  </a:rPr>
                  <a:t>WT</a:t>
                </a:r>
              </a:p>
            </p:txBody>
          </p:sp>
        </p:grpSp>
        <p:sp>
          <p:nvSpPr>
            <p:cNvPr id="26" name="TextBox 25">
              <a:extLst>
                <a:ext uri="{FF2B5EF4-FFF2-40B4-BE49-F238E27FC236}">
                  <a16:creationId xmlns:a16="http://schemas.microsoft.com/office/drawing/2014/main" id="{4FFB815F-4755-FEB2-AC5D-5DFA02943E18}"/>
                </a:ext>
              </a:extLst>
            </p:cNvPr>
            <p:cNvSpPr txBox="1"/>
            <p:nvPr/>
          </p:nvSpPr>
          <p:spPr>
            <a:xfrm>
              <a:off x="9396963" y="4323942"/>
              <a:ext cx="1703145" cy="461665"/>
            </a:xfrm>
            <a:prstGeom prst="rect">
              <a:avLst/>
            </a:prstGeom>
            <a:noFill/>
          </p:spPr>
          <p:txBody>
            <a:bodyPr wrap="square">
              <a:spAutoFit/>
            </a:bodyPr>
            <a:lstStyle/>
            <a:p>
              <a:pPr algn="ctr"/>
              <a:r>
                <a:rPr lang="en-US" sz="1200" b="1" i="0" u="none" strike="noStrike" dirty="0">
                  <a:effectLst/>
                  <a:latin typeface="Arial" panose="020B0604020202020204" pitchFamily="34" charset="0"/>
                  <a:cs typeface="Arial" panose="020B0604020202020204" pitchFamily="34" charset="0"/>
                </a:rPr>
                <a:t>Perturbation</a:t>
              </a:r>
            </a:p>
            <a:p>
              <a:pPr algn="ctr"/>
              <a:r>
                <a:rPr lang="en-US" sz="1200" b="1" i="0" u="none" strike="noStrike" dirty="0">
                  <a:effectLst/>
                  <a:latin typeface="Arial" panose="020B0604020202020204" pitchFamily="34" charset="0"/>
                  <a:cs typeface="Arial" panose="020B0604020202020204" pitchFamily="34" charset="0"/>
                </a:rPr>
                <a:t> detection </a:t>
              </a:r>
              <a:r>
                <a:rPr lang="en-US" sz="1200" b="1" dirty="0">
                  <a:latin typeface="Arial" panose="020B0604020202020204" pitchFamily="34" charset="0"/>
                  <a:cs typeface="Arial" panose="020B0604020202020204" pitchFamily="34" charset="0"/>
                </a:rPr>
                <a:t>probe</a:t>
              </a:r>
              <a:endParaRPr lang="en-US" sz="1200" b="1" i="0" u="none" strike="noStrike" dirty="0">
                <a:effectLst/>
                <a:latin typeface="Arial" panose="020B0604020202020204" pitchFamily="34" charset="0"/>
                <a:cs typeface="Arial" panose="020B0604020202020204" pitchFamily="34" charset="0"/>
              </a:endParaRPr>
            </a:p>
          </p:txBody>
        </p:sp>
        <p:sp>
          <p:nvSpPr>
            <p:cNvPr id="33" name="TextBox 32">
              <a:extLst>
                <a:ext uri="{FF2B5EF4-FFF2-40B4-BE49-F238E27FC236}">
                  <a16:creationId xmlns:a16="http://schemas.microsoft.com/office/drawing/2014/main" id="{47037F7F-A9AA-3C37-52EC-7A9E1B75F62E}"/>
                </a:ext>
              </a:extLst>
            </p:cNvPr>
            <p:cNvSpPr txBox="1"/>
            <p:nvPr/>
          </p:nvSpPr>
          <p:spPr>
            <a:xfrm>
              <a:off x="6336110" y="4312361"/>
              <a:ext cx="2062952" cy="461665"/>
            </a:xfrm>
            <a:prstGeom prst="rect">
              <a:avLst/>
            </a:prstGeom>
            <a:noFill/>
          </p:spPr>
          <p:txBody>
            <a:bodyPr wrap="square">
              <a:spAutoFit/>
            </a:bodyPr>
            <a:lstStyle/>
            <a:p>
              <a:pPr algn="ctr"/>
              <a:r>
                <a:rPr lang="en-US" sz="1200" b="1" i="0" u="none" strike="noStrike" dirty="0">
                  <a:effectLst/>
                  <a:latin typeface="+mn-lt"/>
                  <a:cs typeface="Arial" panose="020B0604020202020204" pitchFamily="34" charset="0"/>
                </a:rPr>
                <a:t>Direc</a:t>
              </a:r>
              <a:r>
                <a:rPr lang="en-US" altLang="zh-CN" sz="1200" b="1" i="0" u="none" strike="noStrike" dirty="0">
                  <a:effectLst/>
                  <a:latin typeface="+mn-lt"/>
                  <a:cs typeface="Arial" panose="020B0604020202020204" pitchFamily="34" charset="0"/>
                </a:rPr>
                <a:t>t</a:t>
              </a:r>
              <a:r>
                <a:rPr lang="zh-CN" altLang="en-US" sz="1200" b="1" i="0" u="none" strike="noStrike" dirty="0">
                  <a:effectLst/>
                  <a:latin typeface="+mn-lt"/>
                  <a:cs typeface="Arial" panose="020B0604020202020204" pitchFamily="34" charset="0"/>
                </a:rPr>
                <a:t> </a:t>
              </a:r>
              <a:r>
                <a:rPr lang="en-US" altLang="zh-CN" sz="1200" b="1" i="0" u="none" strike="noStrike" dirty="0">
                  <a:effectLst/>
                  <a:latin typeface="+mn-lt"/>
                  <a:cs typeface="Arial" panose="020B0604020202020204" pitchFamily="34" charset="0"/>
                </a:rPr>
                <a:t>capture</a:t>
              </a:r>
              <a:r>
                <a:rPr lang="zh-CN" altLang="en-US" sz="1200" b="1" i="0" u="none" strike="noStrike" dirty="0">
                  <a:effectLst/>
                  <a:latin typeface="+mn-lt"/>
                  <a:cs typeface="Arial" panose="020B0604020202020204" pitchFamily="34" charset="0"/>
                </a:rPr>
                <a:t> </a:t>
              </a:r>
              <a:r>
                <a:rPr lang="en-US" altLang="zh-CN" sz="1200" b="1" i="0" u="none" strike="noStrike" dirty="0">
                  <a:effectLst/>
                  <a:latin typeface="+mn-lt"/>
                  <a:cs typeface="Arial" panose="020B0604020202020204" pitchFamily="34" charset="0"/>
                </a:rPr>
                <a:t>of</a:t>
              </a:r>
              <a:r>
                <a:rPr lang="zh-CN" altLang="en-US" sz="1200" b="1" i="0" u="none" strike="noStrike" dirty="0">
                  <a:effectLst/>
                  <a:latin typeface="+mn-lt"/>
                  <a:cs typeface="Arial" panose="020B0604020202020204" pitchFamily="34" charset="0"/>
                </a:rPr>
                <a:t> </a:t>
              </a:r>
              <a:r>
                <a:rPr lang="en-US" altLang="zh-CN" sz="1200" b="1" i="0" u="none" strike="noStrike" dirty="0">
                  <a:effectLst/>
                  <a:latin typeface="+mn-lt"/>
                  <a:cs typeface="Arial" panose="020B0604020202020204" pitchFamily="34" charset="0"/>
                </a:rPr>
                <a:t>sgRNA</a:t>
              </a:r>
              <a:r>
                <a:rPr lang="zh-CN" altLang="en-US" sz="1200" b="1" i="0" u="none" strike="noStrike" dirty="0">
                  <a:effectLst/>
                  <a:latin typeface="+mn-lt"/>
                  <a:cs typeface="Arial" panose="020B0604020202020204" pitchFamily="34" charset="0"/>
                </a:rPr>
                <a:t> </a:t>
              </a:r>
              <a:r>
                <a:rPr lang="en-US" altLang="zh-CN" sz="1200" b="1" i="0" u="none" strike="noStrike" dirty="0">
                  <a:effectLst/>
                  <a:latin typeface="+mn-lt"/>
                  <a:cs typeface="Arial" panose="020B0604020202020204" pitchFamily="34" charset="0"/>
                </a:rPr>
                <a:t>with</a:t>
              </a:r>
              <a:r>
                <a:rPr lang="zh-CN" altLang="en-US" sz="1200" b="1" i="0" u="none" strike="noStrike" dirty="0">
                  <a:effectLst/>
                  <a:latin typeface="+mn-lt"/>
                  <a:cs typeface="Arial" panose="020B0604020202020204" pitchFamily="34" charset="0"/>
                </a:rPr>
                <a:t> </a:t>
              </a:r>
              <a:r>
                <a:rPr lang="en-US" altLang="zh-CN" sz="1200" b="1" i="0" u="none" strike="noStrike" dirty="0">
                  <a:effectLst/>
                  <a:latin typeface="+mn-lt"/>
                  <a:cs typeface="Arial" panose="020B0604020202020204" pitchFamily="34" charset="0"/>
                </a:rPr>
                <a:t>probe</a:t>
              </a:r>
              <a:r>
                <a:rPr lang="zh-CN" altLang="en-US" sz="1200" b="1" dirty="0">
                  <a:latin typeface="+mn-lt"/>
                  <a:cs typeface="Arial" panose="020B0604020202020204" pitchFamily="34" charset="0"/>
                </a:rPr>
                <a:t> </a:t>
              </a:r>
              <a:r>
                <a:rPr lang="en-US" altLang="zh-CN" sz="1200" b="1" i="0" u="none" strike="noStrike" dirty="0">
                  <a:effectLst/>
                  <a:latin typeface="+mn-lt"/>
                  <a:cs typeface="Arial" panose="020B0604020202020204" pitchFamily="34" charset="0"/>
                </a:rPr>
                <a:t>hybridization</a:t>
              </a:r>
              <a:endParaRPr lang="en-US" sz="1200" b="1" i="0" u="none" strike="noStrike" dirty="0">
                <a:effectLst/>
                <a:latin typeface="+mn-lt"/>
                <a:cs typeface="Arial" panose="020B0604020202020204" pitchFamily="34" charset="0"/>
              </a:endParaRPr>
            </a:p>
          </p:txBody>
        </p:sp>
        <p:pic>
          <p:nvPicPr>
            <p:cNvPr id="7" name="Graphic 6">
              <a:extLst>
                <a:ext uri="{FF2B5EF4-FFF2-40B4-BE49-F238E27FC236}">
                  <a16:creationId xmlns:a16="http://schemas.microsoft.com/office/drawing/2014/main" id="{402C3DEC-644E-659B-6631-54990391BF4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130774" y="4898115"/>
              <a:ext cx="2151816" cy="1419283"/>
            </a:xfrm>
            <a:prstGeom prst="rect">
              <a:avLst/>
            </a:prstGeom>
          </p:spPr>
        </p:pic>
      </p:grpSp>
      <p:sp>
        <p:nvSpPr>
          <p:cNvPr id="35" name="TextBox 34"/>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6a–c; original PIP-seq vector and imaging panels</a:t>
            </a:r>
          </a:p>
        </p:txBody>
      </p:sp>
    </p:spTree>
    <p:extLst>
      <p:ext uri="{BB962C8B-B14F-4D97-AF65-F5344CB8AC3E}">
        <p14:creationId xmlns:p14="http://schemas.microsoft.com/office/powerpoint/2010/main" val="42386594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25EF47-4D16-4A05-D0AF-B2B30C01592C}"/>
              </a:ext>
            </a:extLst>
          </p:cNvPr>
          <p:cNvSpPr>
            <a:spLocks noGrp="1"/>
          </p:cNvSpPr>
          <p:nvPr>
            <p:ph type="title"/>
          </p:nvPr>
        </p:nvSpPr>
        <p:spPr>
          <a:xfrm>
            <a:off x="411480" y="749808"/>
            <a:ext cx="11365992" cy="658368"/>
          </a:xfrm>
        </p:spPr>
        <p:txBody>
          <a:bodyPr wrap="square" tIns="0" bIns="0"/>
          <a:lstStyle/>
          <a:p>
            <a:pPr algn="ctr">
              <a:defRPr sz="2600" b="1">
                <a:solidFill>
                  <a:srgbClr val="285180"/>
                </a:solidFill>
                <a:latin typeface="Arial"/>
              </a:defRPr>
            </a:pPr>
            <a:r>
              <a:t>A pooled neonatal screen captures thousands of perturbed CM nuclei</a:t>
            </a:r>
          </a:p>
        </p:txBody>
      </p:sp>
      <p:grpSp>
        <p:nvGrpSpPr>
          <p:cNvPr id="8" name="Group 7">
            <a:extLst>
              <a:ext uri="{FF2B5EF4-FFF2-40B4-BE49-F238E27FC236}">
                <a16:creationId xmlns:a16="http://schemas.microsoft.com/office/drawing/2014/main" id="{83627DC4-236B-2305-AF8C-8DADDCD7D702}"/>
              </a:ext>
            </a:extLst>
          </p:cNvPr>
          <p:cNvGrpSpPr/>
          <p:nvPr/>
        </p:nvGrpSpPr>
        <p:grpSpPr>
          <a:xfrm>
            <a:off x="594360" y="2423160"/>
            <a:ext cx="6949440" cy="2221992"/>
            <a:chOff x="1123949" y="2438400"/>
            <a:chExt cx="4972051" cy="1345296"/>
          </a:xfrm>
        </p:grpSpPr>
        <p:pic>
          <p:nvPicPr>
            <p:cNvPr id="6" name="Picture 5">
              <a:extLst>
                <a:ext uri="{FF2B5EF4-FFF2-40B4-BE49-F238E27FC236}">
                  <a16:creationId xmlns:a16="http://schemas.microsoft.com/office/drawing/2014/main" id="{179C4074-EACC-D3CE-6FCE-2F6EAF56488F}"/>
                </a:ext>
              </a:extLst>
            </p:cNvPr>
            <p:cNvPicPr>
              <a:picLocks noChangeAspect="1"/>
            </p:cNvPicPr>
            <p:nvPr/>
          </p:nvPicPr>
          <p:blipFill>
            <a:blip r:embed="rId3"/>
            <a:stretch>
              <a:fillRect/>
            </a:stretch>
          </p:blipFill>
          <p:spPr>
            <a:xfrm>
              <a:off x="2971800" y="2438400"/>
              <a:ext cx="3124200" cy="1345296"/>
            </a:xfrm>
            <a:prstGeom prst="rect">
              <a:avLst/>
            </a:prstGeom>
          </p:spPr>
        </p:pic>
        <p:pic>
          <p:nvPicPr>
            <p:cNvPr id="7" name="Picture 6">
              <a:extLst>
                <a:ext uri="{FF2B5EF4-FFF2-40B4-BE49-F238E27FC236}">
                  <a16:creationId xmlns:a16="http://schemas.microsoft.com/office/drawing/2014/main" id="{211AC0D1-087E-76B3-F1A5-8D383830EA65}"/>
                </a:ext>
              </a:extLst>
            </p:cNvPr>
            <p:cNvPicPr>
              <a:picLocks noChangeAspect="1"/>
            </p:cNvPicPr>
            <p:nvPr/>
          </p:nvPicPr>
          <p:blipFill>
            <a:blip r:embed="rId4"/>
            <a:srcRect l="57642" t="33697" b="19455"/>
            <a:stretch/>
          </p:blipFill>
          <p:spPr>
            <a:xfrm>
              <a:off x="1123949" y="2750923"/>
              <a:ext cx="1847851" cy="879221"/>
            </a:xfrm>
            <a:prstGeom prst="rect">
              <a:avLst/>
            </a:prstGeom>
          </p:spPr>
        </p:pic>
      </p:grpSp>
      <p:grpSp>
        <p:nvGrpSpPr>
          <p:cNvPr id="16" name="Group 15">
            <a:extLst>
              <a:ext uri="{FF2B5EF4-FFF2-40B4-BE49-F238E27FC236}">
                <a16:creationId xmlns:a16="http://schemas.microsoft.com/office/drawing/2014/main" id="{A0978BE0-DC46-DB7D-30C8-D63F24441A60}"/>
              </a:ext>
            </a:extLst>
          </p:cNvPr>
          <p:cNvGrpSpPr/>
          <p:nvPr/>
        </p:nvGrpSpPr>
        <p:grpSpPr>
          <a:xfrm>
            <a:off x="8229600" y="1993392"/>
            <a:ext cx="3246120" cy="3072384"/>
            <a:chOff x="8061150" y="1863460"/>
            <a:chExt cx="2514600" cy="2373923"/>
          </a:xfrm>
        </p:grpSpPr>
        <p:pic>
          <p:nvPicPr>
            <p:cNvPr id="11" name="Graphic 10">
              <a:extLst>
                <a:ext uri="{FF2B5EF4-FFF2-40B4-BE49-F238E27FC236}">
                  <a16:creationId xmlns:a16="http://schemas.microsoft.com/office/drawing/2014/main" id="{DFB829F3-9B28-11FE-2977-D8D5E1647C3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061150" y="1863460"/>
              <a:ext cx="2514600" cy="2373923"/>
            </a:xfrm>
            <a:prstGeom prst="rect">
              <a:avLst/>
            </a:prstGeom>
          </p:spPr>
        </p:pic>
        <p:pic>
          <p:nvPicPr>
            <p:cNvPr id="15" name="Graphic 14">
              <a:extLst>
                <a:ext uri="{FF2B5EF4-FFF2-40B4-BE49-F238E27FC236}">
                  <a16:creationId xmlns:a16="http://schemas.microsoft.com/office/drawing/2014/main" id="{6B687302-19A3-A9E5-E28B-5F7B5E874C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9600" y="1912353"/>
              <a:ext cx="625650" cy="532961"/>
            </a:xfrm>
            <a:prstGeom prst="rect">
              <a:avLst/>
            </a:prstGeom>
          </p:spPr>
        </p:pic>
      </p:grpSp>
      <p:sp>
        <p:nvSpPr>
          <p:cNvPr id="17" name="TextBox 16"/>
          <p:cNvSpPr txBox="1"/>
          <p:nvPr/>
        </p:nvSpPr>
        <p:spPr>
          <a:xfrm>
            <a:off x="594360" y="6254496"/>
            <a:ext cx="11000232" cy="320040"/>
          </a:xfrm>
          <a:prstGeom prst="rect">
            <a:avLst/>
          </a:prstGeom>
          <a:noFill/>
        </p:spPr>
        <p:txBody>
          <a:bodyPr wrap="square" lIns="0" rIns="0" tIns="0" bIns="0">
            <a:spAutoFit/>
          </a:bodyPr>
          <a:lstStyle/>
          <a:p>
            <a:pPr algn="ctr">
              <a:lnSpc>
                <a:spcPts val="1600"/>
              </a:lnSpc>
              <a:spcAft>
                <a:spcPts val="0"/>
              </a:spcAft>
              <a:defRPr sz="1500" b="1">
                <a:solidFill>
                  <a:srgbClr val="285180"/>
                </a:solidFill>
                <a:latin typeface="Arial"/>
              </a:defRPr>
            </a:pPr>
            <a:r>
              <a:t>50 candidate regulators; 5,706 guide-assigned nuclei.</a:t>
            </a:r>
          </a:p>
        </p:txBody>
      </p:sp>
      <p:sp>
        <p:nvSpPr>
          <p:cNvPr id="18" name="TextBox 17"/>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6d; published screen Results</a:t>
            </a:r>
          </a:p>
        </p:txBody>
      </p:sp>
    </p:spTree>
    <p:extLst>
      <p:ext uri="{BB962C8B-B14F-4D97-AF65-F5344CB8AC3E}">
        <p14:creationId xmlns:p14="http://schemas.microsoft.com/office/powerpoint/2010/main" val="23163883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99E647-F618-9D10-E3E0-F728CD8DE45D}"/>
              </a:ext>
            </a:extLst>
          </p:cNvPr>
          <p:cNvSpPr>
            <a:spLocks noGrp="1"/>
          </p:cNvSpPr>
          <p:nvPr>
            <p:ph type="title"/>
          </p:nvPr>
        </p:nvSpPr>
        <p:spPr>
          <a:xfrm>
            <a:off x="411480" y="749808"/>
            <a:ext cx="11365992" cy="658368"/>
          </a:xfrm>
        </p:spPr>
        <p:txBody>
          <a:bodyPr wrap="square" tIns="0" bIns="0"/>
          <a:lstStyle/>
          <a:p>
            <a:pPr algn="ctr">
              <a:defRPr sz="2600" b="1">
                <a:solidFill>
                  <a:srgbClr val="285180"/>
                </a:solidFill>
                <a:latin typeface="Arial"/>
              </a:defRPr>
            </a:pPr>
            <a:r>
              <a:t>PIP-seq reveals program-specific effects of candidate regulators</a:t>
            </a:r>
            <a:endParaRPr lang="en-US" sz="3200" dirty="0">
              <a:effectLst/>
            </a:endParaRPr>
          </a:p>
        </p:txBody>
      </p:sp>
      <p:pic>
        <p:nvPicPr>
          <p:cNvPr id="6" name="Picture 5">
            <a:extLst>
              <a:ext uri="{FF2B5EF4-FFF2-40B4-BE49-F238E27FC236}">
                <a16:creationId xmlns:a16="http://schemas.microsoft.com/office/drawing/2014/main" id="{7C630787-3056-1CA4-54BC-E292E0B7CBC8}"/>
              </a:ext>
            </a:extLst>
          </p:cNvPr>
          <p:cNvPicPr>
            <a:picLocks noChangeAspect="1"/>
          </p:cNvPicPr>
          <p:nvPr/>
        </p:nvPicPr>
        <p:blipFill>
          <a:blip r:embed="rId3"/>
          <a:stretch>
            <a:fillRect/>
          </a:stretch>
        </p:blipFill>
        <p:spPr>
          <a:xfrm>
            <a:off x="792327" y="1536192"/>
            <a:ext cx="10607040" cy="4599379"/>
          </a:xfrm>
          <a:prstGeom prst="rect">
            <a:avLst/>
          </a:prstGeom>
        </p:spPr>
      </p:pic>
      <p:sp>
        <p:nvSpPr>
          <p:cNvPr id="7" name="TextBox 6"/>
          <p:cNvSpPr txBox="1"/>
          <p:nvPr/>
        </p:nvSpPr>
        <p:spPr>
          <a:xfrm>
            <a:off x="594360" y="6254496"/>
            <a:ext cx="11000232" cy="320040"/>
          </a:xfrm>
          <a:prstGeom prst="rect">
            <a:avLst/>
          </a:prstGeom>
          <a:noFill/>
        </p:spPr>
        <p:txBody>
          <a:bodyPr wrap="square" lIns="0" rIns="0" tIns="0" bIns="0">
            <a:spAutoFit/>
          </a:bodyPr>
          <a:lstStyle/>
          <a:p>
            <a:pPr algn="ctr">
              <a:lnSpc>
                <a:spcPts val="1600"/>
              </a:lnSpc>
              <a:spcAft>
                <a:spcPts val="0"/>
              </a:spcAft>
              <a:defRPr sz="1500" b="1">
                <a:solidFill>
                  <a:srgbClr val="285180"/>
                </a:solidFill>
                <a:latin typeface="Arial"/>
              </a:defRPr>
            </a:pPr>
            <a:r>
              <a:t>Distinct gene perturbations produce distinct maturation-program fingerprints.</a:t>
            </a:r>
          </a:p>
        </p:txBody>
      </p:sp>
      <p:sp>
        <p:nvSpPr>
          <p:cNvPr id="8" name="TextBox 7"/>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6e; original perturbation matrix</a:t>
            </a:r>
          </a:p>
        </p:txBody>
      </p:sp>
    </p:spTree>
    <p:extLst>
      <p:ext uri="{BB962C8B-B14F-4D97-AF65-F5344CB8AC3E}">
        <p14:creationId xmlns:p14="http://schemas.microsoft.com/office/powerpoint/2010/main" val="15122560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F9A0BA-5623-BCA3-E481-01FC332483A1}"/>
              </a:ext>
            </a:extLst>
          </p:cNvPr>
          <p:cNvSpPr>
            <a:spLocks noGrp="1"/>
          </p:cNvSpPr>
          <p:nvPr>
            <p:ph type="title"/>
          </p:nvPr>
        </p:nvSpPr>
        <p:spPr>
          <a:xfrm>
            <a:off x="411480" y="749808"/>
            <a:ext cx="11365992" cy="658368"/>
          </a:xfrm>
        </p:spPr>
        <p:txBody>
          <a:bodyPr wrap="square" tIns="0" bIns="0"/>
          <a:lstStyle/>
          <a:p>
            <a:pPr algn="ctr">
              <a:defRPr sz="2600" b="1">
                <a:solidFill>
                  <a:srgbClr val="285180"/>
                </a:solidFill>
                <a:latin typeface="Arial"/>
              </a:defRPr>
            </a:pPr>
            <a:r>
              <a:t>A spatial atlas and PIP-seq reveal regulators of CM maturation</a:t>
            </a:r>
          </a:p>
        </p:txBody>
      </p:sp>
      <p:sp>
        <p:nvSpPr>
          <p:cNvPr id="8" name="TextBox 7">
            <a:extLst>
              <a:ext uri="{FF2B5EF4-FFF2-40B4-BE49-F238E27FC236}">
                <a16:creationId xmlns:a16="http://schemas.microsoft.com/office/drawing/2014/main" id="{7B4EB894-20B0-67DA-A245-CC1433F18785}"/>
              </a:ext>
            </a:extLst>
          </p:cNvPr>
          <p:cNvSpPr txBox="1"/>
          <p:nvPr/>
        </p:nvSpPr>
        <p:spPr>
          <a:xfrm>
            <a:off x="7503116" y="1522290"/>
            <a:ext cx="3435116" cy="584775"/>
          </a:xfrm>
          <a:prstGeom prst="rect">
            <a:avLst/>
          </a:prstGeom>
          <a:noFill/>
          <a:ln w="6350">
            <a:noFill/>
          </a:ln>
        </p:spPr>
        <p:txBody>
          <a:bodyPr wrap="square" rtlCol="0">
            <a:spAutoFit/>
          </a:bodyPr>
          <a:lstStyle/>
          <a:p>
            <a:pPr algn="ctr"/>
            <a:r>
              <a:rPr lang="en-US" sz="1600" b="1" i="1" kern="0" dirty="0">
                <a:latin typeface="Arial" panose="020B0604020202020204" pitchFamily="34" charset="0"/>
                <a:ea typeface="Times New Roman" panose="02020603050405020304" pitchFamily="18" charset="0"/>
                <a:cs typeface="Arial" panose="020B0604020202020204" pitchFamily="34" charset="0"/>
              </a:rPr>
              <a:t>in vivo</a:t>
            </a:r>
            <a:r>
              <a:rPr lang="en-US" sz="1600" b="1" kern="0" dirty="0">
                <a:latin typeface="Arial" panose="020B0604020202020204" pitchFamily="34" charset="0"/>
                <a:ea typeface="Times New Roman" panose="02020603050405020304" pitchFamily="18" charset="0"/>
                <a:cs typeface="Arial" panose="020B0604020202020204" pitchFamily="34" charset="0"/>
              </a:rPr>
              <a:t> probe-based indel-detectable perturb-seq</a:t>
            </a:r>
            <a:endParaRPr lang="en-US" sz="1600" b="1" dirty="0">
              <a:latin typeface="Arial" panose="020B0604020202020204" pitchFamily="34" charset="0"/>
              <a:cs typeface="Arial" panose="020B0604020202020204" pitchFamily="34" charset="0"/>
            </a:endParaRPr>
          </a:p>
        </p:txBody>
      </p:sp>
      <p:cxnSp>
        <p:nvCxnSpPr>
          <p:cNvPr id="9" name="Straight Connector 8">
            <a:extLst>
              <a:ext uri="{FF2B5EF4-FFF2-40B4-BE49-F238E27FC236}">
                <a16:creationId xmlns:a16="http://schemas.microsoft.com/office/drawing/2014/main" id="{9402D3ED-2E12-7310-74D6-6DDE46FD99A1}"/>
              </a:ext>
            </a:extLst>
          </p:cNvPr>
          <p:cNvCxnSpPr>
            <a:cxnSpLocks/>
          </p:cNvCxnSpPr>
          <p:nvPr/>
        </p:nvCxnSpPr>
        <p:spPr>
          <a:xfrm>
            <a:off x="6144088" y="1557880"/>
            <a:ext cx="0" cy="3890904"/>
          </a:xfrm>
          <a:prstGeom prst="line">
            <a:avLst/>
          </a:prstGeom>
          <a:ln w="19050">
            <a:solidFill>
              <a:schemeClr val="tx1"/>
            </a:solidFill>
            <a:prstDash val="lgDash"/>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1F02C931-88AB-C075-0C63-2109F3F6DB3A}"/>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536878" y="2894253"/>
            <a:ext cx="2426325" cy="2436351"/>
          </a:xfrm>
          <a:prstGeom prst="rect">
            <a:avLst/>
          </a:prstGeom>
        </p:spPr>
      </p:pic>
      <p:pic>
        <p:nvPicPr>
          <p:cNvPr id="11" name="Picture 10">
            <a:extLst>
              <a:ext uri="{FF2B5EF4-FFF2-40B4-BE49-F238E27FC236}">
                <a16:creationId xmlns:a16="http://schemas.microsoft.com/office/drawing/2014/main" id="{FE897653-E29D-EDBF-8480-5A7F63E2757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9167343" y="2838907"/>
            <a:ext cx="2414221" cy="1541611"/>
          </a:xfrm>
          <a:prstGeom prst="rect">
            <a:avLst/>
          </a:prstGeom>
        </p:spPr>
      </p:pic>
      <p:pic>
        <p:nvPicPr>
          <p:cNvPr id="12" name="Picture 11">
            <a:extLst>
              <a:ext uri="{FF2B5EF4-FFF2-40B4-BE49-F238E27FC236}">
                <a16:creationId xmlns:a16="http://schemas.microsoft.com/office/drawing/2014/main" id="{6BE0445F-50D1-7A53-FD86-936F8D2AAAA7}"/>
              </a:ext>
            </a:extLst>
          </p:cNvPr>
          <p:cNvPicPr>
            <a:picLocks noChangeAspect="1"/>
          </p:cNvPicPr>
          <p:nvPr/>
        </p:nvPicPr>
        <p:blipFill>
          <a:blip r:embed="rId5"/>
          <a:stretch>
            <a:fillRect/>
          </a:stretch>
        </p:blipFill>
        <p:spPr>
          <a:xfrm>
            <a:off x="9516145" y="4520712"/>
            <a:ext cx="1840396" cy="891329"/>
          </a:xfrm>
          <a:prstGeom prst="rect">
            <a:avLst/>
          </a:prstGeom>
        </p:spPr>
      </p:pic>
      <p:sp>
        <p:nvSpPr>
          <p:cNvPr id="13" name="TextBox 12">
            <a:extLst>
              <a:ext uri="{FF2B5EF4-FFF2-40B4-BE49-F238E27FC236}">
                <a16:creationId xmlns:a16="http://schemas.microsoft.com/office/drawing/2014/main" id="{A8FA05AD-66BE-71FF-A6B9-CCFA9E01E388}"/>
              </a:ext>
            </a:extLst>
          </p:cNvPr>
          <p:cNvSpPr txBox="1"/>
          <p:nvPr/>
        </p:nvSpPr>
        <p:spPr>
          <a:xfrm>
            <a:off x="546703" y="5493352"/>
            <a:ext cx="2092239" cy="461665"/>
          </a:xfrm>
          <a:prstGeom prst="rect">
            <a:avLst/>
          </a:prstGeom>
          <a:noFill/>
        </p:spPr>
        <p:txBody>
          <a:bodyPr wrap="none" rtlCol="0">
            <a:spAutoFit/>
          </a:bodyPr>
          <a:lstStyle/>
          <a:p>
            <a:pPr algn="ctr"/>
            <a:r>
              <a:rPr lang="en-US" sz="1200" b="1" dirty="0">
                <a:latin typeface="+mn-lt"/>
                <a:cs typeface="Arial" panose="020B0604020202020204" pitchFamily="34" charset="0"/>
              </a:rPr>
              <a:t>Spatial and temporal atlas</a:t>
            </a:r>
          </a:p>
          <a:p>
            <a:pPr algn="ctr"/>
            <a:r>
              <a:rPr lang="en-US" sz="1200" b="1" dirty="0">
                <a:latin typeface="+mn-lt"/>
                <a:cs typeface="Arial" panose="020B0604020202020204" pitchFamily="34" charset="0"/>
              </a:rPr>
              <a:t>of postnatal hearts</a:t>
            </a:r>
          </a:p>
        </p:txBody>
      </p:sp>
      <p:sp>
        <p:nvSpPr>
          <p:cNvPr id="14" name="TextBox 13">
            <a:extLst>
              <a:ext uri="{FF2B5EF4-FFF2-40B4-BE49-F238E27FC236}">
                <a16:creationId xmlns:a16="http://schemas.microsoft.com/office/drawing/2014/main" id="{CFCA3174-F515-5152-CAA7-27A5F9C5B7CC}"/>
              </a:ext>
            </a:extLst>
          </p:cNvPr>
          <p:cNvSpPr txBox="1"/>
          <p:nvPr/>
        </p:nvSpPr>
        <p:spPr>
          <a:xfrm>
            <a:off x="6536878" y="5581319"/>
            <a:ext cx="2646457" cy="461665"/>
          </a:xfrm>
          <a:prstGeom prst="rect">
            <a:avLst/>
          </a:prstGeom>
          <a:noFill/>
        </p:spPr>
        <p:txBody>
          <a:bodyPr wrap="square">
            <a:spAutoFit/>
          </a:bodyPr>
          <a:lstStyle/>
          <a:p>
            <a:pPr algn="ctr"/>
            <a:r>
              <a:rPr lang="en-US" sz="1200" b="1" i="1" kern="0" dirty="0">
                <a:latin typeface="Arial" panose="020B0604020202020204" pitchFamily="34" charset="0"/>
                <a:ea typeface="Times New Roman" panose="02020603050405020304" pitchFamily="18" charset="0"/>
                <a:cs typeface="Arial" panose="020B0604020202020204" pitchFamily="34" charset="0"/>
              </a:rPr>
              <a:t>in vivo</a:t>
            </a:r>
            <a:r>
              <a:rPr lang="en-US" sz="1200" b="1" kern="0" dirty="0">
                <a:latin typeface="Arial" panose="020B0604020202020204" pitchFamily="34" charset="0"/>
                <a:ea typeface="Times New Roman" panose="02020603050405020304" pitchFamily="18" charset="0"/>
                <a:cs typeface="Arial" panose="020B0604020202020204" pitchFamily="34" charset="0"/>
              </a:rPr>
              <a:t> Probe-based Indel-detectable Perturb-seq</a:t>
            </a:r>
            <a:endParaRPr lang="en-US" sz="1200" b="1" dirty="0"/>
          </a:p>
        </p:txBody>
      </p:sp>
      <p:sp>
        <p:nvSpPr>
          <p:cNvPr id="15" name="TextBox 14">
            <a:extLst>
              <a:ext uri="{FF2B5EF4-FFF2-40B4-BE49-F238E27FC236}">
                <a16:creationId xmlns:a16="http://schemas.microsoft.com/office/drawing/2014/main" id="{E4E9D279-155E-6D0C-65FD-5F328941DC31}"/>
              </a:ext>
            </a:extLst>
          </p:cNvPr>
          <p:cNvSpPr txBox="1"/>
          <p:nvPr/>
        </p:nvSpPr>
        <p:spPr>
          <a:xfrm>
            <a:off x="9183336" y="5581319"/>
            <a:ext cx="2717058" cy="461665"/>
          </a:xfrm>
          <a:prstGeom prst="rect">
            <a:avLst/>
          </a:prstGeom>
          <a:noFill/>
        </p:spPr>
        <p:txBody>
          <a:bodyPr wrap="square">
            <a:spAutoFit/>
          </a:bodyPr>
          <a:lstStyle/>
          <a:p>
            <a:pPr algn="ctr"/>
            <a:r>
              <a:rPr lang="en-US" altLang="zh-CN" sz="1200" b="1" kern="0" dirty="0">
                <a:latin typeface="Arial" panose="020B0604020202020204" pitchFamily="34" charset="0"/>
                <a:cs typeface="Arial" panose="020B0604020202020204" pitchFamily="34" charset="0"/>
              </a:rPr>
              <a:t>N</a:t>
            </a:r>
            <a:r>
              <a:rPr lang="en-US" sz="1200" b="1" kern="0" dirty="0">
                <a:latin typeface="Arial" panose="020B0604020202020204" pitchFamily="34" charset="0"/>
                <a:cs typeface="Arial" panose="020B0604020202020204" pitchFamily="34" charset="0"/>
              </a:rPr>
              <a:t>ovel regulators for the postnatal heart maturation </a:t>
            </a:r>
          </a:p>
        </p:txBody>
      </p:sp>
      <p:pic>
        <p:nvPicPr>
          <p:cNvPr id="16" name="Picture 15">
            <a:extLst>
              <a:ext uri="{FF2B5EF4-FFF2-40B4-BE49-F238E27FC236}">
                <a16:creationId xmlns:a16="http://schemas.microsoft.com/office/drawing/2014/main" id="{03078519-46B8-6F8C-0159-B127C01430B1}"/>
              </a:ext>
            </a:extLst>
          </p:cNvPr>
          <p:cNvPicPr>
            <a:picLocks noChangeAspect="1"/>
          </p:cNvPicPr>
          <p:nvPr/>
        </p:nvPicPr>
        <p:blipFill>
          <a:blip r:embed="rId6"/>
          <a:srcRect t="1" b="2544"/>
          <a:stretch/>
        </p:blipFill>
        <p:spPr>
          <a:xfrm>
            <a:off x="328541" y="2686235"/>
            <a:ext cx="2457191" cy="2705612"/>
          </a:xfrm>
          <a:prstGeom prst="rect">
            <a:avLst/>
          </a:prstGeom>
          <a:ln>
            <a:noFill/>
          </a:ln>
          <a:effectLst>
            <a:softEdge rad="112500"/>
          </a:effectLst>
        </p:spPr>
      </p:pic>
      <p:pic>
        <p:nvPicPr>
          <p:cNvPr id="17" name="Picture 16">
            <a:extLst>
              <a:ext uri="{FF2B5EF4-FFF2-40B4-BE49-F238E27FC236}">
                <a16:creationId xmlns:a16="http://schemas.microsoft.com/office/drawing/2014/main" id="{29230687-C4F0-EEB1-759A-E0C1F88F02B0}"/>
              </a:ext>
            </a:extLst>
          </p:cNvPr>
          <p:cNvPicPr>
            <a:picLocks noChangeAspect="1"/>
          </p:cNvPicPr>
          <p:nvPr/>
        </p:nvPicPr>
        <p:blipFill rotWithShape="1">
          <a:blip r:embed="rId7"/>
          <a:srcRect t="-1376" b="1487"/>
          <a:stretch/>
        </p:blipFill>
        <p:spPr>
          <a:xfrm>
            <a:off x="2942239" y="2727337"/>
            <a:ext cx="2638599" cy="2690497"/>
          </a:xfrm>
          <a:prstGeom prst="rect">
            <a:avLst/>
          </a:prstGeom>
        </p:spPr>
      </p:pic>
      <p:sp>
        <p:nvSpPr>
          <p:cNvPr id="18" name="TextBox 17">
            <a:extLst>
              <a:ext uri="{FF2B5EF4-FFF2-40B4-BE49-F238E27FC236}">
                <a16:creationId xmlns:a16="http://schemas.microsoft.com/office/drawing/2014/main" id="{201C0B68-40EB-59D7-A1C0-D734753B362B}"/>
              </a:ext>
            </a:extLst>
          </p:cNvPr>
          <p:cNvSpPr txBox="1"/>
          <p:nvPr/>
        </p:nvSpPr>
        <p:spPr>
          <a:xfrm>
            <a:off x="2934381" y="5609516"/>
            <a:ext cx="2646457" cy="276999"/>
          </a:xfrm>
          <a:prstGeom prst="rect">
            <a:avLst/>
          </a:prstGeom>
          <a:noFill/>
        </p:spPr>
        <p:txBody>
          <a:bodyPr wrap="square" rtlCol="0">
            <a:spAutoFit/>
          </a:bodyPr>
          <a:lstStyle/>
          <a:p>
            <a:pPr algn="ctr"/>
            <a:r>
              <a:rPr lang="en-US" altLang="zh-CN" sz="1200" b="1" dirty="0">
                <a:latin typeface="+mn-lt"/>
                <a:cs typeface="Arial" panose="020B0604020202020204" pitchFamily="34" charset="0"/>
              </a:rPr>
              <a:t>Intercellular communications</a:t>
            </a:r>
            <a:endParaRPr lang="en-US" sz="1200" b="1" dirty="0">
              <a:latin typeface="+mn-lt"/>
              <a:cs typeface="Arial" panose="020B0604020202020204" pitchFamily="34" charset="0"/>
            </a:endParaRPr>
          </a:p>
        </p:txBody>
      </p:sp>
      <p:sp>
        <p:nvSpPr>
          <p:cNvPr id="19" name="TextBox 18">
            <a:extLst>
              <a:ext uri="{FF2B5EF4-FFF2-40B4-BE49-F238E27FC236}">
                <a16:creationId xmlns:a16="http://schemas.microsoft.com/office/drawing/2014/main" id="{B516C6E9-2FE4-FA4A-62F1-D2DBA1528BEF}"/>
              </a:ext>
            </a:extLst>
          </p:cNvPr>
          <p:cNvSpPr txBox="1"/>
          <p:nvPr/>
        </p:nvSpPr>
        <p:spPr>
          <a:xfrm>
            <a:off x="1301297" y="1525989"/>
            <a:ext cx="3459050" cy="830997"/>
          </a:xfrm>
          <a:prstGeom prst="rect">
            <a:avLst/>
          </a:prstGeom>
          <a:noFill/>
          <a:ln w="6350">
            <a:noFill/>
          </a:ln>
        </p:spPr>
        <p:txBody>
          <a:bodyPr wrap="square" rtlCol="0">
            <a:spAutoFit/>
          </a:bodyPr>
          <a:lstStyle/>
          <a:p>
            <a:pPr algn="ctr"/>
            <a:r>
              <a:rPr lang="en-US" altLang="zh-CN" sz="1600" b="1" dirty="0">
                <a:latin typeface="Arial" panose="020B0604020202020204" pitchFamily="34" charset="0"/>
                <a:cs typeface="Arial" panose="020B0604020202020204" pitchFamily="34" charset="0"/>
              </a:rPr>
              <a:t>A</a:t>
            </a:r>
            <a:r>
              <a:rPr lang="zh-CN" altLang="en-US" sz="1600" b="1" dirty="0">
                <a:latin typeface="Arial" panose="020B0604020202020204" pitchFamily="34" charset="0"/>
                <a:cs typeface="Arial" panose="020B0604020202020204" pitchFamily="34" charset="0"/>
              </a:rPr>
              <a:t> </a:t>
            </a:r>
            <a:r>
              <a:rPr lang="en-US" altLang="zh-CN" sz="1600" b="1" dirty="0">
                <a:latin typeface="Arial" panose="020B0604020202020204" pitchFamily="34" charset="0"/>
                <a:cs typeface="Arial" panose="020B0604020202020204" pitchFamily="34" charset="0"/>
              </a:rPr>
              <a:t>single-cell</a:t>
            </a:r>
            <a:r>
              <a:rPr lang="zh-CN" altLang="en-US" sz="1600" b="1" dirty="0">
                <a:latin typeface="Arial" panose="020B0604020202020204" pitchFamily="34" charset="0"/>
                <a:cs typeface="Arial" panose="020B0604020202020204" pitchFamily="34" charset="0"/>
              </a:rPr>
              <a:t> </a:t>
            </a:r>
            <a:r>
              <a:rPr lang="en-US" altLang="zh-CN" sz="1600" b="1" dirty="0">
                <a:latin typeface="Arial" panose="020B0604020202020204" pitchFamily="34" charset="0"/>
                <a:cs typeface="Arial" panose="020B0604020202020204" pitchFamily="34" charset="0"/>
              </a:rPr>
              <a:t>atlas</a:t>
            </a:r>
            <a:r>
              <a:rPr lang="zh-CN" altLang="en-US" sz="1600" b="1" dirty="0">
                <a:latin typeface="Arial" panose="020B0604020202020204" pitchFamily="34" charset="0"/>
                <a:cs typeface="Arial" panose="020B0604020202020204" pitchFamily="34" charset="0"/>
              </a:rPr>
              <a:t> </a:t>
            </a:r>
            <a:r>
              <a:rPr lang="en-US" altLang="zh-CN" sz="1600" b="1" dirty="0">
                <a:latin typeface="Arial" panose="020B0604020202020204" pitchFamily="34" charset="0"/>
                <a:cs typeface="Arial" panose="020B0604020202020204" pitchFamily="34" charset="0"/>
              </a:rPr>
              <a:t>of</a:t>
            </a:r>
            <a:r>
              <a:rPr lang="zh-CN" altLang="en-US" sz="1600" b="1" dirty="0">
                <a:latin typeface="Arial" panose="020B0604020202020204" pitchFamily="34" charset="0"/>
                <a:cs typeface="Arial" panose="020B0604020202020204" pitchFamily="34" charset="0"/>
              </a:rPr>
              <a:t> </a:t>
            </a:r>
            <a:r>
              <a:rPr lang="en-US" altLang="zh-CN" sz="1600" b="1" dirty="0">
                <a:latin typeface="Arial" panose="020B0604020202020204" pitchFamily="34" charset="0"/>
                <a:cs typeface="Arial" panose="020B0604020202020204" pitchFamily="34" charset="0"/>
              </a:rPr>
              <a:t>postnatal</a:t>
            </a:r>
            <a:r>
              <a:rPr lang="zh-CN" altLang="en-US" sz="1600" b="1" dirty="0">
                <a:latin typeface="Arial" panose="020B0604020202020204" pitchFamily="34" charset="0"/>
                <a:cs typeface="Arial" panose="020B0604020202020204" pitchFamily="34" charset="0"/>
              </a:rPr>
              <a:t> </a:t>
            </a:r>
            <a:r>
              <a:rPr lang="en-US" altLang="zh-CN" sz="1600" b="1" dirty="0">
                <a:latin typeface="Arial" panose="020B0604020202020204" pitchFamily="34" charset="0"/>
                <a:cs typeface="Arial" panose="020B0604020202020204" pitchFamily="34" charset="0"/>
              </a:rPr>
              <a:t>hearts</a:t>
            </a:r>
            <a:r>
              <a:rPr lang="zh-CN" altLang="en-US" sz="1600" b="1" dirty="0">
                <a:latin typeface="Arial" panose="020B0604020202020204" pitchFamily="34" charset="0"/>
                <a:cs typeface="Arial" panose="020B0604020202020204" pitchFamily="34" charset="0"/>
              </a:rPr>
              <a:t> </a:t>
            </a:r>
            <a:r>
              <a:rPr lang="en-US" altLang="zh-CN" sz="1600" b="1" dirty="0">
                <a:latin typeface="Arial" panose="020B0604020202020204" pitchFamily="34" charset="0"/>
                <a:cs typeface="Arial" panose="020B0604020202020204" pitchFamily="34" charset="0"/>
              </a:rPr>
              <a:t>with</a:t>
            </a:r>
            <a:r>
              <a:rPr lang="zh-CN" altLang="en-US" sz="1600" b="1" dirty="0">
                <a:latin typeface="Arial" panose="020B0604020202020204" pitchFamily="34" charset="0"/>
                <a:cs typeface="Arial" panose="020B0604020202020204" pitchFamily="34" charset="0"/>
              </a:rPr>
              <a:t> </a:t>
            </a:r>
            <a:r>
              <a:rPr lang="en-US" altLang="zh-CN" sz="1600" b="1" dirty="0">
                <a:latin typeface="Arial" panose="020B0604020202020204" pitchFamily="34" charset="0"/>
                <a:cs typeface="Arial" panose="020B0604020202020204" pitchFamily="34" charset="0"/>
              </a:rPr>
              <a:t>spatial</a:t>
            </a:r>
            <a:r>
              <a:rPr lang="zh-CN" altLang="en-US" sz="1600" b="1" dirty="0">
                <a:latin typeface="Arial" panose="020B0604020202020204" pitchFamily="34" charset="0"/>
                <a:cs typeface="Arial" panose="020B0604020202020204" pitchFamily="34" charset="0"/>
              </a:rPr>
              <a:t> </a:t>
            </a:r>
            <a:r>
              <a:rPr lang="en-US" altLang="zh-CN" sz="1600" b="1" dirty="0">
                <a:latin typeface="Arial" panose="020B0604020202020204" pitchFamily="34" charset="0"/>
                <a:cs typeface="Arial" panose="020B0604020202020204" pitchFamily="34" charset="0"/>
              </a:rPr>
              <a:t>and</a:t>
            </a:r>
            <a:r>
              <a:rPr lang="zh-CN" altLang="en-US" sz="1600" b="1" dirty="0">
                <a:latin typeface="Arial" panose="020B0604020202020204" pitchFamily="34" charset="0"/>
                <a:cs typeface="Arial" panose="020B0604020202020204" pitchFamily="34" charset="0"/>
              </a:rPr>
              <a:t> </a:t>
            </a:r>
            <a:r>
              <a:rPr lang="en-US" altLang="zh-CN" sz="1600" b="1" dirty="0">
                <a:latin typeface="Arial" panose="020B0604020202020204" pitchFamily="34" charset="0"/>
                <a:cs typeface="Arial" panose="020B0604020202020204" pitchFamily="34" charset="0"/>
              </a:rPr>
              <a:t>temporal resolution</a:t>
            </a:r>
            <a:endParaRPr lang="en-US" sz="1600" b="1" dirty="0">
              <a:latin typeface="Arial" panose="020B0604020202020204" pitchFamily="34" charset="0"/>
              <a:cs typeface="Arial" panose="020B0604020202020204" pitchFamily="34" charset="0"/>
            </a:endParaRPr>
          </a:p>
        </p:txBody>
      </p:sp>
      <p:grpSp>
        <p:nvGrpSpPr>
          <p:cNvPr id="20" name="Group 19">
            <a:extLst>
              <a:ext uri="{FF2B5EF4-FFF2-40B4-BE49-F238E27FC236}">
                <a16:creationId xmlns:a16="http://schemas.microsoft.com/office/drawing/2014/main" id="{F676218E-492C-89C7-088B-326F3CAEE435}"/>
              </a:ext>
            </a:extLst>
          </p:cNvPr>
          <p:cNvGrpSpPr/>
          <p:nvPr/>
        </p:nvGrpSpPr>
        <p:grpSpPr>
          <a:xfrm>
            <a:off x="1772793" y="5094706"/>
            <a:ext cx="548640" cy="235898"/>
            <a:chOff x="1329594" y="3821023"/>
            <a:chExt cx="411480" cy="176923"/>
          </a:xfrm>
        </p:grpSpPr>
        <p:cxnSp>
          <p:nvCxnSpPr>
            <p:cNvPr id="21" name="Straight Connector 20">
              <a:extLst>
                <a:ext uri="{FF2B5EF4-FFF2-40B4-BE49-F238E27FC236}">
                  <a16:creationId xmlns:a16="http://schemas.microsoft.com/office/drawing/2014/main" id="{B457AD07-3E73-D1FC-D309-B39163C2A8CC}"/>
                </a:ext>
              </a:extLst>
            </p:cNvPr>
            <p:cNvCxnSpPr>
              <a:cxnSpLocks/>
            </p:cNvCxnSpPr>
            <p:nvPr/>
          </p:nvCxnSpPr>
          <p:spPr>
            <a:xfrm>
              <a:off x="1329594" y="3989596"/>
              <a:ext cx="41148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4E37FF7E-AC13-E9A9-6E33-453D93704AC7}"/>
                </a:ext>
              </a:extLst>
            </p:cNvPr>
            <p:cNvSpPr txBox="1"/>
            <p:nvPr/>
          </p:nvSpPr>
          <p:spPr>
            <a:xfrm>
              <a:off x="1356032" y="3821023"/>
              <a:ext cx="338073" cy="176923"/>
            </a:xfrm>
            <a:prstGeom prst="rect">
              <a:avLst/>
            </a:prstGeom>
            <a:noFill/>
          </p:spPr>
          <p:txBody>
            <a:bodyPr wrap="none" rtlCol="0">
              <a:spAutoFit/>
            </a:bodyPr>
            <a:lstStyle/>
            <a:p>
              <a:r>
                <a:rPr lang="en-US" altLang="zh-CN" sz="933" dirty="0">
                  <a:latin typeface="Arial" panose="020B0604020202020204" pitchFamily="34" charset="0"/>
                  <a:cs typeface="Arial" panose="020B0604020202020204" pitchFamily="34" charset="0"/>
                </a:rPr>
                <a:t>1mm</a:t>
              </a:r>
              <a:endParaRPr lang="en-US" dirty="0">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108AE52F-8305-7FE2-5EF7-CB2E6AC913DA}"/>
              </a:ext>
            </a:extLst>
          </p:cNvPr>
          <p:cNvSpPr txBox="1"/>
          <p:nvPr/>
        </p:nvSpPr>
        <p:spPr>
          <a:xfrm>
            <a:off x="8229600" y="6250942"/>
            <a:ext cx="3512500" cy="276999"/>
          </a:xfrm>
          <a:prstGeom prst="rect">
            <a:avLst/>
          </a:prstGeom>
          <a:noFill/>
        </p:spPr>
        <p:txBody>
          <a:bodyPr wrap="none" rtlCol="0">
            <a:spAutoFit/>
          </a:bodyPr>
          <a:lstStyle/>
          <a:p>
            <a:r>
              <a:rPr lang="en-US" sz="1200" b="1" dirty="0"/>
              <a:t>Wang H*, Dong Y*, Song Y* et al., NCVR.</a:t>
            </a:r>
            <a:r>
              <a:rPr lang="en-US" sz="1200" b="1" i="1" dirty="0"/>
              <a:t> </a:t>
            </a:r>
            <a:r>
              <a:rPr lang="en-US" sz="1200" b="1" dirty="0"/>
              <a:t>2026</a:t>
            </a:r>
          </a:p>
        </p:txBody>
      </p:sp>
      <p:sp>
        <p:nvSpPr>
          <p:cNvPr id="23" name="TextBox 22"/>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Study synthesis; Fig. 1–7</a:t>
            </a:r>
          </a:p>
        </p:txBody>
      </p:sp>
    </p:spTree>
    <p:extLst>
      <p:ext uri="{BB962C8B-B14F-4D97-AF65-F5344CB8AC3E}">
        <p14:creationId xmlns:p14="http://schemas.microsoft.com/office/powerpoint/2010/main" val="4830683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txBox="1">
            <a:spLocks/>
          </p:cNvSpPr>
          <p:nvPr/>
        </p:nvSpPr>
        <p:spPr>
          <a:xfrm>
            <a:off x="411480" y="749808"/>
            <a:ext cx="11365992" cy="658368"/>
          </a:xfrm>
          <a:prstGeom prst="rect">
            <a:avLst/>
          </a:prstGeom>
        </p:spPr>
        <p:txBody>
          <a:bodyPr vert="horz" lIns="91440" tIns="0" rIns="91440" bIns="0" rtlCol="0" anchor="ctr" wrap="square">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ctr">
              <a:defRPr sz="2600" b="1">
                <a:solidFill>
                  <a:srgbClr val="285180"/>
                </a:solidFill>
                <a:latin typeface="Arial"/>
              </a:defRPr>
            </a:pPr>
            <a:r>
              <a:t>Acknowledgments</a:t>
            </a:r>
          </a:p>
        </p:txBody>
      </p:sp>
      <p:pic>
        <p:nvPicPr>
          <p:cNvPr id="10" name="Picture 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00400" y="5327084"/>
            <a:ext cx="3429000" cy="980694"/>
          </a:xfrm>
          <a:prstGeom prst="rect">
            <a:avLst/>
          </a:prstGeom>
        </p:spPr>
      </p:pic>
      <p:sp>
        <p:nvSpPr>
          <p:cNvPr id="2" name="Rectangle 1">
            <a:extLst>
              <a:ext uri="{FF2B5EF4-FFF2-40B4-BE49-F238E27FC236}">
                <a16:creationId xmlns:a16="http://schemas.microsoft.com/office/drawing/2014/main" id="{FD663DDA-73D7-7E3B-9DE5-0473B671D6F6}"/>
              </a:ext>
            </a:extLst>
          </p:cNvPr>
          <p:cNvSpPr/>
          <p:nvPr/>
        </p:nvSpPr>
        <p:spPr>
          <a:xfrm>
            <a:off x="543273" y="1379822"/>
            <a:ext cx="2242390" cy="4811189"/>
          </a:xfrm>
          <a:prstGeom prst="rect">
            <a:avLst/>
          </a:prstGeom>
        </p:spPr>
        <p:txBody>
          <a:bodyPr wrap="square">
            <a:spAutoFit/>
          </a:bodyPr>
          <a:lstStyle/>
          <a:p>
            <a:pPr>
              <a:lnSpc>
                <a:spcPct val="114000"/>
              </a:lnSpc>
            </a:pPr>
            <a:r>
              <a:rPr lang="en-US" sz="1400" b="1" dirty="0">
                <a:latin typeface="Arial" panose="020B0604020202020204" pitchFamily="34" charset="0"/>
                <a:cs typeface="Arial" panose="020B0604020202020204" pitchFamily="34" charset="0"/>
              </a:rPr>
              <a:t>The Liu Lab</a:t>
            </a:r>
          </a:p>
          <a:p>
            <a:pPr marL="285750" indent="-285750">
              <a:lnSpc>
                <a:spcPct val="114000"/>
              </a:lnSpc>
              <a:buFont typeface="Arial" panose="020B0604020202020204" pitchFamily="34" charset="0"/>
              <a:buChar char="•"/>
            </a:pPr>
            <a:r>
              <a:rPr lang="en-US" sz="1200" b="1" dirty="0">
                <a:latin typeface="Arial" panose="020B0604020202020204" pitchFamily="34" charset="0"/>
                <a:cs typeface="Arial" panose="020B0604020202020204" pitchFamily="34" charset="0"/>
              </a:rPr>
              <a:t>Nick Yapundich, BS</a:t>
            </a:r>
          </a:p>
          <a:p>
            <a:pPr marL="285750" indent="-285750">
              <a:lnSpc>
                <a:spcPct val="114000"/>
              </a:lnSpc>
              <a:buFont typeface="Arial" panose="020B0604020202020204" pitchFamily="34" charset="0"/>
              <a:buChar char="•"/>
            </a:pPr>
            <a:r>
              <a:rPr lang="en-US" sz="1200" b="1" dirty="0" err="1">
                <a:latin typeface="Arial" panose="020B0604020202020204" pitchFamily="34" charset="0"/>
                <a:cs typeface="Arial" panose="020B0604020202020204" pitchFamily="34" charset="0"/>
              </a:rPr>
              <a:t>Yanhan</a:t>
            </a:r>
            <a:r>
              <a:rPr lang="en-US" sz="1200" b="1" dirty="0">
                <a:latin typeface="Arial" panose="020B0604020202020204" pitchFamily="34" charset="0"/>
                <a:cs typeface="Arial" panose="020B0604020202020204" pitchFamily="34" charset="0"/>
              </a:rPr>
              <a:t> Dong, PhD</a:t>
            </a:r>
          </a:p>
          <a:p>
            <a:pPr marL="285750" indent="-285750">
              <a:lnSpc>
                <a:spcPct val="114000"/>
              </a:lnSpc>
              <a:buFont typeface="Arial" panose="020B0604020202020204" pitchFamily="34" charset="0"/>
              <a:buChar char="•"/>
            </a:pPr>
            <a:r>
              <a:rPr lang="en-US" sz="1200" b="1" dirty="0" err="1">
                <a:latin typeface="Arial" panose="020B0604020202020204" pitchFamily="34" charset="0"/>
                <a:cs typeface="Arial" panose="020B0604020202020204" pitchFamily="34" charset="0"/>
              </a:rPr>
              <a:t>Lu</a:t>
            </a:r>
            <a:r>
              <a:rPr lang="en-US" altLang="zh-CN" sz="1200" b="1" dirty="0" err="1">
                <a:latin typeface="Arial" panose="020B0604020202020204" pitchFamily="34" charset="0"/>
                <a:cs typeface="Arial" panose="020B0604020202020204" pitchFamily="34" charset="0"/>
              </a:rPr>
              <a:t>ping</a:t>
            </a:r>
            <a:r>
              <a:rPr lang="zh-CN" altLang="en-US" sz="1200" b="1" dirty="0">
                <a:latin typeface="Arial" panose="020B0604020202020204" pitchFamily="34" charset="0"/>
                <a:cs typeface="Arial" panose="020B0604020202020204" pitchFamily="34" charset="0"/>
              </a:rPr>
              <a:t> </a:t>
            </a:r>
            <a:r>
              <a:rPr lang="en-US" altLang="zh-CN" sz="1200" b="1" dirty="0">
                <a:latin typeface="Arial" panose="020B0604020202020204" pitchFamily="34" charset="0"/>
                <a:cs typeface="Arial" panose="020B0604020202020204" pitchFamily="34" charset="0"/>
              </a:rPr>
              <a:t>Du,</a:t>
            </a:r>
            <a:r>
              <a:rPr lang="zh-CN" altLang="en-US" sz="1200" b="1" dirty="0">
                <a:latin typeface="Arial" panose="020B0604020202020204" pitchFamily="34" charset="0"/>
                <a:cs typeface="Arial" panose="020B0604020202020204" pitchFamily="34" charset="0"/>
              </a:rPr>
              <a:t> </a:t>
            </a:r>
            <a:r>
              <a:rPr lang="en-US" altLang="zh-CN" sz="1200" b="1" dirty="0">
                <a:latin typeface="Arial" panose="020B0604020202020204" pitchFamily="34" charset="0"/>
                <a:cs typeface="Arial" panose="020B0604020202020204" pitchFamily="34" charset="0"/>
              </a:rPr>
              <a:t>PhD</a:t>
            </a:r>
          </a:p>
          <a:p>
            <a:pPr marL="285750" indent="-285750">
              <a:lnSpc>
                <a:spcPct val="114000"/>
              </a:lnSpc>
              <a:buFont typeface="Arial" panose="020B0604020202020204" pitchFamily="34" charset="0"/>
              <a:buChar char="•"/>
            </a:pPr>
            <a:r>
              <a:rPr lang="en-US" sz="1200" b="1" dirty="0">
                <a:latin typeface="Arial" panose="020B0604020202020204" pitchFamily="34" charset="0"/>
                <a:cs typeface="Arial" panose="020B0604020202020204" pitchFamily="34" charset="0"/>
              </a:rPr>
              <a:t>Tingting Lyu, PhD</a:t>
            </a:r>
          </a:p>
          <a:p>
            <a:pPr marL="285750" indent="-285750">
              <a:lnSpc>
                <a:spcPct val="114000"/>
              </a:lnSpc>
              <a:buFont typeface="Arial" panose="020B0604020202020204" pitchFamily="34" charset="0"/>
              <a:buChar char="•"/>
            </a:pPr>
            <a:r>
              <a:rPr lang="en-US" sz="1200" b="1" dirty="0">
                <a:latin typeface="Arial" panose="020B0604020202020204" pitchFamily="34" charset="0"/>
                <a:cs typeface="Arial" panose="020B0604020202020204" pitchFamily="34" charset="0"/>
              </a:rPr>
              <a:t>Wei Hui, PhD</a:t>
            </a:r>
          </a:p>
          <a:p>
            <a:pPr marL="285750" indent="-285750">
              <a:lnSpc>
                <a:spcPct val="114000"/>
              </a:lnSpc>
              <a:buFont typeface="Arial" panose="020B0604020202020204" pitchFamily="34" charset="0"/>
              <a:buChar char="•"/>
            </a:pPr>
            <a:r>
              <a:rPr lang="en-US" sz="1200" b="1" dirty="0" err="1">
                <a:latin typeface="Arial" panose="020B0604020202020204" pitchFamily="34" charset="0"/>
                <a:cs typeface="Arial" panose="020B0604020202020204" pitchFamily="34" charset="0"/>
              </a:rPr>
              <a:t>Xiangjie</a:t>
            </a:r>
            <a:r>
              <a:rPr lang="en-US" sz="1200" b="1" dirty="0">
                <a:latin typeface="Arial" panose="020B0604020202020204" pitchFamily="34" charset="0"/>
                <a:cs typeface="Arial" panose="020B0604020202020204" pitchFamily="34" charset="0"/>
              </a:rPr>
              <a:t> Zhao, PhD</a:t>
            </a:r>
          </a:p>
          <a:p>
            <a:pPr marL="285750" indent="-285750">
              <a:lnSpc>
                <a:spcPct val="114000"/>
              </a:lnSpc>
              <a:buFont typeface="Arial" panose="020B0604020202020204" pitchFamily="34" charset="0"/>
              <a:buChar char="•"/>
            </a:pPr>
            <a:r>
              <a:rPr lang="en-US" sz="1200" b="1" dirty="0">
                <a:latin typeface="Arial" panose="020B0604020202020204" pitchFamily="34" charset="0"/>
                <a:cs typeface="Arial" panose="020B0604020202020204" pitchFamily="34" charset="0"/>
              </a:rPr>
              <a:t>Ryan Coon, BS</a:t>
            </a:r>
          </a:p>
          <a:p>
            <a:pPr marL="285750" indent="-285750">
              <a:lnSpc>
                <a:spcPct val="114000"/>
              </a:lnSpc>
              <a:buFont typeface="Arial" panose="020B0604020202020204" pitchFamily="34" charset="0"/>
              <a:buChar char="•"/>
            </a:pPr>
            <a:r>
              <a:rPr lang="en-US" sz="1200" b="1" dirty="0">
                <a:latin typeface="Arial" panose="020B0604020202020204" pitchFamily="34" charset="0"/>
                <a:cs typeface="Arial" panose="020B0604020202020204" pitchFamily="34" charset="0"/>
              </a:rPr>
              <a:t>Casey Grosso, BS</a:t>
            </a:r>
          </a:p>
          <a:p>
            <a:pPr marL="285750" indent="-285750">
              <a:lnSpc>
                <a:spcPct val="114000"/>
              </a:lnSpc>
              <a:buFont typeface="Arial" panose="020B0604020202020204" pitchFamily="34" charset="0"/>
              <a:buChar char="•"/>
            </a:pPr>
            <a:r>
              <a:rPr lang="en-US" sz="1200" b="1" dirty="0">
                <a:latin typeface="Arial" panose="020B0604020202020204" pitchFamily="34" charset="0"/>
                <a:cs typeface="Arial" panose="020B0604020202020204" pitchFamily="34" charset="0"/>
              </a:rPr>
              <a:t>Weiwei Zhang, BS</a:t>
            </a:r>
          </a:p>
          <a:p>
            <a:pPr marL="285750" indent="-285750">
              <a:lnSpc>
                <a:spcPct val="114000"/>
              </a:lnSpc>
              <a:buFont typeface="Arial" panose="020B0604020202020204" pitchFamily="34" charset="0"/>
              <a:buChar char="•"/>
            </a:pPr>
            <a:endParaRPr lang="en-US" sz="1400" dirty="0">
              <a:latin typeface="Arial" panose="020B0604020202020204" pitchFamily="34" charset="0"/>
              <a:cs typeface="Arial" panose="020B0604020202020204" pitchFamily="34" charset="0"/>
            </a:endParaRPr>
          </a:p>
          <a:p>
            <a:pPr>
              <a:lnSpc>
                <a:spcPct val="114000"/>
              </a:lnSpc>
              <a:spcBef>
                <a:spcPts val="0"/>
              </a:spcBef>
            </a:pPr>
            <a:r>
              <a:rPr lang="en-US" sz="1400" b="1" dirty="0">
                <a:latin typeface="Arial" panose="020B0604020202020204" pitchFamily="34" charset="0"/>
                <a:cs typeface="Arial" panose="020B0604020202020204" pitchFamily="34" charset="0"/>
              </a:rPr>
              <a:t>The Qian Lab</a:t>
            </a:r>
          </a:p>
          <a:p>
            <a:pPr marL="342900" indent="-342900">
              <a:lnSpc>
                <a:spcPct val="114000"/>
              </a:lnSpc>
              <a:spcBef>
                <a:spcPts val="0"/>
              </a:spcBef>
              <a:buFont typeface="Arial" panose="020B0604020202020204" pitchFamily="34" charset="0"/>
              <a:buChar char="•"/>
            </a:pPr>
            <a:r>
              <a:rPr lang="en-US" sz="1200" b="1" dirty="0">
                <a:latin typeface="Arial" panose="020B0604020202020204" pitchFamily="34" charset="0"/>
                <a:cs typeface="Arial" panose="020B0604020202020204" pitchFamily="34" charset="0"/>
              </a:rPr>
              <a:t>Haofei Wang, PhD</a:t>
            </a:r>
          </a:p>
          <a:p>
            <a:pPr marL="342900" indent="-342900">
              <a:lnSpc>
                <a:spcPct val="114000"/>
              </a:lnSpc>
              <a:spcBef>
                <a:spcPts val="0"/>
              </a:spcBef>
              <a:buFont typeface="Arial" panose="020B0604020202020204" pitchFamily="34" charset="0"/>
              <a:buChar char="•"/>
            </a:pPr>
            <a:r>
              <a:rPr lang="en-US" sz="1200" b="1" dirty="0">
                <a:latin typeface="Arial" panose="020B0604020202020204" pitchFamily="34" charset="0"/>
                <a:cs typeface="Arial" panose="020B0604020202020204" pitchFamily="34" charset="0"/>
              </a:rPr>
              <a:t>Yifang Xie, PhD</a:t>
            </a:r>
          </a:p>
          <a:p>
            <a:pPr marL="342900" indent="-342900">
              <a:lnSpc>
                <a:spcPct val="114000"/>
              </a:lnSpc>
              <a:spcBef>
                <a:spcPts val="0"/>
              </a:spcBef>
              <a:buFont typeface="Arial" panose="020B0604020202020204" pitchFamily="34" charset="0"/>
              <a:buChar char="•"/>
            </a:pPr>
            <a:r>
              <a:rPr lang="en-US" sz="1200" b="1" dirty="0">
                <a:latin typeface="Arial" panose="020B0604020202020204" pitchFamily="34" charset="0"/>
                <a:cs typeface="Arial" panose="020B0604020202020204" pitchFamily="34" charset="0"/>
              </a:rPr>
              <a:t>Brian Spurlock, PhD</a:t>
            </a:r>
          </a:p>
          <a:p>
            <a:pPr marL="342900" indent="-342900">
              <a:lnSpc>
                <a:spcPct val="114000"/>
              </a:lnSpc>
              <a:spcBef>
                <a:spcPts val="0"/>
              </a:spcBef>
              <a:buFont typeface="Arial" panose="020B0604020202020204" pitchFamily="34" charset="0"/>
              <a:buChar char="•"/>
            </a:pPr>
            <a:r>
              <a:rPr lang="en-US" altLang="zh-CN" sz="1200" b="1" dirty="0">
                <a:latin typeface="Arial" panose="020B0604020202020204" pitchFamily="34" charset="0"/>
                <a:cs typeface="Arial" panose="020B0604020202020204" pitchFamily="34" charset="0"/>
              </a:rPr>
              <a:t>Yu</a:t>
            </a:r>
            <a:r>
              <a:rPr lang="zh-CN" altLang="en-US" sz="1200" b="1" dirty="0">
                <a:latin typeface="Arial" panose="020B0604020202020204" pitchFamily="34" charset="0"/>
                <a:cs typeface="Arial" panose="020B0604020202020204" pitchFamily="34" charset="0"/>
              </a:rPr>
              <a:t> </a:t>
            </a:r>
            <a:r>
              <a:rPr lang="en-US" altLang="zh-CN" sz="1200" b="1" dirty="0">
                <a:latin typeface="Arial" panose="020B0604020202020204" pitchFamily="34" charset="0"/>
                <a:cs typeface="Arial" panose="020B0604020202020204" pitchFamily="34" charset="0"/>
              </a:rPr>
              <a:t>Zhao,</a:t>
            </a:r>
            <a:r>
              <a:rPr lang="zh-CN" altLang="en-US" sz="1200" b="1" dirty="0">
                <a:latin typeface="Arial" panose="020B0604020202020204" pitchFamily="34" charset="0"/>
                <a:cs typeface="Arial" panose="020B0604020202020204" pitchFamily="34" charset="0"/>
              </a:rPr>
              <a:t> </a:t>
            </a:r>
            <a:r>
              <a:rPr lang="en-US" altLang="zh-CN" sz="1200" b="1" dirty="0">
                <a:latin typeface="Arial" panose="020B0604020202020204" pitchFamily="34" charset="0"/>
                <a:cs typeface="Arial" panose="020B0604020202020204" pitchFamily="34" charset="0"/>
              </a:rPr>
              <a:t>PhD</a:t>
            </a:r>
          </a:p>
          <a:p>
            <a:pPr marL="342900" indent="-342900">
              <a:lnSpc>
                <a:spcPct val="114000"/>
              </a:lnSpc>
              <a:spcBef>
                <a:spcPts val="0"/>
              </a:spcBef>
              <a:buFont typeface="Arial" panose="020B0604020202020204" pitchFamily="34" charset="0"/>
              <a:buChar char="•"/>
            </a:pPr>
            <a:r>
              <a:rPr lang="en-US" sz="1200" b="1" dirty="0" err="1">
                <a:latin typeface="Arial" panose="020B0604020202020204" pitchFamily="34" charset="0"/>
                <a:cs typeface="Arial" panose="020B0604020202020204" pitchFamily="34" charset="0"/>
              </a:rPr>
              <a:t>Yuzhong</a:t>
            </a:r>
            <a:r>
              <a:rPr lang="en-US" sz="1200" b="1" dirty="0">
                <a:latin typeface="Arial" panose="020B0604020202020204" pitchFamily="34" charset="0"/>
                <a:cs typeface="Arial" panose="020B0604020202020204" pitchFamily="34" charset="0"/>
              </a:rPr>
              <a:t> Wu, MD/PhD</a:t>
            </a:r>
          </a:p>
          <a:p>
            <a:pPr marL="342900" indent="-342900">
              <a:lnSpc>
                <a:spcPct val="114000"/>
              </a:lnSpc>
              <a:spcBef>
                <a:spcPts val="0"/>
              </a:spcBef>
              <a:buFont typeface="Arial" panose="020B0604020202020204" pitchFamily="34" charset="0"/>
              <a:buChar char="•"/>
            </a:pPr>
            <a:r>
              <a:rPr lang="en-US" sz="1200" b="1" dirty="0">
                <a:latin typeface="Arial" panose="020B0604020202020204" pitchFamily="34" charset="0"/>
                <a:cs typeface="Arial" panose="020B0604020202020204" pitchFamily="34" charset="0"/>
              </a:rPr>
              <a:t>Shea Ricketts, BA</a:t>
            </a:r>
          </a:p>
          <a:p>
            <a:pPr marL="342900" indent="-342900">
              <a:lnSpc>
                <a:spcPct val="114000"/>
              </a:lnSpc>
              <a:spcBef>
                <a:spcPts val="0"/>
              </a:spcBef>
              <a:buFont typeface="Arial" panose="020B0604020202020204" pitchFamily="34" charset="0"/>
              <a:buChar char="•"/>
            </a:pPr>
            <a:r>
              <a:rPr lang="en-US" sz="1200" b="1" dirty="0">
                <a:latin typeface="Arial" panose="020B0604020202020204" pitchFamily="34" charset="0"/>
                <a:cs typeface="Arial" panose="020B0604020202020204" pitchFamily="34" charset="0"/>
              </a:rPr>
              <a:t>Paige Takasugi, BA</a:t>
            </a:r>
          </a:p>
          <a:p>
            <a:pPr marL="342900" indent="-342900">
              <a:lnSpc>
                <a:spcPct val="114000"/>
              </a:lnSpc>
              <a:spcBef>
                <a:spcPts val="0"/>
              </a:spcBef>
              <a:buFont typeface="Arial" panose="020B0604020202020204" pitchFamily="34" charset="0"/>
              <a:buChar char="•"/>
            </a:pPr>
            <a:r>
              <a:rPr lang="en-US" altLang="zh-CN" sz="1200" b="1" dirty="0">
                <a:latin typeface="Arial" panose="020B0604020202020204" pitchFamily="34" charset="0"/>
                <a:cs typeface="Arial" panose="020B0604020202020204" pitchFamily="34" charset="0"/>
              </a:rPr>
              <a:t>Yiran</a:t>
            </a:r>
            <a:r>
              <a:rPr lang="zh-CN" altLang="en-US" sz="1200" b="1" dirty="0">
                <a:latin typeface="Arial" panose="020B0604020202020204" pitchFamily="34" charset="0"/>
                <a:cs typeface="Arial" panose="020B0604020202020204" pitchFamily="34" charset="0"/>
              </a:rPr>
              <a:t> </a:t>
            </a:r>
            <a:r>
              <a:rPr lang="en-US" altLang="zh-CN" sz="1200" b="1" dirty="0">
                <a:latin typeface="Arial" panose="020B0604020202020204" pitchFamily="34" charset="0"/>
                <a:cs typeface="Arial" panose="020B0604020202020204" pitchFamily="34" charset="0"/>
              </a:rPr>
              <a:t>Song,</a:t>
            </a:r>
            <a:r>
              <a:rPr lang="zh-CN" altLang="en-US" sz="1200" b="1" dirty="0">
                <a:latin typeface="Arial" panose="020B0604020202020204" pitchFamily="34" charset="0"/>
                <a:cs typeface="Arial" panose="020B0604020202020204" pitchFamily="34" charset="0"/>
              </a:rPr>
              <a:t> </a:t>
            </a:r>
            <a:r>
              <a:rPr lang="en-US" altLang="zh-CN" sz="1200" b="1" dirty="0">
                <a:latin typeface="Arial" panose="020B0604020202020204" pitchFamily="34" charset="0"/>
                <a:cs typeface="Arial" panose="020B0604020202020204" pitchFamily="34" charset="0"/>
              </a:rPr>
              <a:t>MS</a:t>
            </a:r>
          </a:p>
          <a:p>
            <a:pPr marL="342900" indent="-342900">
              <a:lnSpc>
                <a:spcPct val="114000"/>
              </a:lnSpc>
              <a:spcBef>
                <a:spcPts val="0"/>
              </a:spcBef>
              <a:buFont typeface="Arial" panose="020B0604020202020204" pitchFamily="34" charset="0"/>
              <a:buChar char="•"/>
            </a:pPr>
            <a:r>
              <a:rPr lang="en-US" altLang="zh-CN" sz="1200" b="1" dirty="0">
                <a:latin typeface="Arial" panose="020B0604020202020204" pitchFamily="34" charset="0"/>
                <a:cs typeface="Arial" panose="020B0604020202020204" pitchFamily="34" charset="0"/>
              </a:rPr>
              <a:t>Chelsea Li, MS</a:t>
            </a:r>
          </a:p>
          <a:p>
            <a:pPr marL="342900" indent="-342900">
              <a:lnSpc>
                <a:spcPct val="114000"/>
              </a:lnSpc>
              <a:spcBef>
                <a:spcPts val="0"/>
              </a:spcBef>
              <a:buFont typeface="Arial" panose="020B0604020202020204" pitchFamily="34" charset="0"/>
              <a:buChar char="•"/>
            </a:pPr>
            <a:r>
              <a:rPr lang="en-US" sz="1200" b="1" dirty="0">
                <a:latin typeface="Arial" panose="020B0604020202020204" pitchFamily="34" charset="0"/>
                <a:cs typeface="Arial" panose="020B0604020202020204" pitchFamily="34" charset="0"/>
              </a:rPr>
              <a:t>Rachelle Ambroise, MS</a:t>
            </a:r>
          </a:p>
        </p:txBody>
      </p:sp>
      <p:pic>
        <p:nvPicPr>
          <p:cNvPr id="3" name="Picture 2" descr="A group of people sitting at a table&#10;&#10;Description automatically generated">
            <a:extLst>
              <a:ext uri="{FF2B5EF4-FFF2-40B4-BE49-F238E27FC236}">
                <a16:creationId xmlns:a16="http://schemas.microsoft.com/office/drawing/2014/main" id="{CFCF3DAE-7AE7-DDD0-503A-1D680731C502}"/>
              </a:ext>
            </a:extLst>
          </p:cNvPr>
          <p:cNvPicPr>
            <a:picLocks noChangeAspect="1"/>
          </p:cNvPicPr>
          <p:nvPr/>
        </p:nvPicPr>
        <p:blipFill>
          <a:blip r:embed="rId4"/>
          <a:stretch>
            <a:fillRect/>
          </a:stretch>
        </p:blipFill>
        <p:spPr>
          <a:xfrm rot="1588266">
            <a:off x="8269400" y="1689486"/>
            <a:ext cx="2964729" cy="3952971"/>
          </a:xfrm>
          <a:prstGeom prst="rect">
            <a:avLst/>
          </a:prstGeom>
          <a:solidFill>
            <a:srgbClr val="FFFFFF">
              <a:shade val="85000"/>
            </a:srgbClr>
          </a:solidFill>
          <a:ln w="190500" cap="sq">
            <a:solidFill>
              <a:srgbClr val="FFFFFF"/>
            </a:solidFill>
            <a:miter lim="800000"/>
          </a:ln>
          <a:effectLst>
            <a:outerShdw blurRad="65000" dist="50800" dir="12900000" kx="195000" ky="145000" algn="tl" rotWithShape="0">
              <a:srgbClr val="000000">
                <a:alpha val="30000"/>
              </a:srgbClr>
            </a:outerShdw>
          </a:effectLst>
          <a:scene3d>
            <a:camera prst="orthographicFront">
              <a:rot lat="0" lon="0" rev="360000"/>
            </a:camera>
            <a:lightRig rig="twoPt" dir="t">
              <a:rot lat="0" lon="0" rev="7200000"/>
            </a:lightRig>
          </a:scene3d>
          <a:sp3d contourW="12700">
            <a:bevelT w="25400" h="19050"/>
            <a:contourClr>
              <a:srgbClr val="969696"/>
            </a:contourClr>
          </a:sp3d>
        </p:spPr>
      </p:pic>
      <p:pic>
        <p:nvPicPr>
          <p:cNvPr id="6" name="Picture 5" descr="A group of people posing for a photo&#10;&#10;Description automatically generated">
            <a:extLst>
              <a:ext uri="{FF2B5EF4-FFF2-40B4-BE49-F238E27FC236}">
                <a16:creationId xmlns:a16="http://schemas.microsoft.com/office/drawing/2014/main" id="{8938863F-1379-DBE2-C55F-290144EF4647}"/>
              </a:ext>
            </a:extLst>
          </p:cNvPr>
          <p:cNvPicPr>
            <a:picLocks noChangeAspect="1"/>
          </p:cNvPicPr>
          <p:nvPr/>
        </p:nvPicPr>
        <p:blipFill>
          <a:blip r:embed="rId5"/>
          <a:stretch>
            <a:fillRect/>
          </a:stretch>
        </p:blipFill>
        <p:spPr>
          <a:xfrm>
            <a:off x="3424869" y="2075087"/>
            <a:ext cx="3463100" cy="2597325"/>
          </a:xfrm>
          <a:prstGeom prst="rect">
            <a:avLst/>
          </a:prstGeom>
          <a:ln w="127000" cap="rnd">
            <a:solidFill>
              <a:srgbClr val="FFFFFF"/>
            </a:solidFill>
          </a:ln>
          <a:effectLst>
            <a:outerShdw blurRad="76200" dist="95250" dir="10500000" sx="97000" sy="23000" kx="900000" algn="br" rotWithShape="0">
              <a:srgbClr val="000000">
                <a:alpha val="20000"/>
              </a:srgbClr>
            </a:outerShdw>
          </a:effectLst>
          <a:scene3d>
            <a:camera prst="orthographicFront"/>
            <a:lightRig rig="twoPt" dir="t">
              <a:rot lat="0" lon="0" rev="7800000"/>
            </a:lightRig>
          </a:scene3d>
          <a:sp3d contourW="6350">
            <a:bevelT w="50800" h="16510"/>
            <a:contourClr>
              <a:srgbClr val="C0C0C0"/>
            </a:contourClr>
          </a:sp3d>
        </p:spPr>
      </p:pic>
      <p:pic>
        <p:nvPicPr>
          <p:cNvPr id="9" name="Picture 8" descr="A group of people posing for a photo&#10;&#10;Description automatically generated">
            <a:extLst>
              <a:ext uri="{FF2B5EF4-FFF2-40B4-BE49-F238E27FC236}">
                <a16:creationId xmlns:a16="http://schemas.microsoft.com/office/drawing/2014/main" id="{89754230-D2EA-F101-565C-E74EF30241BB}"/>
              </a:ext>
            </a:extLst>
          </p:cNvPr>
          <p:cNvPicPr>
            <a:picLocks noChangeAspect="1"/>
          </p:cNvPicPr>
          <p:nvPr/>
        </p:nvPicPr>
        <p:blipFill>
          <a:blip r:embed="rId6"/>
          <a:stretch>
            <a:fillRect/>
          </a:stretch>
        </p:blipFill>
        <p:spPr>
          <a:xfrm>
            <a:off x="6012490" y="1888576"/>
            <a:ext cx="2593497" cy="1945122"/>
          </a:xfrm>
          <a:prstGeom prst="rect">
            <a:avLst/>
          </a:prstGeom>
          <a:solidFill>
            <a:srgbClr val="FFFFFF">
              <a:shade val="85000"/>
            </a:srgbClr>
          </a:solidFill>
          <a:ln w="190500" cap="sq">
            <a:solidFill>
              <a:srgbClr val="FFFFFF"/>
            </a:solidFill>
            <a:miter lim="800000"/>
          </a:ln>
          <a:effectLst>
            <a:outerShdw blurRad="65000" dist="50800" dir="12900000" kx="195000" ky="145000" algn="tl" rotWithShape="0">
              <a:srgbClr val="000000">
                <a:alpha val="30000"/>
              </a:srgbClr>
            </a:outerShdw>
          </a:effectLst>
          <a:scene3d>
            <a:camera prst="orthographicFront">
              <a:rot lat="0" lon="0" rev="360000"/>
            </a:camera>
            <a:lightRig rig="twoPt" dir="t">
              <a:rot lat="0" lon="0" rev="7200000"/>
            </a:lightRig>
          </a:scene3d>
          <a:sp3d contourW="12700">
            <a:bevelT w="25400" h="19050"/>
            <a:contourClr>
              <a:srgbClr val="969696"/>
            </a:contourClr>
          </a:sp3d>
        </p:spPr>
      </p:pic>
      <p:pic>
        <p:nvPicPr>
          <p:cNvPr id="11" name="Picture 10"/>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934200" y="5432401"/>
            <a:ext cx="1886717" cy="717598"/>
          </a:xfrm>
          <a:prstGeom prst="rect">
            <a:avLst/>
          </a:prstGeom>
        </p:spPr>
      </p:pic>
    </p:spTree>
    <p:extLst>
      <p:ext uri="{BB962C8B-B14F-4D97-AF65-F5344CB8AC3E}">
        <p14:creationId xmlns:p14="http://schemas.microsoft.com/office/powerpoint/2010/main" val="214431212"/>
      </p:ext>
    </p:extLst>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749808"/>
            <a:ext cx="11365992" cy="658368"/>
          </a:xfrm>
          <a:prstGeom prst="rect">
            <a:avLst/>
          </a:prstGeom>
          <a:noFill/>
        </p:spPr>
        <p:txBody>
          <a:bodyPr wrap="square" lIns="0" rIns="0" tIns="0" bIns="0">
            <a:spAutoFit/>
          </a:bodyPr>
          <a:lstStyle/>
          <a:p>
            <a:pPr algn="ctr">
              <a:spcAft>
                <a:spcPts val="500"/>
              </a:spcAft>
              <a:defRPr sz="2600" b="1">
                <a:solidFill>
                  <a:srgbClr val="285180"/>
                </a:solidFill>
                <a:latin typeface="Arial"/>
              </a:defRPr>
            </a:pPr>
            <a:r>
              <a:t>Cell states have distinct locations and developmental dynamics</a:t>
            </a:r>
          </a:p>
        </p:txBody>
      </p:sp>
      <p:pic>
        <p:nvPicPr>
          <p:cNvPr id="3" name="Picture 2" descr="cell_states.png"/>
          <p:cNvPicPr>
            <a:picLocks noChangeAspect="1"/>
          </p:cNvPicPr>
          <p:nvPr/>
        </p:nvPicPr>
        <p:blipFill>
          <a:blip r:embed="rId2"/>
          <a:stretch>
            <a:fillRect/>
          </a:stretch>
        </p:blipFill>
        <p:spPr>
          <a:xfrm>
            <a:off x="1988819" y="1508760"/>
            <a:ext cx="4526280" cy="4526280"/>
          </a:xfrm>
          <a:prstGeom prst="rect">
            <a:avLst/>
          </a:prstGeom>
        </p:spPr>
      </p:pic>
      <p:sp>
        <p:nvSpPr>
          <p:cNvPr id="4" name="TextBox 3"/>
          <p:cNvSpPr txBox="1"/>
          <p:nvPr/>
        </p:nvSpPr>
        <p:spPr>
          <a:xfrm>
            <a:off x="8138160" y="1938528"/>
            <a:ext cx="3383280" cy="3474720"/>
          </a:xfrm>
          <a:prstGeom prst="rect">
            <a:avLst/>
          </a:prstGeom>
          <a:noFill/>
        </p:spPr>
        <p:txBody>
          <a:bodyPr wrap="square" lIns="0" rIns="0" tIns="0" bIns="0">
            <a:spAutoFit/>
          </a:bodyPr>
          <a:lstStyle/>
          <a:p>
            <a:pPr>
              <a:spcAft>
                <a:spcPts val="500"/>
              </a:spcAft>
              <a:defRPr sz="2000" b="0">
                <a:solidFill>
                  <a:srgbClr val="285180"/>
                </a:solidFill>
                <a:latin typeface="Arial"/>
              </a:defRPr>
            </a:pPr>
            <a:r>
              <a:t>CM states</a:t>
            </a:r>
          </a:p>
          <a:p>
            <a:pPr>
              <a:spcAft>
                <a:spcPts val="500"/>
              </a:spcAft>
              <a:defRPr sz="2000" b="0">
                <a:solidFill>
                  <a:srgbClr val="285180"/>
                </a:solidFill>
                <a:latin typeface="Arial"/>
              </a:defRPr>
            </a:pPr>
            <a:r>
              <a:t>Regional specialization</a:t>
            </a:r>
          </a:p>
          <a:p>
            <a:pPr>
              <a:spcAft>
                <a:spcPts val="500"/>
              </a:spcAft>
              <a:defRPr sz="2000" b="0">
                <a:solidFill>
                  <a:srgbClr val="285180"/>
                </a:solidFill>
                <a:latin typeface="Arial"/>
              </a:defRPr>
            </a:pPr>
          </a:p>
          <a:p>
            <a:pPr>
              <a:spcAft>
                <a:spcPts val="500"/>
              </a:spcAft>
              <a:defRPr sz="2000" b="0">
                <a:solidFill>
                  <a:srgbClr val="285180"/>
                </a:solidFill>
                <a:latin typeface="Arial"/>
              </a:defRPr>
            </a:pPr>
            <a:r>
              <a:t>EC states</a:t>
            </a:r>
          </a:p>
          <a:p>
            <a:pPr>
              <a:spcAft>
                <a:spcPts val="500"/>
              </a:spcAft>
              <a:defRPr sz="2000" b="0">
                <a:solidFill>
                  <a:srgbClr val="285180"/>
                </a:solidFill>
                <a:latin typeface="Arial"/>
              </a:defRPr>
            </a:pPr>
            <a:r>
              <a:t>Vascular identity</a:t>
            </a:r>
          </a:p>
          <a:p>
            <a:pPr>
              <a:spcAft>
                <a:spcPts val="500"/>
              </a:spcAft>
              <a:defRPr sz="2000" b="0">
                <a:solidFill>
                  <a:srgbClr val="285180"/>
                </a:solidFill>
                <a:latin typeface="Arial"/>
              </a:defRPr>
            </a:pPr>
          </a:p>
          <a:p>
            <a:pPr>
              <a:spcAft>
                <a:spcPts val="500"/>
              </a:spcAft>
              <a:defRPr sz="2000" b="0">
                <a:solidFill>
                  <a:srgbClr val="285180"/>
                </a:solidFill>
                <a:latin typeface="Arial"/>
              </a:defRPr>
            </a:pPr>
            <a:r>
              <a:t>Fibroblast states</a:t>
            </a:r>
          </a:p>
          <a:p>
            <a:pPr>
              <a:spcAft>
                <a:spcPts val="500"/>
              </a:spcAft>
              <a:defRPr sz="2000" b="0">
                <a:solidFill>
                  <a:srgbClr val="285180"/>
                </a:solidFill>
                <a:latin typeface="Arial"/>
              </a:defRPr>
            </a:pPr>
            <a:r>
              <a:t>Matrix and anatomical programs</a:t>
            </a:r>
          </a:p>
        </p:txBody>
      </p:sp>
      <p:sp>
        <p:nvSpPr>
          <p:cNvPr id="5" name="TextBox 4"/>
          <p:cNvSpPr txBox="1"/>
          <p:nvPr/>
        </p:nvSpPr>
        <p:spPr>
          <a:xfrm>
            <a:off x="594360" y="6254496"/>
            <a:ext cx="11000232" cy="320040"/>
          </a:xfrm>
          <a:prstGeom prst="rect">
            <a:avLst/>
          </a:prstGeom>
          <a:noFill/>
        </p:spPr>
        <p:txBody>
          <a:bodyPr wrap="square" lIns="0" rIns="0" tIns="0" bIns="0">
            <a:spAutoFit/>
          </a:bodyPr>
          <a:lstStyle/>
          <a:p>
            <a:pPr algn="ctr">
              <a:lnSpc>
                <a:spcPts val="1600"/>
              </a:lnSpc>
              <a:spcAft>
                <a:spcPts val="0"/>
              </a:spcAft>
              <a:defRPr sz="1500" b="1">
                <a:solidFill>
                  <a:srgbClr val="285180"/>
                </a:solidFill>
                <a:latin typeface="Arial"/>
              </a:defRPr>
            </a:pPr>
            <a:r>
              <a:t>The atlas resolves 25 states with distinct transcriptional and spatial identities.</a:t>
            </a:r>
          </a:p>
        </p:txBody>
      </p:sp>
      <p:sp>
        <p:nvSpPr>
          <p:cNvPr id="6" name="TextBox 5"/>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1j,k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749808"/>
            <a:ext cx="11365992" cy="658368"/>
          </a:xfrm>
          <a:prstGeom prst="rect">
            <a:avLst/>
          </a:prstGeom>
          <a:noFill/>
        </p:spPr>
        <p:txBody>
          <a:bodyPr wrap="square" lIns="0" rIns="0" tIns="0" bIns="0">
            <a:spAutoFit/>
          </a:bodyPr>
          <a:lstStyle/>
          <a:p>
            <a:pPr algn="ctr">
              <a:spcAft>
                <a:spcPts val="500"/>
              </a:spcAft>
              <a:defRPr sz="2600" b="1">
                <a:solidFill>
                  <a:srgbClr val="285180"/>
                </a:solidFill>
                <a:latin typeface="Arial"/>
              </a:defRPr>
            </a:pPr>
            <a:r>
              <a:t>Proliferative states follow different postnatal schedules</a:t>
            </a:r>
          </a:p>
        </p:txBody>
      </p:sp>
      <p:pic>
        <p:nvPicPr>
          <p:cNvPr id="3" name="Picture 2" descr="proliferative_states.png"/>
          <p:cNvPicPr>
            <a:picLocks noChangeAspect="1"/>
          </p:cNvPicPr>
          <p:nvPr/>
        </p:nvPicPr>
        <p:blipFill>
          <a:blip r:embed="rId2"/>
          <a:stretch>
            <a:fillRect/>
          </a:stretch>
        </p:blipFill>
        <p:spPr>
          <a:xfrm>
            <a:off x="1090748" y="1691640"/>
            <a:ext cx="4859382" cy="4251960"/>
          </a:xfrm>
          <a:prstGeom prst="rect">
            <a:avLst/>
          </a:prstGeom>
        </p:spPr>
      </p:pic>
      <p:sp>
        <p:nvSpPr>
          <p:cNvPr id="4" name="TextBox 3"/>
          <p:cNvSpPr txBox="1"/>
          <p:nvPr/>
        </p:nvSpPr>
        <p:spPr>
          <a:xfrm>
            <a:off x="6858000" y="2029968"/>
            <a:ext cx="4480560" cy="3383280"/>
          </a:xfrm>
          <a:prstGeom prst="rect">
            <a:avLst/>
          </a:prstGeom>
          <a:noFill/>
        </p:spPr>
        <p:txBody>
          <a:bodyPr wrap="square" lIns="0" rIns="0" tIns="0" bIns="0">
            <a:spAutoFit/>
          </a:bodyPr>
          <a:lstStyle/>
          <a:p>
            <a:pPr>
              <a:spcAft>
                <a:spcPts val="500"/>
              </a:spcAft>
              <a:defRPr sz="2300" b="0">
                <a:solidFill>
                  <a:srgbClr val="285180"/>
                </a:solidFill>
                <a:latin typeface="Arial"/>
              </a:defRPr>
            </a:pPr>
            <a:r>
              <a:t>Early CM cell-cycle activity</a:t>
            </a:r>
          </a:p>
          <a:p>
            <a:pPr>
              <a:spcAft>
                <a:spcPts val="500"/>
              </a:spcAft>
              <a:defRPr sz="2300" b="0">
                <a:solidFill>
                  <a:srgbClr val="285180"/>
                </a:solidFill>
                <a:latin typeface="Arial"/>
              </a:defRPr>
            </a:pPr>
          </a:p>
          <a:p>
            <a:pPr>
              <a:spcAft>
                <a:spcPts val="500"/>
              </a:spcAft>
              <a:defRPr sz="2300" b="0">
                <a:solidFill>
                  <a:srgbClr val="285180"/>
                </a:solidFill>
                <a:latin typeface="Arial"/>
              </a:defRPr>
            </a:pPr>
            <a:r>
              <a:t>Transient fibroblast proliferation</a:t>
            </a:r>
          </a:p>
          <a:p>
            <a:pPr>
              <a:spcAft>
                <a:spcPts val="500"/>
              </a:spcAft>
              <a:defRPr sz="2300" b="0">
                <a:solidFill>
                  <a:srgbClr val="285180"/>
                </a:solidFill>
                <a:latin typeface="Arial"/>
              </a:defRPr>
            </a:pPr>
          </a:p>
          <a:p>
            <a:pPr>
              <a:spcAft>
                <a:spcPts val="500"/>
              </a:spcAft>
              <a:defRPr sz="2300" b="0">
                <a:solidFill>
                  <a:srgbClr val="285180"/>
                </a:solidFill>
                <a:latin typeface="Arial"/>
              </a:defRPr>
            </a:pPr>
            <a:r>
              <a:t>Stage-dependent vascular growth</a:t>
            </a:r>
          </a:p>
        </p:txBody>
      </p:sp>
      <p:sp>
        <p:nvSpPr>
          <p:cNvPr id="5" name="TextBox 4"/>
          <p:cNvSpPr txBox="1"/>
          <p:nvPr/>
        </p:nvSpPr>
        <p:spPr>
          <a:xfrm>
            <a:off x="594360" y="6254496"/>
            <a:ext cx="11000232" cy="320040"/>
          </a:xfrm>
          <a:prstGeom prst="rect">
            <a:avLst/>
          </a:prstGeom>
          <a:noFill/>
        </p:spPr>
        <p:txBody>
          <a:bodyPr wrap="square" lIns="0" rIns="0" tIns="0" bIns="0">
            <a:spAutoFit/>
          </a:bodyPr>
          <a:lstStyle/>
          <a:p>
            <a:pPr algn="ctr">
              <a:lnSpc>
                <a:spcPts val="1600"/>
              </a:lnSpc>
              <a:spcAft>
                <a:spcPts val="0"/>
              </a:spcAft>
              <a:defRPr sz="1500" b="1">
                <a:solidFill>
                  <a:srgbClr val="285180"/>
                </a:solidFill>
                <a:latin typeface="Arial"/>
              </a:defRPr>
            </a:pPr>
            <a:r>
              <a:t>CMs, endothelial cells and fibroblasts have distinct developmental growth dynamics.</a:t>
            </a:r>
          </a:p>
        </p:txBody>
      </p:sp>
      <p:sp>
        <p:nvSpPr>
          <p:cNvPr id="6" name="TextBox 5"/>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1l; Supplementary Fig. 10b</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749808"/>
            <a:ext cx="11365992" cy="658368"/>
          </a:xfrm>
          <a:prstGeom prst="rect">
            <a:avLst/>
          </a:prstGeom>
          <a:noFill/>
        </p:spPr>
        <p:txBody>
          <a:bodyPr wrap="square" lIns="0" rIns="0" tIns="0" bIns="0">
            <a:spAutoFit/>
          </a:bodyPr>
          <a:lstStyle/>
          <a:p>
            <a:pPr algn="ctr">
              <a:spcAft>
                <a:spcPts val="500"/>
              </a:spcAft>
              <a:defRPr sz="2600" b="1">
                <a:solidFill>
                  <a:srgbClr val="285180"/>
                </a:solidFill>
                <a:latin typeface="Arial"/>
              </a:defRPr>
            </a:pPr>
            <a:r>
              <a:t>Twelve cellular niches capture regional heart development</a:t>
            </a:r>
          </a:p>
        </p:txBody>
      </p:sp>
      <p:pic>
        <p:nvPicPr>
          <p:cNvPr id="3" name="Picture 2" descr="niche_composition.png"/>
          <p:cNvPicPr>
            <a:picLocks noChangeAspect="1"/>
          </p:cNvPicPr>
          <p:nvPr/>
        </p:nvPicPr>
        <p:blipFill>
          <a:blip r:embed="rId2"/>
          <a:stretch>
            <a:fillRect/>
          </a:stretch>
        </p:blipFill>
        <p:spPr>
          <a:xfrm>
            <a:off x="502920" y="1766751"/>
            <a:ext cx="11155680" cy="3187337"/>
          </a:xfrm>
          <a:prstGeom prst="rect">
            <a:avLst/>
          </a:prstGeom>
        </p:spPr>
      </p:pic>
      <p:sp>
        <p:nvSpPr>
          <p:cNvPr id="4" name="TextBox 3"/>
          <p:cNvSpPr txBox="1"/>
          <p:nvPr/>
        </p:nvSpPr>
        <p:spPr>
          <a:xfrm>
            <a:off x="1005840" y="5166360"/>
            <a:ext cx="10195560" cy="777240"/>
          </a:xfrm>
          <a:prstGeom prst="rect">
            <a:avLst/>
          </a:prstGeom>
          <a:noFill/>
        </p:spPr>
        <p:txBody>
          <a:bodyPr wrap="square" lIns="0" rIns="0" tIns="0" bIns="0">
            <a:spAutoFit/>
          </a:bodyPr>
          <a:lstStyle/>
          <a:p>
            <a:pPr algn="ctr">
              <a:spcAft>
                <a:spcPts val="500"/>
              </a:spcAft>
              <a:defRPr sz="2000" b="1">
                <a:solidFill>
                  <a:srgbClr val="285180"/>
                </a:solidFill>
                <a:latin typeface="Arial"/>
              </a:defRPr>
            </a:pPr>
            <a:r>
              <a:t>8 persistent niches and 4 ventricular stage-specific niches</a:t>
            </a:r>
          </a:p>
          <a:p>
            <a:pPr algn="ctr">
              <a:spcAft>
                <a:spcPts val="500"/>
              </a:spcAft>
              <a:defRPr sz="2000" b="1">
                <a:solidFill>
                  <a:srgbClr val="285180"/>
                </a:solidFill>
                <a:latin typeface="Arial"/>
              </a:defRPr>
            </a:pPr>
            <a:r>
              <a:t>A capillary/pericyte-rich niche emerges at P7 and expands</a:t>
            </a:r>
          </a:p>
        </p:txBody>
      </p:sp>
      <p:sp>
        <p:nvSpPr>
          <p:cNvPr id="5" name="TextBox 4"/>
          <p:cNvSpPr txBox="1"/>
          <p:nvPr/>
        </p:nvSpPr>
        <p:spPr>
          <a:xfrm>
            <a:off x="594360" y="6254496"/>
            <a:ext cx="11000232" cy="320040"/>
          </a:xfrm>
          <a:prstGeom prst="rect">
            <a:avLst/>
          </a:prstGeom>
          <a:noFill/>
        </p:spPr>
        <p:txBody>
          <a:bodyPr wrap="square" lIns="0" rIns="0" tIns="0" bIns="0">
            <a:spAutoFit/>
          </a:bodyPr>
          <a:lstStyle/>
          <a:p>
            <a:pPr algn="ctr">
              <a:lnSpc>
                <a:spcPts val="1600"/>
              </a:lnSpc>
              <a:spcAft>
                <a:spcPts val="0"/>
              </a:spcAft>
              <a:defRPr sz="1500" b="1">
                <a:solidFill>
                  <a:srgbClr val="285180"/>
                </a:solidFill>
                <a:latin typeface="Arial"/>
              </a:defRPr>
            </a:pPr>
            <a:r>
              <a:t>Development remodels local cellular combinations as well as individual cell states.</a:t>
            </a:r>
          </a:p>
        </p:txBody>
      </p:sp>
      <p:sp>
        <p:nvSpPr>
          <p:cNvPr id="6" name="TextBox 5"/>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2a–c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749808"/>
            <a:ext cx="11365992" cy="658368"/>
          </a:xfrm>
          <a:prstGeom prst="rect">
            <a:avLst/>
          </a:prstGeom>
          <a:noFill/>
        </p:spPr>
        <p:txBody>
          <a:bodyPr wrap="square" lIns="0" rIns="0" tIns="0" bIns="0">
            <a:spAutoFit/>
          </a:bodyPr>
          <a:lstStyle/>
          <a:p>
            <a:pPr algn="ctr">
              <a:spcAft>
                <a:spcPts val="500"/>
              </a:spcAft>
              <a:defRPr sz="2600" b="1">
                <a:solidFill>
                  <a:srgbClr val="285180"/>
                </a:solidFill>
                <a:latin typeface="Arial"/>
              </a:defRPr>
            </a:pPr>
            <a:r>
              <a:t>Related signaling pairs can occupy different cardiac territories</a:t>
            </a:r>
          </a:p>
        </p:txBody>
      </p:sp>
      <p:pic>
        <p:nvPicPr>
          <p:cNvPr id="3" name="Picture 2" descr="regional_semaphorin.png"/>
          <p:cNvPicPr>
            <a:picLocks noChangeAspect="1"/>
          </p:cNvPicPr>
          <p:nvPr/>
        </p:nvPicPr>
        <p:blipFill>
          <a:blip r:embed="rId2"/>
          <a:stretch>
            <a:fillRect/>
          </a:stretch>
        </p:blipFill>
        <p:spPr>
          <a:xfrm>
            <a:off x="911928" y="1600200"/>
            <a:ext cx="7000102" cy="4526280"/>
          </a:xfrm>
          <a:prstGeom prst="rect">
            <a:avLst/>
          </a:prstGeom>
        </p:spPr>
      </p:pic>
      <p:sp>
        <p:nvSpPr>
          <p:cNvPr id="4" name="TextBox 3"/>
          <p:cNvSpPr txBox="1"/>
          <p:nvPr/>
        </p:nvSpPr>
        <p:spPr>
          <a:xfrm>
            <a:off x="8412480" y="1993392"/>
            <a:ext cx="3154680" cy="3383280"/>
          </a:xfrm>
          <a:prstGeom prst="rect">
            <a:avLst/>
          </a:prstGeom>
          <a:noFill/>
        </p:spPr>
        <p:txBody>
          <a:bodyPr wrap="square" lIns="0" rIns="0" tIns="0" bIns="0">
            <a:spAutoFit/>
          </a:bodyPr>
          <a:lstStyle/>
          <a:p>
            <a:pPr>
              <a:spcAft>
                <a:spcPts val="500"/>
              </a:spcAft>
              <a:defRPr sz="2200" b="0">
                <a:solidFill>
                  <a:srgbClr val="285180"/>
                </a:solidFill>
                <a:latin typeface="Arial"/>
              </a:defRPr>
            </a:pPr>
            <a:r>
              <a:t>SEMA3 signaling</a:t>
            </a:r>
          </a:p>
          <a:p>
            <a:pPr>
              <a:spcAft>
                <a:spcPts val="500"/>
              </a:spcAft>
              <a:defRPr sz="2200" b="0">
                <a:solidFill>
                  <a:srgbClr val="285180"/>
                </a:solidFill>
                <a:latin typeface="Arial"/>
              </a:defRPr>
            </a:pPr>
          </a:p>
          <a:p>
            <a:pPr>
              <a:spcAft>
                <a:spcPts val="500"/>
              </a:spcAft>
              <a:defRPr sz="2200" b="0">
                <a:solidFill>
                  <a:srgbClr val="285180"/>
                </a:solidFill>
                <a:latin typeface="Arial"/>
              </a:defRPr>
            </a:pPr>
            <a:r>
              <a:t>Different ligand–receptor pairs</a:t>
            </a:r>
          </a:p>
          <a:p>
            <a:pPr>
              <a:spcAft>
                <a:spcPts val="500"/>
              </a:spcAft>
              <a:defRPr sz="2200" b="0">
                <a:solidFill>
                  <a:srgbClr val="285180"/>
                </a:solidFill>
                <a:latin typeface="Arial"/>
              </a:defRPr>
            </a:pPr>
          </a:p>
          <a:p>
            <a:pPr>
              <a:spcAft>
                <a:spcPts val="500"/>
              </a:spcAft>
              <a:defRPr sz="2200" b="0">
                <a:solidFill>
                  <a:srgbClr val="285180"/>
                </a:solidFill>
                <a:latin typeface="Arial"/>
              </a:defRPr>
            </a:pPr>
            <a:r>
              <a:t>Different ventricular territories</a:t>
            </a:r>
          </a:p>
        </p:txBody>
      </p:sp>
      <p:sp>
        <p:nvSpPr>
          <p:cNvPr id="5" name="TextBox 4"/>
          <p:cNvSpPr txBox="1"/>
          <p:nvPr/>
        </p:nvSpPr>
        <p:spPr>
          <a:xfrm>
            <a:off x="594360" y="6254496"/>
            <a:ext cx="11000232" cy="320040"/>
          </a:xfrm>
          <a:prstGeom prst="rect">
            <a:avLst/>
          </a:prstGeom>
          <a:noFill/>
        </p:spPr>
        <p:txBody>
          <a:bodyPr wrap="square" lIns="0" rIns="0" tIns="0" bIns="0">
            <a:spAutoFit/>
          </a:bodyPr>
          <a:lstStyle/>
          <a:p>
            <a:pPr algn="ctr">
              <a:lnSpc>
                <a:spcPts val="1600"/>
              </a:lnSpc>
              <a:spcAft>
                <a:spcPts val="0"/>
              </a:spcAft>
              <a:defRPr sz="1500" b="1">
                <a:solidFill>
                  <a:srgbClr val="285180"/>
                </a:solidFill>
                <a:latin typeface="Arial"/>
              </a:defRPr>
            </a:pPr>
            <a:r>
              <a:t>Spatially resolved interactions reveal local specificity within a signaling family.</a:t>
            </a:r>
          </a:p>
        </p:txBody>
      </p:sp>
      <p:sp>
        <p:nvSpPr>
          <p:cNvPr id="6" name="TextBox 5"/>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2g,h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749808"/>
            <a:ext cx="11365992" cy="658368"/>
          </a:xfrm>
          <a:prstGeom prst="rect">
            <a:avLst/>
          </a:prstGeom>
          <a:noFill/>
        </p:spPr>
        <p:txBody>
          <a:bodyPr wrap="square" lIns="0" rIns="0" tIns="0" bIns="0">
            <a:spAutoFit/>
          </a:bodyPr>
          <a:lstStyle/>
          <a:p>
            <a:pPr algn="ctr">
              <a:spcAft>
                <a:spcPts val="500"/>
              </a:spcAft>
              <a:defRPr sz="2600" b="1">
                <a:solidFill>
                  <a:srgbClr val="285180"/>
                </a:solidFill>
                <a:latin typeface="Arial"/>
              </a:defRPr>
            </a:pPr>
            <a:r>
              <a:t>A localized vascular cue highlights the proliferative EC state</a:t>
            </a:r>
          </a:p>
        </p:txBody>
      </p:sp>
      <p:pic>
        <p:nvPicPr>
          <p:cNvPr id="3" name="Picture 2" descr="kit_combined.png"/>
          <p:cNvPicPr>
            <a:picLocks noChangeAspect="1"/>
          </p:cNvPicPr>
          <p:nvPr/>
        </p:nvPicPr>
        <p:blipFill>
          <a:blip r:embed="rId2"/>
          <a:stretch>
            <a:fillRect/>
          </a:stretch>
        </p:blipFill>
        <p:spPr>
          <a:xfrm>
            <a:off x="1163377" y="1618488"/>
            <a:ext cx="6451485" cy="4526280"/>
          </a:xfrm>
          <a:prstGeom prst="rect">
            <a:avLst/>
          </a:prstGeom>
        </p:spPr>
      </p:pic>
      <p:sp>
        <p:nvSpPr>
          <p:cNvPr id="4" name="TextBox 3"/>
          <p:cNvSpPr txBox="1"/>
          <p:nvPr/>
        </p:nvSpPr>
        <p:spPr>
          <a:xfrm>
            <a:off x="8549640" y="1920240"/>
            <a:ext cx="2926080" cy="3611880"/>
          </a:xfrm>
          <a:prstGeom prst="rect">
            <a:avLst/>
          </a:prstGeom>
          <a:noFill/>
        </p:spPr>
        <p:txBody>
          <a:bodyPr wrap="square" lIns="0" rIns="0" tIns="0" bIns="0">
            <a:spAutoFit/>
          </a:bodyPr>
          <a:lstStyle/>
          <a:p>
            <a:pPr>
              <a:spcAft>
                <a:spcPts val="500"/>
              </a:spcAft>
              <a:defRPr sz="2200" b="1">
                <a:solidFill>
                  <a:srgbClr val="285180"/>
                </a:solidFill>
                <a:latin typeface="Arial"/>
              </a:defRPr>
            </a:pPr>
            <a:r>
              <a:t>KITL–KIT</a:t>
            </a:r>
          </a:p>
          <a:p>
            <a:pPr>
              <a:spcAft>
                <a:spcPts val="500"/>
              </a:spcAft>
              <a:defRPr sz="2200" b="1">
                <a:solidFill>
                  <a:srgbClr val="285180"/>
                </a:solidFill>
                <a:latin typeface="Arial"/>
              </a:defRPr>
            </a:pPr>
          </a:p>
          <a:p>
            <a:pPr>
              <a:spcAft>
                <a:spcPts val="500"/>
              </a:spcAft>
              <a:defRPr sz="2200" b="1">
                <a:solidFill>
                  <a:srgbClr val="285180"/>
                </a:solidFill>
                <a:latin typeface="Arial"/>
              </a:defRPr>
            </a:pPr>
            <a:r>
              <a:t>Proliferative EC state</a:t>
            </a:r>
          </a:p>
          <a:p>
            <a:pPr>
              <a:spcAft>
                <a:spcPts val="500"/>
              </a:spcAft>
              <a:defRPr sz="2200" b="1">
                <a:solidFill>
                  <a:srgbClr val="285180"/>
                </a:solidFill>
                <a:latin typeface="Arial"/>
              </a:defRPr>
            </a:pPr>
          </a:p>
          <a:p>
            <a:pPr>
              <a:spcAft>
                <a:spcPts val="500"/>
              </a:spcAft>
              <a:defRPr sz="2200" b="1">
                <a:solidFill>
                  <a:srgbClr val="285180"/>
                </a:solidFill>
                <a:latin typeface="Arial"/>
              </a:defRPr>
            </a:pPr>
            <a:r>
              <a:t>Peak inferred activity at P7</a:t>
            </a:r>
          </a:p>
        </p:txBody>
      </p:sp>
      <p:sp>
        <p:nvSpPr>
          <p:cNvPr id="5" name="TextBox 4"/>
          <p:cNvSpPr txBox="1"/>
          <p:nvPr/>
        </p:nvSpPr>
        <p:spPr>
          <a:xfrm>
            <a:off x="594360" y="6254496"/>
            <a:ext cx="11000232" cy="320040"/>
          </a:xfrm>
          <a:prstGeom prst="rect">
            <a:avLst/>
          </a:prstGeom>
          <a:noFill/>
        </p:spPr>
        <p:txBody>
          <a:bodyPr wrap="square" lIns="0" rIns="0" tIns="0" bIns="0">
            <a:spAutoFit/>
          </a:bodyPr>
          <a:lstStyle/>
          <a:p>
            <a:pPr algn="ctr">
              <a:lnSpc>
                <a:spcPts val="1600"/>
              </a:lnSpc>
              <a:spcAft>
                <a:spcPts val="0"/>
              </a:spcAft>
              <a:defRPr sz="1500" b="1">
                <a:solidFill>
                  <a:srgbClr val="285180"/>
                </a:solidFill>
                <a:latin typeface="Arial"/>
              </a:defRPr>
            </a:pPr>
            <a:r>
              <a:t>KITL–KIT is a candidate cue associated with the P7 proliferative EC state.</a:t>
            </a:r>
          </a:p>
        </p:txBody>
      </p:sp>
      <p:sp>
        <p:nvSpPr>
          <p:cNvPr id="6" name="TextBox 5"/>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2k,l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749808"/>
            <a:ext cx="11365992" cy="658368"/>
          </a:xfrm>
          <a:prstGeom prst="rect">
            <a:avLst/>
          </a:prstGeom>
          <a:noFill/>
        </p:spPr>
        <p:txBody>
          <a:bodyPr wrap="square" lIns="0" rIns="0" tIns="0" bIns="0">
            <a:spAutoFit/>
          </a:bodyPr>
          <a:lstStyle/>
          <a:p>
            <a:pPr algn="ctr">
              <a:spcAft>
                <a:spcPts val="500"/>
              </a:spcAft>
              <a:defRPr sz="2600" b="1">
                <a:solidFill>
                  <a:srgbClr val="285180"/>
                </a:solidFill>
                <a:latin typeface="Arial"/>
              </a:defRPr>
            </a:pPr>
            <a:r>
              <a:t>SigNET links candidate extracellular cues to regulatory programs</a:t>
            </a:r>
          </a:p>
        </p:txBody>
      </p:sp>
      <p:pic>
        <p:nvPicPr>
          <p:cNvPr id="3" name="Picture 2" descr="kit_elk3.png"/>
          <p:cNvPicPr>
            <a:picLocks noChangeAspect="1"/>
          </p:cNvPicPr>
          <p:nvPr/>
        </p:nvPicPr>
        <p:blipFill>
          <a:blip r:embed="rId2"/>
          <a:stretch>
            <a:fillRect/>
          </a:stretch>
        </p:blipFill>
        <p:spPr>
          <a:xfrm>
            <a:off x="548640" y="1960896"/>
            <a:ext cx="11109960" cy="3557999"/>
          </a:xfrm>
          <a:prstGeom prst="rect">
            <a:avLst/>
          </a:prstGeom>
        </p:spPr>
      </p:pic>
      <p:sp>
        <p:nvSpPr>
          <p:cNvPr id="4" name="TextBox 3"/>
          <p:cNvSpPr txBox="1"/>
          <p:nvPr/>
        </p:nvSpPr>
        <p:spPr>
          <a:xfrm>
            <a:off x="1280160" y="5650992"/>
            <a:ext cx="9601200" cy="320040"/>
          </a:xfrm>
          <a:prstGeom prst="rect">
            <a:avLst/>
          </a:prstGeom>
          <a:noFill/>
        </p:spPr>
        <p:txBody>
          <a:bodyPr wrap="square" lIns="0" rIns="0" tIns="0" bIns="0">
            <a:spAutoFit/>
          </a:bodyPr>
          <a:lstStyle/>
          <a:p>
            <a:pPr algn="ctr">
              <a:spcAft>
                <a:spcPts val="500"/>
              </a:spcAft>
              <a:defRPr sz="1900" b="1">
                <a:solidFill>
                  <a:srgbClr val="285180"/>
                </a:solidFill>
                <a:latin typeface="Arial"/>
              </a:defRPr>
            </a:pPr>
            <a:r>
              <a:t>Spatial signal → receptor-associated response → candidate TF program</a:t>
            </a:r>
          </a:p>
        </p:txBody>
      </p:sp>
      <p:sp>
        <p:nvSpPr>
          <p:cNvPr id="5" name="TextBox 4"/>
          <p:cNvSpPr txBox="1"/>
          <p:nvPr/>
        </p:nvSpPr>
        <p:spPr>
          <a:xfrm>
            <a:off x="594360" y="6254496"/>
            <a:ext cx="11000232" cy="320040"/>
          </a:xfrm>
          <a:prstGeom prst="rect">
            <a:avLst/>
          </a:prstGeom>
          <a:noFill/>
        </p:spPr>
        <p:txBody>
          <a:bodyPr wrap="square" lIns="0" rIns="0" tIns="0" bIns="0">
            <a:spAutoFit/>
          </a:bodyPr>
          <a:lstStyle/>
          <a:p>
            <a:pPr algn="ctr">
              <a:lnSpc>
                <a:spcPts val="1600"/>
              </a:lnSpc>
              <a:spcAft>
                <a:spcPts val="0"/>
              </a:spcAft>
              <a:defRPr sz="1500" b="1">
                <a:solidFill>
                  <a:srgbClr val="285180"/>
                </a:solidFill>
                <a:latin typeface="Arial"/>
              </a:defRPr>
            </a:pPr>
            <a:r>
              <a:t>A signaling-to-transcription framework makes spatial observations experimentally actionable.</a:t>
            </a:r>
          </a:p>
        </p:txBody>
      </p:sp>
      <p:sp>
        <p:nvSpPr>
          <p:cNvPr id="6" name="TextBox 5"/>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3e–h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749808"/>
            <a:ext cx="11365992" cy="658368"/>
          </a:xfrm>
          <a:prstGeom prst="rect">
            <a:avLst/>
          </a:prstGeom>
          <a:noFill/>
        </p:spPr>
        <p:txBody>
          <a:bodyPr wrap="square" lIns="0" rIns="0" tIns="0" bIns="0">
            <a:spAutoFit/>
          </a:bodyPr>
          <a:lstStyle/>
          <a:p>
            <a:pPr algn="ctr">
              <a:spcAft>
                <a:spcPts val="500"/>
              </a:spcAft>
              <a:defRPr sz="2600" b="1">
                <a:solidFill>
                  <a:srgbClr val="285180"/>
                </a:solidFill>
                <a:latin typeface="Arial"/>
              </a:defRPr>
            </a:pPr>
            <a:r>
              <a:t>Regulatory programs also retain regional identity</a:t>
            </a:r>
          </a:p>
        </p:txBody>
      </p:sp>
      <p:pic>
        <p:nvPicPr>
          <p:cNvPr id="3" name="Picture 2" descr="regional_regulons.png"/>
          <p:cNvPicPr>
            <a:picLocks noChangeAspect="1"/>
          </p:cNvPicPr>
          <p:nvPr/>
        </p:nvPicPr>
        <p:blipFill>
          <a:blip r:embed="rId2"/>
          <a:stretch>
            <a:fillRect/>
          </a:stretch>
        </p:blipFill>
        <p:spPr>
          <a:xfrm>
            <a:off x="682481" y="1691640"/>
            <a:ext cx="7916196" cy="4343400"/>
          </a:xfrm>
          <a:prstGeom prst="rect">
            <a:avLst/>
          </a:prstGeom>
        </p:spPr>
      </p:pic>
      <p:sp>
        <p:nvSpPr>
          <p:cNvPr id="4" name="TextBox 3"/>
          <p:cNvSpPr txBox="1"/>
          <p:nvPr/>
        </p:nvSpPr>
        <p:spPr>
          <a:xfrm>
            <a:off x="8915400" y="2011680"/>
            <a:ext cx="2560320" cy="3474720"/>
          </a:xfrm>
          <a:prstGeom prst="rect">
            <a:avLst/>
          </a:prstGeom>
          <a:noFill/>
        </p:spPr>
        <p:txBody>
          <a:bodyPr wrap="square" lIns="0" rIns="0" tIns="0" bIns="0">
            <a:spAutoFit/>
          </a:bodyPr>
          <a:lstStyle/>
          <a:p>
            <a:pPr>
              <a:spcAft>
                <a:spcPts val="500"/>
              </a:spcAft>
              <a:defRPr sz="2100" b="0">
                <a:solidFill>
                  <a:srgbClr val="285180"/>
                </a:solidFill>
                <a:latin typeface="Arial"/>
              </a:defRPr>
            </a:pPr>
            <a:r>
              <a:t>Rfx2</a:t>
            </a:r>
          </a:p>
          <a:p>
            <a:pPr>
              <a:spcAft>
                <a:spcPts val="500"/>
              </a:spcAft>
              <a:defRPr sz="2100" b="0">
                <a:solidFill>
                  <a:srgbClr val="285180"/>
                </a:solidFill>
                <a:latin typeface="Arial"/>
              </a:defRPr>
            </a:pPr>
            <a:r>
              <a:t>Atrial activity</a:t>
            </a:r>
          </a:p>
          <a:p>
            <a:pPr>
              <a:spcAft>
                <a:spcPts val="500"/>
              </a:spcAft>
              <a:defRPr sz="2100" b="0">
                <a:solidFill>
                  <a:srgbClr val="285180"/>
                </a:solidFill>
                <a:latin typeface="Arial"/>
              </a:defRPr>
            </a:pPr>
          </a:p>
          <a:p>
            <a:pPr>
              <a:spcAft>
                <a:spcPts val="500"/>
              </a:spcAft>
              <a:defRPr sz="2100" b="0">
                <a:solidFill>
                  <a:srgbClr val="285180"/>
                </a:solidFill>
                <a:latin typeface="Arial"/>
              </a:defRPr>
            </a:pPr>
            <a:r>
              <a:t>Foxc1</a:t>
            </a:r>
          </a:p>
          <a:p>
            <a:pPr>
              <a:spcAft>
                <a:spcPts val="500"/>
              </a:spcAft>
              <a:defRPr sz="2100" b="0">
                <a:solidFill>
                  <a:srgbClr val="285180"/>
                </a:solidFill>
                <a:latin typeface="Arial"/>
              </a:defRPr>
            </a:pPr>
            <a:r>
              <a:t>Inner lining /</a:t>
            </a:r>
          </a:p>
          <a:p>
            <a:pPr>
              <a:spcAft>
                <a:spcPts val="500"/>
              </a:spcAft>
              <a:defRPr sz="2100" b="0">
                <a:solidFill>
                  <a:srgbClr val="285180"/>
                </a:solidFill>
                <a:latin typeface="Arial"/>
              </a:defRPr>
            </a:pPr>
            <a:r>
              <a:t>outflow tract</a:t>
            </a:r>
          </a:p>
        </p:txBody>
      </p:sp>
      <p:sp>
        <p:nvSpPr>
          <p:cNvPr id="5" name="TextBox 4"/>
          <p:cNvSpPr txBox="1"/>
          <p:nvPr/>
        </p:nvSpPr>
        <p:spPr>
          <a:xfrm>
            <a:off x="594360" y="6254496"/>
            <a:ext cx="11000232" cy="320040"/>
          </a:xfrm>
          <a:prstGeom prst="rect">
            <a:avLst/>
          </a:prstGeom>
          <a:noFill/>
        </p:spPr>
        <p:txBody>
          <a:bodyPr wrap="square" lIns="0" rIns="0" tIns="0" bIns="0">
            <a:spAutoFit/>
          </a:bodyPr>
          <a:lstStyle/>
          <a:p>
            <a:pPr algn="ctr">
              <a:lnSpc>
                <a:spcPts val="1600"/>
              </a:lnSpc>
              <a:spcAft>
                <a:spcPts val="0"/>
              </a:spcAft>
              <a:defRPr sz="1500" b="1">
                <a:solidFill>
                  <a:srgbClr val="285180"/>
                </a:solidFill>
                <a:latin typeface="Arial"/>
              </a:defRPr>
            </a:pPr>
            <a:r>
              <a:t>Time and anatomical position jointly organize the regulatory landscape.</a:t>
            </a:r>
          </a:p>
        </p:txBody>
      </p:sp>
      <p:sp>
        <p:nvSpPr>
          <p:cNvPr id="6" name="TextBox 5"/>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3c,d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749808"/>
            <a:ext cx="11365992" cy="658368"/>
          </a:xfrm>
          <a:prstGeom prst="rect">
            <a:avLst/>
          </a:prstGeom>
          <a:noFill/>
        </p:spPr>
        <p:txBody>
          <a:bodyPr wrap="square" lIns="0" rIns="0" tIns="0" bIns="0">
            <a:spAutoFit/>
          </a:bodyPr>
          <a:lstStyle/>
          <a:p>
            <a:pPr algn="ctr">
              <a:spcAft>
                <a:spcPts val="500"/>
              </a:spcAft>
              <a:defRPr sz="2600" b="1">
                <a:solidFill>
                  <a:srgbClr val="285180"/>
                </a:solidFill>
                <a:latin typeface="Arial"/>
              </a:defRPr>
            </a:pPr>
            <a:r>
              <a:t>The measured maturation index increases through postnatal development</a:t>
            </a:r>
          </a:p>
        </p:txBody>
      </p:sp>
      <p:pic>
        <p:nvPicPr>
          <p:cNvPr id="3" name="Picture 2" descr="maturation_map.png"/>
          <p:cNvPicPr>
            <a:picLocks noChangeAspect="1"/>
          </p:cNvPicPr>
          <p:nvPr/>
        </p:nvPicPr>
        <p:blipFill>
          <a:blip r:embed="rId2"/>
          <a:stretch>
            <a:fillRect/>
          </a:stretch>
        </p:blipFill>
        <p:spPr>
          <a:xfrm>
            <a:off x="1278940" y="1645920"/>
            <a:ext cx="5854598" cy="4480560"/>
          </a:xfrm>
          <a:prstGeom prst="rect">
            <a:avLst/>
          </a:prstGeom>
        </p:spPr>
      </p:pic>
      <p:pic>
        <p:nvPicPr>
          <p:cNvPr id="4" name="Picture 3" descr="maturation_age.png"/>
          <p:cNvPicPr>
            <a:picLocks noChangeAspect="1"/>
          </p:cNvPicPr>
          <p:nvPr/>
        </p:nvPicPr>
        <p:blipFill>
          <a:blip r:embed="rId3"/>
          <a:stretch>
            <a:fillRect/>
          </a:stretch>
        </p:blipFill>
        <p:spPr>
          <a:xfrm>
            <a:off x="8592594" y="1645920"/>
            <a:ext cx="2245811" cy="4480560"/>
          </a:xfrm>
          <a:prstGeom prst="rect">
            <a:avLst/>
          </a:prstGeom>
        </p:spPr>
      </p:pic>
      <p:sp>
        <p:nvSpPr>
          <p:cNvPr id="5" name="TextBox 4"/>
          <p:cNvSpPr txBox="1"/>
          <p:nvPr/>
        </p:nvSpPr>
        <p:spPr>
          <a:xfrm>
            <a:off x="594360" y="6254496"/>
            <a:ext cx="11000232" cy="320040"/>
          </a:xfrm>
          <a:prstGeom prst="rect">
            <a:avLst/>
          </a:prstGeom>
          <a:noFill/>
        </p:spPr>
        <p:txBody>
          <a:bodyPr wrap="square" lIns="0" rIns="0" tIns="0" bIns="0">
            <a:spAutoFit/>
          </a:bodyPr>
          <a:lstStyle/>
          <a:p>
            <a:pPr algn="ctr">
              <a:lnSpc>
                <a:spcPts val="1600"/>
              </a:lnSpc>
              <a:spcAft>
                <a:spcPts val="0"/>
              </a:spcAft>
              <a:defRPr sz="1500" b="1">
                <a:solidFill>
                  <a:srgbClr val="285180"/>
                </a:solidFill>
                <a:latin typeface="Arial"/>
              </a:defRPr>
            </a:pPr>
            <a:r>
              <a:t>Age-related progression coexists with substantial within-section heterogeneity.</a:t>
            </a:r>
          </a:p>
        </p:txBody>
      </p:sp>
      <p:sp>
        <p:nvSpPr>
          <p:cNvPr id="6" name="TextBox 5"/>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4c,d; Supplementary Fig. 19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749808"/>
            <a:ext cx="11365992" cy="658368"/>
          </a:xfrm>
          <a:prstGeom prst="rect">
            <a:avLst/>
          </a:prstGeom>
          <a:noFill/>
        </p:spPr>
        <p:txBody>
          <a:bodyPr wrap="square" lIns="0" rIns="0" tIns="0" bIns="0">
            <a:spAutoFit/>
          </a:bodyPr>
          <a:lstStyle/>
          <a:p>
            <a:pPr algn="ctr">
              <a:spcAft>
                <a:spcPts val="500"/>
              </a:spcAft>
              <a:defRPr sz="2600" b="1">
                <a:solidFill>
                  <a:srgbClr val="285180"/>
                </a:solidFill>
                <a:latin typeface="Arial"/>
              </a:defRPr>
            </a:pPr>
            <a:r>
              <a:t>Higher CM maturation scores occur near the microvasculature</a:t>
            </a:r>
          </a:p>
        </p:txBody>
      </p:sp>
      <p:pic>
        <p:nvPicPr>
          <p:cNvPr id="3" name="Picture 2" descr="capillary_proximity.png"/>
          <p:cNvPicPr>
            <a:picLocks noChangeAspect="1"/>
          </p:cNvPicPr>
          <p:nvPr/>
        </p:nvPicPr>
        <p:blipFill>
          <a:blip r:embed="rId2"/>
          <a:stretch>
            <a:fillRect/>
          </a:stretch>
        </p:blipFill>
        <p:spPr>
          <a:xfrm>
            <a:off x="548640" y="2395802"/>
            <a:ext cx="3447288" cy="3072235"/>
          </a:xfrm>
          <a:prstGeom prst="rect">
            <a:avLst/>
          </a:prstGeom>
        </p:spPr>
      </p:pic>
      <p:pic>
        <p:nvPicPr>
          <p:cNvPr id="4" name="Picture 3" descr="pericyte_proximity.png"/>
          <p:cNvPicPr>
            <a:picLocks noChangeAspect="1"/>
          </p:cNvPicPr>
          <p:nvPr/>
        </p:nvPicPr>
        <p:blipFill>
          <a:blip r:embed="rId3"/>
          <a:stretch>
            <a:fillRect/>
          </a:stretch>
        </p:blipFill>
        <p:spPr>
          <a:xfrm>
            <a:off x="4370832" y="2296054"/>
            <a:ext cx="3447288" cy="3271731"/>
          </a:xfrm>
          <a:prstGeom prst="rect">
            <a:avLst/>
          </a:prstGeom>
        </p:spPr>
      </p:pic>
      <p:pic>
        <p:nvPicPr>
          <p:cNvPr id="5" name="Picture 4" descr="cyclingEC_proximity.png"/>
          <p:cNvPicPr>
            <a:picLocks noChangeAspect="1"/>
          </p:cNvPicPr>
          <p:nvPr/>
        </p:nvPicPr>
        <p:blipFill>
          <a:blip r:embed="rId4"/>
          <a:stretch>
            <a:fillRect/>
          </a:stretch>
        </p:blipFill>
        <p:spPr>
          <a:xfrm>
            <a:off x="8193024" y="2079002"/>
            <a:ext cx="3447287" cy="3705834"/>
          </a:xfrm>
          <a:prstGeom prst="rect">
            <a:avLst/>
          </a:prstGeom>
        </p:spPr>
      </p:pic>
      <p:sp>
        <p:nvSpPr>
          <p:cNvPr id="6" name="TextBox 5"/>
          <p:cNvSpPr txBox="1"/>
          <p:nvPr/>
        </p:nvSpPr>
        <p:spPr>
          <a:xfrm>
            <a:off x="594360" y="6254496"/>
            <a:ext cx="11000232" cy="320040"/>
          </a:xfrm>
          <a:prstGeom prst="rect">
            <a:avLst/>
          </a:prstGeom>
          <a:noFill/>
        </p:spPr>
        <p:txBody>
          <a:bodyPr wrap="square" lIns="0" rIns="0" tIns="0" bIns="0">
            <a:spAutoFit/>
          </a:bodyPr>
          <a:lstStyle/>
          <a:p>
            <a:pPr algn="ctr">
              <a:lnSpc>
                <a:spcPts val="1600"/>
              </a:lnSpc>
              <a:spcAft>
                <a:spcPts val="0"/>
              </a:spcAft>
              <a:defRPr sz="1500" b="1">
                <a:solidFill>
                  <a:srgbClr val="285180"/>
                </a:solidFill>
                <a:latin typeface="Arial"/>
              </a:defRPr>
            </a:pPr>
            <a:r>
              <a:t>At P7, the microvascular neighborhood is associated with higher CM transcriptional maturation.</a:t>
            </a:r>
          </a:p>
        </p:txBody>
      </p:sp>
      <p:sp>
        <p:nvSpPr>
          <p:cNvPr id="7" name="TextBox 6"/>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4e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749808"/>
            <a:ext cx="11365992" cy="658368"/>
          </a:xfrm>
          <a:prstGeom prst="rect">
            <a:avLst/>
          </a:prstGeom>
          <a:noFill/>
        </p:spPr>
        <p:txBody>
          <a:bodyPr wrap="square" lIns="0" rIns="0" tIns="0" bIns="0">
            <a:spAutoFit/>
          </a:bodyPr>
          <a:lstStyle/>
          <a:p>
            <a:pPr algn="ctr">
              <a:spcAft>
                <a:spcPts val="500"/>
              </a:spcAft>
              <a:defRPr sz="2600" b="1">
                <a:solidFill>
                  <a:srgbClr val="285180"/>
                </a:solidFill>
                <a:latin typeface="Arial"/>
              </a:defRPr>
            </a:pPr>
            <a:r>
              <a:t>PTPRM emerges as a contact-associated maturation candidate</a:t>
            </a:r>
          </a:p>
        </p:txBody>
      </p:sp>
      <p:pic>
        <p:nvPicPr>
          <p:cNvPr id="3" name="Picture 2" descr="ptprm_expression.png"/>
          <p:cNvPicPr>
            <a:picLocks noChangeAspect="1"/>
          </p:cNvPicPr>
          <p:nvPr/>
        </p:nvPicPr>
        <p:blipFill>
          <a:blip r:embed="rId2"/>
          <a:stretch>
            <a:fillRect/>
          </a:stretch>
        </p:blipFill>
        <p:spPr>
          <a:xfrm>
            <a:off x="594867" y="1691640"/>
            <a:ext cx="2787904" cy="4480560"/>
          </a:xfrm>
          <a:prstGeom prst="rect">
            <a:avLst/>
          </a:prstGeom>
        </p:spPr>
      </p:pic>
      <p:pic>
        <p:nvPicPr>
          <p:cNvPr id="4" name="Picture 3" descr="ptprm_spatial.png"/>
          <p:cNvPicPr>
            <a:picLocks noChangeAspect="1"/>
          </p:cNvPicPr>
          <p:nvPr/>
        </p:nvPicPr>
        <p:blipFill>
          <a:blip r:embed="rId3"/>
          <a:stretch>
            <a:fillRect/>
          </a:stretch>
        </p:blipFill>
        <p:spPr>
          <a:xfrm>
            <a:off x="3717431" y="1691640"/>
            <a:ext cx="7744177" cy="4480560"/>
          </a:xfrm>
          <a:prstGeom prst="rect">
            <a:avLst/>
          </a:prstGeom>
        </p:spPr>
      </p:pic>
      <p:sp>
        <p:nvSpPr>
          <p:cNvPr id="5" name="TextBox 4"/>
          <p:cNvSpPr txBox="1"/>
          <p:nvPr/>
        </p:nvSpPr>
        <p:spPr>
          <a:xfrm>
            <a:off x="594360" y="6254496"/>
            <a:ext cx="11000232" cy="320040"/>
          </a:xfrm>
          <a:prstGeom prst="rect">
            <a:avLst/>
          </a:prstGeom>
          <a:noFill/>
        </p:spPr>
        <p:txBody>
          <a:bodyPr wrap="square" lIns="0" rIns="0" tIns="0" bIns="0">
            <a:spAutoFit/>
          </a:bodyPr>
          <a:lstStyle/>
          <a:p>
            <a:pPr algn="ctr">
              <a:lnSpc>
                <a:spcPts val="1600"/>
              </a:lnSpc>
              <a:spcAft>
                <a:spcPts val="0"/>
              </a:spcAft>
              <a:defRPr sz="1500" b="1">
                <a:solidFill>
                  <a:srgbClr val="285180"/>
                </a:solidFill>
                <a:latin typeface="Arial"/>
              </a:defRPr>
            </a:pPr>
            <a:r>
              <a:t>Expression, inferred interaction and boundary protein localization converge on PTPRM.</a:t>
            </a:r>
          </a:p>
        </p:txBody>
      </p:sp>
      <p:sp>
        <p:nvSpPr>
          <p:cNvPr id="6" name="TextBox 5"/>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4f–h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749808"/>
            <a:ext cx="11365992" cy="658368"/>
          </a:xfrm>
          <a:prstGeom prst="rect">
            <a:avLst/>
          </a:prstGeom>
          <a:noFill/>
        </p:spPr>
        <p:txBody>
          <a:bodyPr wrap="square" lIns="0" rIns="0" tIns="0" bIns="0">
            <a:spAutoFit/>
          </a:bodyPr>
          <a:lstStyle/>
          <a:p>
            <a:pPr algn="ctr">
              <a:spcAft>
                <a:spcPts val="500"/>
              </a:spcAft>
              <a:defRPr sz="2600" b="1">
                <a:solidFill>
                  <a:srgbClr val="285180"/>
                </a:solidFill>
                <a:latin typeface="Arial"/>
              </a:defRPr>
            </a:pPr>
            <a:r>
              <a:t>A PTPRM-associated regulatory link points to MEIS1</a:t>
            </a:r>
          </a:p>
        </p:txBody>
      </p:sp>
      <p:pic>
        <p:nvPicPr>
          <p:cNvPr id="3" name="Picture 2" descr="meis1_targets.png"/>
          <p:cNvPicPr>
            <a:picLocks noChangeAspect="1"/>
          </p:cNvPicPr>
          <p:nvPr/>
        </p:nvPicPr>
        <p:blipFill>
          <a:blip r:embed="rId2"/>
          <a:stretch>
            <a:fillRect/>
          </a:stretch>
        </p:blipFill>
        <p:spPr>
          <a:xfrm>
            <a:off x="1163574" y="1645920"/>
            <a:ext cx="4073652" cy="4526280"/>
          </a:xfrm>
          <a:prstGeom prst="rect">
            <a:avLst/>
          </a:prstGeom>
        </p:spPr>
      </p:pic>
      <p:sp>
        <p:nvSpPr>
          <p:cNvPr id="4" name="TextBox 3"/>
          <p:cNvSpPr txBox="1"/>
          <p:nvPr/>
        </p:nvSpPr>
        <p:spPr>
          <a:xfrm>
            <a:off x="6217920" y="1828800"/>
            <a:ext cx="4983480" cy="4114800"/>
          </a:xfrm>
          <a:prstGeom prst="rect">
            <a:avLst/>
          </a:prstGeom>
          <a:noFill/>
        </p:spPr>
        <p:txBody>
          <a:bodyPr wrap="square" lIns="0" rIns="0" tIns="0" bIns="0">
            <a:spAutoFit/>
          </a:bodyPr>
          <a:lstStyle/>
          <a:p>
            <a:pPr>
              <a:spcAft>
                <a:spcPts val="500"/>
              </a:spcAft>
              <a:defRPr sz="2200" b="0">
                <a:solidFill>
                  <a:srgbClr val="285180"/>
                </a:solidFill>
                <a:latin typeface="Arial"/>
              </a:defRPr>
            </a:pPr>
            <a:r>
              <a:t>SigNET nominates MEIS1</a:t>
            </a:r>
          </a:p>
          <a:p>
            <a:pPr>
              <a:spcAft>
                <a:spcPts val="500"/>
              </a:spcAft>
              <a:defRPr sz="2200" b="0">
                <a:solidFill>
                  <a:srgbClr val="285180"/>
                </a:solidFill>
                <a:latin typeface="Arial"/>
              </a:defRPr>
            </a:pPr>
          </a:p>
          <a:p>
            <a:pPr>
              <a:spcAft>
                <a:spcPts val="500"/>
              </a:spcAft>
              <a:defRPr sz="2200" b="0">
                <a:solidFill>
                  <a:srgbClr val="285180"/>
                </a:solidFill>
                <a:latin typeface="Arial"/>
              </a:defRPr>
            </a:pPr>
            <a:r>
              <a:t>CM cell-cycle-exit program</a:t>
            </a:r>
          </a:p>
          <a:p>
            <a:pPr>
              <a:spcAft>
                <a:spcPts val="500"/>
              </a:spcAft>
              <a:defRPr sz="2200" b="0">
                <a:solidFill>
                  <a:srgbClr val="285180"/>
                </a:solidFill>
                <a:latin typeface="Arial"/>
              </a:defRPr>
            </a:pPr>
          </a:p>
          <a:p>
            <a:pPr>
              <a:spcAft>
                <a:spcPts val="500"/>
              </a:spcAft>
              <a:defRPr sz="2200" b="0">
                <a:solidFill>
                  <a:srgbClr val="285180"/>
                </a:solidFill>
                <a:latin typeface="Arial"/>
              </a:defRPr>
            </a:pPr>
            <a:r>
              <a:t>At P8, Ptprm perturbation:</a:t>
            </a:r>
          </a:p>
          <a:p>
            <a:pPr>
              <a:spcAft>
                <a:spcPts val="500"/>
              </a:spcAft>
              <a:defRPr sz="2200" b="0">
                <a:solidFill>
                  <a:srgbClr val="285180"/>
                </a:solidFill>
                <a:latin typeface="Arial"/>
              </a:defRPr>
            </a:pPr>
            <a:r>
              <a:t>↑ Cell-cycle-associated RNA</a:t>
            </a:r>
          </a:p>
          <a:p>
            <a:pPr>
              <a:spcAft>
                <a:spcPts val="500"/>
              </a:spcAft>
              <a:defRPr sz="2200" b="0">
                <a:solidFill>
                  <a:srgbClr val="285180"/>
                </a:solidFill>
                <a:latin typeface="Arial"/>
              </a:defRPr>
            </a:pPr>
            <a:r>
              <a:t>↓ Meis1 and maturation RNA</a:t>
            </a:r>
          </a:p>
        </p:txBody>
      </p:sp>
      <p:sp>
        <p:nvSpPr>
          <p:cNvPr id="5" name="TextBox 4"/>
          <p:cNvSpPr txBox="1"/>
          <p:nvPr/>
        </p:nvSpPr>
        <p:spPr>
          <a:xfrm>
            <a:off x="594360" y="6254496"/>
            <a:ext cx="11000232" cy="320040"/>
          </a:xfrm>
          <a:prstGeom prst="rect">
            <a:avLst/>
          </a:prstGeom>
          <a:noFill/>
        </p:spPr>
        <p:txBody>
          <a:bodyPr wrap="square" lIns="0" rIns="0" tIns="0" bIns="0">
            <a:spAutoFit/>
          </a:bodyPr>
          <a:lstStyle/>
          <a:p>
            <a:pPr algn="ctr">
              <a:lnSpc>
                <a:spcPts val="1600"/>
              </a:lnSpc>
              <a:spcAft>
                <a:spcPts val="0"/>
              </a:spcAft>
              <a:defRPr sz="1500" b="1">
                <a:solidFill>
                  <a:srgbClr val="285180"/>
                </a:solidFill>
                <a:latin typeface="Arial"/>
              </a:defRPr>
            </a:pPr>
            <a:r>
              <a:t>Targeted Ptprm perturbation supports a role in maturation-associated gene regulation.</a:t>
            </a:r>
          </a:p>
        </p:txBody>
      </p:sp>
      <p:sp>
        <p:nvSpPr>
          <p:cNvPr id="6" name="TextBox 5"/>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4i,j; Extended Data Fig. 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749808"/>
            <a:ext cx="11365992" cy="658368"/>
          </a:xfrm>
          <a:prstGeom prst="rect">
            <a:avLst/>
          </a:prstGeom>
          <a:noFill/>
        </p:spPr>
        <p:txBody>
          <a:bodyPr wrap="square" lIns="0" rIns="0" tIns="0" bIns="0">
            <a:spAutoFit/>
          </a:bodyPr>
          <a:lstStyle/>
          <a:p>
            <a:pPr algn="ctr">
              <a:spcAft>
                <a:spcPts val="500"/>
              </a:spcAft>
              <a:defRPr sz="2600" b="1">
                <a:solidFill>
                  <a:srgbClr val="285180"/>
                </a:solidFill>
                <a:latin typeface="Arial"/>
              </a:defRPr>
            </a:pPr>
            <a:r>
              <a:t>Signaling activities predict maturation scores and prioritize pathways</a:t>
            </a:r>
          </a:p>
        </p:txBody>
      </p:sp>
      <p:pic>
        <p:nvPicPr>
          <p:cNvPr id="3" name="Picture 2" descr="LR_prediction.png"/>
          <p:cNvPicPr>
            <a:picLocks noChangeAspect="1"/>
          </p:cNvPicPr>
          <p:nvPr/>
        </p:nvPicPr>
        <p:blipFill>
          <a:blip r:embed="rId2"/>
          <a:stretch>
            <a:fillRect/>
          </a:stretch>
        </p:blipFill>
        <p:spPr>
          <a:xfrm>
            <a:off x="548640" y="1760701"/>
            <a:ext cx="11064240" cy="4250997"/>
          </a:xfrm>
          <a:prstGeom prst="rect">
            <a:avLst/>
          </a:prstGeom>
        </p:spPr>
      </p:pic>
      <p:sp>
        <p:nvSpPr>
          <p:cNvPr id="4" name="TextBox 3"/>
          <p:cNvSpPr txBox="1"/>
          <p:nvPr/>
        </p:nvSpPr>
        <p:spPr>
          <a:xfrm>
            <a:off x="594360" y="6254496"/>
            <a:ext cx="11000232" cy="320040"/>
          </a:xfrm>
          <a:prstGeom prst="rect">
            <a:avLst/>
          </a:prstGeom>
          <a:noFill/>
        </p:spPr>
        <p:txBody>
          <a:bodyPr wrap="square" lIns="0" rIns="0" tIns="0" bIns="0">
            <a:spAutoFit/>
          </a:bodyPr>
          <a:lstStyle/>
          <a:p>
            <a:pPr algn="ctr">
              <a:lnSpc>
                <a:spcPts val="1600"/>
              </a:lnSpc>
              <a:spcAft>
                <a:spcPts val="0"/>
              </a:spcAft>
              <a:defRPr sz="1500" b="1">
                <a:solidFill>
                  <a:srgbClr val="285180"/>
                </a:solidFill>
                <a:latin typeface="Arial"/>
              </a:defRPr>
            </a:pPr>
            <a:r>
              <a:t>Prediction provides candidate prioritization for functional testing.</a:t>
            </a:r>
          </a:p>
        </p:txBody>
      </p:sp>
      <p:sp>
        <p:nvSpPr>
          <p:cNvPr id="5" name="TextBox 4"/>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5f–h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749808"/>
            <a:ext cx="11365992" cy="658368"/>
          </a:xfrm>
          <a:prstGeom prst="rect">
            <a:avLst/>
          </a:prstGeom>
          <a:noFill/>
        </p:spPr>
        <p:txBody>
          <a:bodyPr wrap="square" lIns="0" rIns="0" tIns="0" bIns="0">
            <a:spAutoFit/>
          </a:bodyPr>
          <a:lstStyle/>
          <a:p>
            <a:pPr algn="ctr">
              <a:spcAft>
                <a:spcPts val="500"/>
              </a:spcAft>
              <a:defRPr sz="2600" b="1">
                <a:solidFill>
                  <a:srgbClr val="285180"/>
                </a:solidFill>
                <a:latin typeface="Arial"/>
              </a:defRPr>
            </a:pPr>
            <a:r>
              <a:t>CM gene modules capture distinct aspects of maturation</a:t>
            </a:r>
          </a:p>
        </p:txBody>
      </p:sp>
      <p:pic>
        <p:nvPicPr>
          <p:cNvPr id="3" name="Picture 2" descr="CM_modules.png"/>
          <p:cNvPicPr>
            <a:picLocks noChangeAspect="1"/>
          </p:cNvPicPr>
          <p:nvPr/>
        </p:nvPicPr>
        <p:blipFill>
          <a:blip r:embed="rId2"/>
          <a:stretch>
            <a:fillRect/>
          </a:stretch>
        </p:blipFill>
        <p:spPr>
          <a:xfrm>
            <a:off x="548640" y="1932596"/>
            <a:ext cx="5486400" cy="2261286"/>
          </a:xfrm>
          <a:prstGeom prst="rect">
            <a:avLst/>
          </a:prstGeom>
        </p:spPr>
      </p:pic>
      <p:pic>
        <p:nvPicPr>
          <p:cNvPr id="4" name="Picture 3" descr="CM_GO.png"/>
          <p:cNvPicPr>
            <a:picLocks noChangeAspect="1"/>
          </p:cNvPicPr>
          <p:nvPr/>
        </p:nvPicPr>
        <p:blipFill>
          <a:blip r:embed="rId3"/>
          <a:stretch>
            <a:fillRect/>
          </a:stretch>
        </p:blipFill>
        <p:spPr>
          <a:xfrm>
            <a:off x="6217920" y="2382382"/>
            <a:ext cx="5394960" cy="2916194"/>
          </a:xfrm>
          <a:prstGeom prst="rect">
            <a:avLst/>
          </a:prstGeom>
        </p:spPr>
      </p:pic>
      <p:sp>
        <p:nvSpPr>
          <p:cNvPr id="5" name="TextBox 4"/>
          <p:cNvSpPr txBox="1"/>
          <p:nvPr/>
        </p:nvSpPr>
        <p:spPr>
          <a:xfrm>
            <a:off x="914400" y="4572000"/>
            <a:ext cx="4846320" cy="1280160"/>
          </a:xfrm>
          <a:prstGeom prst="rect">
            <a:avLst/>
          </a:prstGeom>
          <a:noFill/>
        </p:spPr>
        <p:txBody>
          <a:bodyPr wrap="square" lIns="0" rIns="0" tIns="0" bIns="0">
            <a:spAutoFit/>
          </a:bodyPr>
          <a:lstStyle/>
          <a:p>
            <a:pPr>
              <a:spcAft>
                <a:spcPts val="500"/>
              </a:spcAft>
              <a:defRPr sz="2100" b="0">
                <a:solidFill>
                  <a:srgbClr val="285180"/>
                </a:solidFill>
                <a:latin typeface="Arial"/>
              </a:defRPr>
            </a:pPr>
            <a:r>
              <a:t>Contraction</a:t>
            </a:r>
          </a:p>
          <a:p>
            <a:pPr>
              <a:spcAft>
                <a:spcPts val="500"/>
              </a:spcAft>
              <a:defRPr sz="2100" b="0">
                <a:solidFill>
                  <a:srgbClr val="285180"/>
                </a:solidFill>
                <a:latin typeface="Arial"/>
              </a:defRPr>
            </a:pPr>
            <a:r>
              <a:t>Membrane-potential regulation</a:t>
            </a:r>
          </a:p>
          <a:p>
            <a:pPr>
              <a:spcAft>
                <a:spcPts val="500"/>
              </a:spcAft>
              <a:defRPr sz="2100" b="0">
                <a:solidFill>
                  <a:srgbClr val="285180"/>
                </a:solidFill>
                <a:latin typeface="Arial"/>
              </a:defRPr>
            </a:pPr>
            <a:r>
              <a:t>Fatty-acid transport</a:t>
            </a:r>
          </a:p>
        </p:txBody>
      </p:sp>
      <p:sp>
        <p:nvSpPr>
          <p:cNvPr id="6" name="TextBox 5"/>
          <p:cNvSpPr txBox="1"/>
          <p:nvPr/>
        </p:nvSpPr>
        <p:spPr>
          <a:xfrm>
            <a:off x="594360" y="6254496"/>
            <a:ext cx="11000232" cy="320040"/>
          </a:xfrm>
          <a:prstGeom prst="rect">
            <a:avLst/>
          </a:prstGeom>
          <a:noFill/>
        </p:spPr>
        <p:txBody>
          <a:bodyPr wrap="square" lIns="0" rIns="0" tIns="0" bIns="0">
            <a:spAutoFit/>
          </a:bodyPr>
          <a:lstStyle/>
          <a:p>
            <a:pPr algn="ctr">
              <a:lnSpc>
                <a:spcPts val="1600"/>
              </a:lnSpc>
              <a:spcAft>
                <a:spcPts val="0"/>
              </a:spcAft>
              <a:defRPr sz="1500" b="1">
                <a:solidFill>
                  <a:srgbClr val="285180"/>
                </a:solidFill>
                <a:latin typeface="Arial"/>
              </a:defRPr>
            </a:pPr>
            <a:r>
              <a:t>Maturation comprises multiple coordinated transcriptional programs.</a:t>
            </a:r>
          </a:p>
        </p:txBody>
      </p:sp>
      <p:sp>
        <p:nvSpPr>
          <p:cNvPr id="7" name="TextBox 6"/>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5a–c</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749808"/>
            <a:ext cx="11365992" cy="658368"/>
          </a:xfrm>
          <a:prstGeom prst="rect">
            <a:avLst/>
          </a:prstGeom>
          <a:noFill/>
        </p:spPr>
        <p:txBody>
          <a:bodyPr wrap="square" lIns="0" rIns="0" tIns="0" bIns="0">
            <a:spAutoFit/>
          </a:bodyPr>
          <a:lstStyle/>
          <a:p>
            <a:pPr algn="ctr">
              <a:spcAft>
                <a:spcPts val="500"/>
              </a:spcAft>
              <a:defRPr sz="2600" b="1">
                <a:solidFill>
                  <a:srgbClr val="285180"/>
                </a:solidFill>
                <a:latin typeface="Arial"/>
              </a:defRPr>
            </a:pPr>
            <a:r>
              <a:t>Custom probes improve guide recovery and perturbation evidence</a:t>
            </a:r>
          </a:p>
        </p:txBody>
      </p:sp>
      <p:pic>
        <p:nvPicPr>
          <p:cNvPr id="3" name="Picture 2" descr="PIP_probes.png"/>
          <p:cNvPicPr>
            <a:picLocks noChangeAspect="1"/>
          </p:cNvPicPr>
          <p:nvPr/>
        </p:nvPicPr>
        <p:blipFill>
          <a:blip r:embed="rId2"/>
          <a:stretch>
            <a:fillRect/>
          </a:stretch>
        </p:blipFill>
        <p:spPr>
          <a:xfrm>
            <a:off x="890982" y="1645920"/>
            <a:ext cx="4710275" cy="4389120"/>
          </a:xfrm>
          <a:prstGeom prst="rect">
            <a:avLst/>
          </a:prstGeom>
        </p:spPr>
      </p:pic>
      <p:sp>
        <p:nvSpPr>
          <p:cNvPr id="4" name="TextBox 3"/>
          <p:cNvSpPr txBox="1"/>
          <p:nvPr/>
        </p:nvSpPr>
        <p:spPr>
          <a:xfrm>
            <a:off x="6400800" y="1920240"/>
            <a:ext cx="4663440" cy="3657600"/>
          </a:xfrm>
          <a:prstGeom prst="rect">
            <a:avLst/>
          </a:prstGeom>
          <a:noFill/>
        </p:spPr>
        <p:txBody>
          <a:bodyPr wrap="square" lIns="0" rIns="0" tIns="0" bIns="0">
            <a:spAutoFit/>
          </a:bodyPr>
          <a:lstStyle/>
          <a:p>
            <a:pPr>
              <a:spcAft>
                <a:spcPts val="500"/>
              </a:spcAft>
              <a:defRPr sz="2300" b="0">
                <a:solidFill>
                  <a:srgbClr val="285180"/>
                </a:solidFill>
                <a:latin typeface="Arial"/>
              </a:defRPr>
            </a:pPr>
            <a:r>
              <a:t>Guide detection</a:t>
            </a:r>
          </a:p>
          <a:p>
            <a:pPr>
              <a:spcAft>
                <a:spcPts val="500"/>
              </a:spcAft>
              <a:defRPr sz="2300" b="0">
                <a:solidFill>
                  <a:srgbClr val="285180"/>
                </a:solidFill>
                <a:latin typeface="Arial"/>
              </a:defRPr>
            </a:pPr>
            <a:r>
              <a:t>Identify the perturbation</a:t>
            </a:r>
          </a:p>
          <a:p>
            <a:pPr>
              <a:spcAft>
                <a:spcPts val="500"/>
              </a:spcAft>
              <a:defRPr sz="2300" b="0">
                <a:solidFill>
                  <a:srgbClr val="285180"/>
                </a:solidFill>
                <a:latin typeface="Arial"/>
              </a:defRPr>
            </a:pPr>
          </a:p>
          <a:p>
            <a:pPr>
              <a:spcAft>
                <a:spcPts val="500"/>
              </a:spcAft>
              <a:defRPr sz="2300" b="0">
                <a:solidFill>
                  <a:srgbClr val="285180"/>
                </a:solidFill>
                <a:latin typeface="Arial"/>
              </a:defRPr>
            </a:pPr>
            <a:r>
              <a:t>Target-site probe behavior</a:t>
            </a:r>
          </a:p>
          <a:p>
            <a:pPr>
              <a:spcAft>
                <a:spcPts val="500"/>
              </a:spcAft>
              <a:defRPr sz="2300" b="0">
                <a:solidFill>
                  <a:srgbClr val="285180"/>
                </a:solidFill>
                <a:latin typeface="Arial"/>
              </a:defRPr>
            </a:pPr>
            <a:r>
              <a:t>Additional evidence consistent</a:t>
            </a:r>
          </a:p>
          <a:p>
            <a:pPr>
              <a:spcAft>
                <a:spcPts val="500"/>
              </a:spcAft>
              <a:defRPr sz="2300" b="0">
                <a:solidFill>
                  <a:srgbClr val="285180"/>
                </a:solidFill>
                <a:latin typeface="Arial"/>
              </a:defRPr>
            </a:pPr>
            <a:r>
              <a:t>with editing</a:t>
            </a:r>
          </a:p>
        </p:txBody>
      </p:sp>
      <p:sp>
        <p:nvSpPr>
          <p:cNvPr id="5" name="TextBox 4"/>
          <p:cNvSpPr txBox="1"/>
          <p:nvPr/>
        </p:nvSpPr>
        <p:spPr>
          <a:xfrm>
            <a:off x="594360" y="6254496"/>
            <a:ext cx="11000232" cy="320040"/>
          </a:xfrm>
          <a:prstGeom prst="rect">
            <a:avLst/>
          </a:prstGeom>
          <a:noFill/>
        </p:spPr>
        <p:txBody>
          <a:bodyPr wrap="square" lIns="0" rIns="0" tIns="0" bIns="0">
            <a:spAutoFit/>
          </a:bodyPr>
          <a:lstStyle/>
          <a:p>
            <a:pPr algn="ctr">
              <a:lnSpc>
                <a:spcPts val="1600"/>
              </a:lnSpc>
              <a:spcAft>
                <a:spcPts val="0"/>
              </a:spcAft>
              <a:defRPr sz="1500" b="1">
                <a:solidFill>
                  <a:srgbClr val="285180"/>
                </a:solidFill>
                <a:latin typeface="Arial"/>
              </a:defRPr>
            </a:pPr>
            <a:r>
              <a:t>Guide identity and target-probe behavior provide complementary information.</a:t>
            </a:r>
          </a:p>
        </p:txBody>
      </p:sp>
      <p:sp>
        <p:nvSpPr>
          <p:cNvPr id="6" name="TextBox 5"/>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6c; Supplementary Fig. 24d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749808"/>
            <a:ext cx="11365992" cy="658368"/>
          </a:xfrm>
          <a:prstGeom prst="rect">
            <a:avLst/>
          </a:prstGeom>
          <a:noFill/>
        </p:spPr>
        <p:txBody>
          <a:bodyPr wrap="square" lIns="0" rIns="0" tIns="0" bIns="0">
            <a:spAutoFit/>
          </a:bodyPr>
          <a:lstStyle/>
          <a:p>
            <a:pPr algn="ctr">
              <a:spcAft>
                <a:spcPts val="500"/>
              </a:spcAft>
              <a:defRPr sz="2600" b="1">
                <a:solidFill>
                  <a:srgbClr val="285180"/>
                </a:solidFill>
                <a:latin typeface="Arial"/>
              </a:defRPr>
            </a:pPr>
            <a:r>
              <a:t>Perturbation fingerprints identify broad and selective regulators</a:t>
            </a:r>
          </a:p>
        </p:txBody>
      </p:sp>
      <p:pic>
        <p:nvPicPr>
          <p:cNvPr id="3" name="Picture 2" descr="PIP_effects.png"/>
          <p:cNvPicPr>
            <a:picLocks noChangeAspect="1"/>
          </p:cNvPicPr>
          <p:nvPr/>
        </p:nvPicPr>
        <p:blipFill>
          <a:blip r:embed="rId2"/>
          <a:stretch>
            <a:fillRect/>
          </a:stretch>
        </p:blipFill>
        <p:spPr>
          <a:xfrm>
            <a:off x="548640" y="1837792"/>
            <a:ext cx="11064240" cy="4142535"/>
          </a:xfrm>
          <a:prstGeom prst="rect">
            <a:avLst/>
          </a:prstGeom>
        </p:spPr>
      </p:pic>
      <p:sp>
        <p:nvSpPr>
          <p:cNvPr id="4" name="TextBox 3"/>
          <p:cNvSpPr txBox="1"/>
          <p:nvPr/>
        </p:nvSpPr>
        <p:spPr>
          <a:xfrm>
            <a:off x="594360" y="6254496"/>
            <a:ext cx="11000232" cy="320040"/>
          </a:xfrm>
          <a:prstGeom prst="rect">
            <a:avLst/>
          </a:prstGeom>
          <a:noFill/>
        </p:spPr>
        <p:txBody>
          <a:bodyPr wrap="square" lIns="0" rIns="0" tIns="0" bIns="0">
            <a:spAutoFit/>
          </a:bodyPr>
          <a:lstStyle/>
          <a:p>
            <a:pPr algn="ctr">
              <a:lnSpc>
                <a:spcPts val="1600"/>
              </a:lnSpc>
              <a:spcAft>
                <a:spcPts val="0"/>
              </a:spcAft>
              <a:defRPr sz="1500" b="1">
                <a:solidFill>
                  <a:srgbClr val="285180"/>
                </a:solidFill>
                <a:latin typeface="Arial"/>
              </a:defRPr>
            </a:pPr>
            <a:r>
              <a:t>The screen prioritizes genes and the functional measurements needed to test them.</a:t>
            </a:r>
          </a:p>
        </p:txBody>
      </p:sp>
      <p:sp>
        <p:nvSpPr>
          <p:cNvPr id="5" name="TextBox 4"/>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6f,g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749808"/>
            <a:ext cx="11365992" cy="658368"/>
          </a:xfrm>
          <a:prstGeom prst="rect">
            <a:avLst/>
          </a:prstGeom>
          <a:noFill/>
        </p:spPr>
        <p:txBody>
          <a:bodyPr wrap="square" lIns="0" rIns="0" tIns="0" bIns="0">
            <a:spAutoFit/>
          </a:bodyPr>
          <a:lstStyle/>
          <a:p>
            <a:pPr algn="ctr">
              <a:spcAft>
                <a:spcPts val="500"/>
              </a:spcAft>
              <a:defRPr sz="2600" b="1">
                <a:solidFill>
                  <a:srgbClr val="285180"/>
                </a:solidFill>
                <a:latin typeface="Arial"/>
              </a:defRPr>
            </a:pPr>
            <a:r>
              <a:t>Postnatal Rreb1 perturbation impairs CM growth</a:t>
            </a:r>
          </a:p>
        </p:txBody>
      </p:sp>
      <p:sp>
        <p:nvSpPr>
          <p:cNvPr id="3" name="TextBox 2"/>
          <p:cNvSpPr txBox="1"/>
          <p:nvPr/>
        </p:nvSpPr>
        <p:spPr>
          <a:xfrm>
            <a:off x="822960" y="1463040"/>
            <a:ext cx="3200400" cy="320040"/>
          </a:xfrm>
          <a:prstGeom prst="rect">
            <a:avLst/>
          </a:prstGeom>
          <a:noFill/>
        </p:spPr>
        <p:txBody>
          <a:bodyPr wrap="square" lIns="0" rIns="0" tIns="0" bIns="0">
            <a:spAutoFit/>
          </a:bodyPr>
          <a:lstStyle/>
          <a:p>
            <a:pPr>
              <a:spcAft>
                <a:spcPts val="500"/>
              </a:spcAft>
              <a:defRPr sz="1900" b="1">
                <a:solidFill>
                  <a:srgbClr val="285180"/>
                </a:solidFill>
                <a:latin typeface="Arial"/>
              </a:defRPr>
            </a:pPr>
            <a:r>
              <a:t>P0 · AAV perturbation</a:t>
            </a:r>
          </a:p>
        </p:txBody>
      </p:sp>
      <p:sp>
        <p:nvSpPr>
          <p:cNvPr id="4" name="TextBox 3"/>
          <p:cNvSpPr txBox="1"/>
          <p:nvPr/>
        </p:nvSpPr>
        <p:spPr>
          <a:xfrm>
            <a:off x="4709160" y="1463040"/>
            <a:ext cx="3200400" cy="320040"/>
          </a:xfrm>
          <a:prstGeom prst="rect">
            <a:avLst/>
          </a:prstGeom>
          <a:noFill/>
        </p:spPr>
        <p:txBody>
          <a:bodyPr wrap="square" lIns="0" rIns="0" tIns="0" bIns="0">
            <a:spAutoFit/>
          </a:bodyPr>
          <a:lstStyle/>
          <a:p>
            <a:pPr>
              <a:spcAft>
                <a:spcPts val="500"/>
              </a:spcAft>
              <a:defRPr sz="1900" b="1">
                <a:solidFill>
                  <a:srgbClr val="285180"/>
                </a:solidFill>
                <a:latin typeface="Arial"/>
              </a:defRPr>
            </a:pPr>
            <a:r>
              <a:t>P14 · CM growth</a:t>
            </a:r>
          </a:p>
        </p:txBody>
      </p:sp>
      <p:sp>
        <p:nvSpPr>
          <p:cNvPr id="5" name="TextBox 4"/>
          <p:cNvSpPr txBox="1"/>
          <p:nvPr/>
        </p:nvSpPr>
        <p:spPr>
          <a:xfrm>
            <a:off x="8366760" y="1463040"/>
            <a:ext cx="3200400" cy="320040"/>
          </a:xfrm>
          <a:prstGeom prst="rect">
            <a:avLst/>
          </a:prstGeom>
          <a:noFill/>
        </p:spPr>
        <p:txBody>
          <a:bodyPr wrap="square" lIns="0" rIns="0" tIns="0" bIns="0">
            <a:spAutoFit/>
          </a:bodyPr>
          <a:lstStyle/>
          <a:p>
            <a:pPr>
              <a:spcAft>
                <a:spcPts val="500"/>
              </a:spcAft>
              <a:defRPr sz="1900" b="1">
                <a:solidFill>
                  <a:srgbClr val="285180"/>
                </a:solidFill>
                <a:latin typeface="Arial"/>
              </a:defRPr>
            </a:pPr>
            <a:r>
              <a:t>P35 · CM / heart function</a:t>
            </a:r>
          </a:p>
        </p:txBody>
      </p:sp>
      <p:cxnSp>
        <p:nvCxnSpPr>
          <p:cNvPr id="6" name="Connector 5"/>
          <p:cNvCxnSpPr/>
          <p:nvPr/>
        </p:nvCxnSpPr>
        <p:spPr>
          <a:xfrm>
            <a:off x="3840480" y="1664208"/>
            <a:ext cx="658368" cy="0"/>
          </a:xfrm>
          <a:prstGeom prst="line">
            <a:avLst/>
          </a:prstGeom>
          <a:ln w="20320">
            <a:solidFill>
              <a:srgbClr val="285180"/>
            </a:solidFill>
            <a:tailEnd type="triangle"/>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7680960" y="1664208"/>
            <a:ext cx="502919" cy="0"/>
          </a:xfrm>
          <a:prstGeom prst="line">
            <a:avLst/>
          </a:prstGeom>
          <a:ln w="20320">
            <a:solidFill>
              <a:srgbClr val="285180"/>
            </a:solidFill>
            <a:tailEnd type="triangle"/>
          </a:ln>
        </p:spPr>
        <p:style>
          <a:lnRef idx="2">
            <a:schemeClr val="accent1"/>
          </a:lnRef>
          <a:fillRef idx="0">
            <a:schemeClr val="accent1"/>
          </a:fillRef>
          <a:effectRef idx="1">
            <a:schemeClr val="accent1"/>
          </a:effectRef>
          <a:fontRef idx="minor">
            <a:schemeClr val="tx1"/>
          </a:fontRef>
        </p:style>
      </p:cxnSp>
      <p:pic>
        <p:nvPicPr>
          <p:cNvPr id="8" name="Picture 7" descr="Rreb1_growth.png"/>
          <p:cNvPicPr>
            <a:picLocks noChangeAspect="1"/>
          </p:cNvPicPr>
          <p:nvPr/>
        </p:nvPicPr>
        <p:blipFill>
          <a:blip r:embed="rId2"/>
          <a:stretch>
            <a:fillRect/>
          </a:stretch>
        </p:blipFill>
        <p:spPr>
          <a:xfrm>
            <a:off x="1385316" y="2084831"/>
            <a:ext cx="9436608" cy="3931920"/>
          </a:xfrm>
          <a:prstGeom prst="rect">
            <a:avLst/>
          </a:prstGeom>
        </p:spPr>
      </p:pic>
      <p:sp>
        <p:nvSpPr>
          <p:cNvPr id="9" name="TextBox 8"/>
          <p:cNvSpPr txBox="1"/>
          <p:nvPr/>
        </p:nvSpPr>
        <p:spPr>
          <a:xfrm>
            <a:off x="594360" y="6254496"/>
            <a:ext cx="11000232" cy="320040"/>
          </a:xfrm>
          <a:prstGeom prst="rect">
            <a:avLst/>
          </a:prstGeom>
          <a:noFill/>
        </p:spPr>
        <p:txBody>
          <a:bodyPr wrap="square" lIns="0" rIns="0" tIns="0" bIns="0">
            <a:spAutoFit/>
          </a:bodyPr>
          <a:lstStyle/>
          <a:p>
            <a:pPr algn="ctr">
              <a:lnSpc>
                <a:spcPts val="1600"/>
              </a:lnSpc>
              <a:spcAft>
                <a:spcPts val="0"/>
              </a:spcAft>
              <a:defRPr sz="1500" b="1">
                <a:solidFill>
                  <a:srgbClr val="285180"/>
                </a:solidFill>
                <a:latin typeface="Arial"/>
              </a:defRPr>
            </a:pPr>
            <a:r>
              <a:t>A postnatal intervention isolates a developmental role obscured by embryonic lethality.</a:t>
            </a:r>
          </a:p>
        </p:txBody>
      </p:sp>
      <p:sp>
        <p:nvSpPr>
          <p:cNvPr id="10" name="TextBox 9"/>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7a–c</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749808"/>
            <a:ext cx="11365992" cy="658368"/>
          </a:xfrm>
          <a:prstGeom prst="rect">
            <a:avLst/>
          </a:prstGeom>
          <a:noFill/>
        </p:spPr>
        <p:txBody>
          <a:bodyPr wrap="square" lIns="0" rIns="0" tIns="0" bIns="0">
            <a:spAutoFit/>
          </a:bodyPr>
          <a:lstStyle/>
          <a:p>
            <a:pPr algn="ctr">
              <a:spcAft>
                <a:spcPts val="500"/>
              </a:spcAft>
              <a:defRPr sz="2600" b="1">
                <a:solidFill>
                  <a:srgbClr val="285180"/>
                </a:solidFill>
                <a:latin typeface="Arial"/>
              </a:defRPr>
            </a:pPr>
            <a:r>
              <a:t>Rreb1 is required for normal T-tubule organization</a:t>
            </a:r>
          </a:p>
        </p:txBody>
      </p:sp>
      <p:pic>
        <p:nvPicPr>
          <p:cNvPr id="3" name="Picture 2" descr="Rreb1_tubules.png"/>
          <p:cNvPicPr>
            <a:picLocks noChangeAspect="1"/>
          </p:cNvPicPr>
          <p:nvPr/>
        </p:nvPicPr>
        <p:blipFill>
          <a:blip r:embed="rId2"/>
          <a:stretch>
            <a:fillRect/>
          </a:stretch>
        </p:blipFill>
        <p:spPr>
          <a:xfrm>
            <a:off x="2113691" y="1645920"/>
            <a:ext cx="7979857" cy="4526280"/>
          </a:xfrm>
          <a:prstGeom prst="rect">
            <a:avLst/>
          </a:prstGeom>
        </p:spPr>
      </p:pic>
      <p:sp>
        <p:nvSpPr>
          <p:cNvPr id="4" name="TextBox 3"/>
          <p:cNvSpPr txBox="1"/>
          <p:nvPr/>
        </p:nvSpPr>
        <p:spPr>
          <a:xfrm>
            <a:off x="594360" y="6254496"/>
            <a:ext cx="11000232" cy="320040"/>
          </a:xfrm>
          <a:prstGeom prst="rect">
            <a:avLst/>
          </a:prstGeom>
          <a:noFill/>
        </p:spPr>
        <p:txBody>
          <a:bodyPr wrap="square" lIns="0" rIns="0" tIns="0" bIns="0">
            <a:spAutoFit/>
          </a:bodyPr>
          <a:lstStyle/>
          <a:p>
            <a:pPr algn="ctr">
              <a:lnSpc>
                <a:spcPts val="1600"/>
              </a:lnSpc>
              <a:spcAft>
                <a:spcPts val="0"/>
              </a:spcAft>
              <a:defRPr sz="1500" b="1">
                <a:solidFill>
                  <a:srgbClr val="285180"/>
                </a:solidFill>
                <a:latin typeface="Arial"/>
              </a:defRPr>
            </a:pPr>
            <a:r>
              <a:t>Structural validation extends beyond cell size to T-tubule architecture.</a:t>
            </a:r>
          </a:p>
        </p:txBody>
      </p:sp>
      <p:sp>
        <p:nvSpPr>
          <p:cNvPr id="5" name="TextBox 4"/>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7d,e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749808"/>
            <a:ext cx="11365992" cy="658368"/>
          </a:xfrm>
          <a:prstGeom prst="rect">
            <a:avLst/>
          </a:prstGeom>
          <a:noFill/>
        </p:spPr>
        <p:txBody>
          <a:bodyPr wrap="square" lIns="0" rIns="0" tIns="0" bIns="0">
            <a:spAutoFit/>
          </a:bodyPr>
          <a:lstStyle/>
          <a:p>
            <a:pPr algn="ctr">
              <a:spcAft>
                <a:spcPts val="500"/>
              </a:spcAft>
              <a:defRPr sz="2600" b="1">
                <a:solidFill>
                  <a:srgbClr val="285180"/>
                </a:solidFill>
                <a:latin typeface="Arial"/>
              </a:defRPr>
            </a:pPr>
            <a:r>
              <a:t>Rreb1 loss alters electrical and contraction readouts</a:t>
            </a:r>
          </a:p>
        </p:txBody>
      </p:sp>
      <p:pic>
        <p:nvPicPr>
          <p:cNvPr id="3" name="Picture 2" descr="Rreb1_electrical.png"/>
          <p:cNvPicPr>
            <a:picLocks noChangeAspect="1"/>
          </p:cNvPicPr>
          <p:nvPr/>
        </p:nvPicPr>
        <p:blipFill>
          <a:blip r:embed="rId2"/>
          <a:stretch>
            <a:fillRect/>
          </a:stretch>
        </p:blipFill>
        <p:spPr>
          <a:xfrm>
            <a:off x="1837044" y="1645920"/>
            <a:ext cx="8533150" cy="4526280"/>
          </a:xfrm>
          <a:prstGeom prst="rect">
            <a:avLst/>
          </a:prstGeom>
        </p:spPr>
      </p:pic>
      <p:sp>
        <p:nvSpPr>
          <p:cNvPr id="4" name="TextBox 3"/>
          <p:cNvSpPr txBox="1"/>
          <p:nvPr/>
        </p:nvSpPr>
        <p:spPr>
          <a:xfrm>
            <a:off x="594360" y="6254496"/>
            <a:ext cx="11000232" cy="320040"/>
          </a:xfrm>
          <a:prstGeom prst="rect">
            <a:avLst/>
          </a:prstGeom>
          <a:noFill/>
        </p:spPr>
        <p:txBody>
          <a:bodyPr wrap="square" lIns="0" rIns="0" tIns="0" bIns="0">
            <a:spAutoFit/>
          </a:bodyPr>
          <a:lstStyle/>
          <a:p>
            <a:pPr algn="ctr">
              <a:lnSpc>
                <a:spcPts val="1600"/>
              </a:lnSpc>
              <a:spcAft>
                <a:spcPts val="0"/>
              </a:spcAft>
              <a:defRPr sz="1500" b="1">
                <a:solidFill>
                  <a:srgbClr val="285180"/>
                </a:solidFill>
                <a:latin typeface="Arial"/>
              </a:defRPr>
            </a:pPr>
            <a:r>
              <a:t>Independent cellular measurements connect the RNA phenotype with CM performance.</a:t>
            </a:r>
          </a:p>
        </p:txBody>
      </p:sp>
      <p:sp>
        <p:nvSpPr>
          <p:cNvPr id="5" name="TextBox 4"/>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7f,g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749808"/>
            <a:ext cx="11365992" cy="658368"/>
          </a:xfrm>
          <a:prstGeom prst="rect">
            <a:avLst/>
          </a:prstGeom>
          <a:noFill/>
        </p:spPr>
        <p:txBody>
          <a:bodyPr wrap="square" lIns="0" rIns="0" tIns="0" bIns="0">
            <a:spAutoFit/>
          </a:bodyPr>
          <a:lstStyle/>
          <a:p>
            <a:pPr algn="ctr">
              <a:spcAft>
                <a:spcPts val="500"/>
              </a:spcAft>
              <a:defRPr sz="2600" b="1">
                <a:solidFill>
                  <a:srgbClr val="285180"/>
                </a:solidFill>
                <a:latin typeface="Arial"/>
              </a:defRPr>
            </a:pPr>
            <a:r>
              <a:t>Rreb1 loss reduces mitochondrial respiratory capacity</a:t>
            </a:r>
          </a:p>
        </p:txBody>
      </p:sp>
      <p:pic>
        <p:nvPicPr>
          <p:cNvPr id="3" name="Picture 2" descr="Rreb1_respiration.png"/>
          <p:cNvPicPr>
            <a:picLocks noChangeAspect="1"/>
          </p:cNvPicPr>
          <p:nvPr/>
        </p:nvPicPr>
        <p:blipFill>
          <a:blip r:embed="rId2"/>
          <a:stretch>
            <a:fillRect/>
          </a:stretch>
        </p:blipFill>
        <p:spPr>
          <a:xfrm>
            <a:off x="998858" y="1645920"/>
            <a:ext cx="6506202" cy="4480560"/>
          </a:xfrm>
          <a:prstGeom prst="rect">
            <a:avLst/>
          </a:prstGeom>
        </p:spPr>
      </p:pic>
      <p:sp>
        <p:nvSpPr>
          <p:cNvPr id="4" name="TextBox 3"/>
          <p:cNvSpPr txBox="1"/>
          <p:nvPr/>
        </p:nvSpPr>
        <p:spPr>
          <a:xfrm>
            <a:off x="8229600" y="2240280"/>
            <a:ext cx="3200400" cy="2560320"/>
          </a:xfrm>
          <a:prstGeom prst="rect">
            <a:avLst/>
          </a:prstGeom>
          <a:noFill/>
        </p:spPr>
        <p:txBody>
          <a:bodyPr wrap="square" lIns="0" rIns="0" tIns="0" bIns="0">
            <a:spAutoFit/>
          </a:bodyPr>
          <a:lstStyle/>
          <a:p>
            <a:pPr>
              <a:spcAft>
                <a:spcPts val="500"/>
              </a:spcAft>
              <a:defRPr sz="2300" b="0">
                <a:solidFill>
                  <a:srgbClr val="285180"/>
                </a:solidFill>
                <a:latin typeface="Arial"/>
              </a:defRPr>
            </a:pPr>
            <a:r>
              <a:t>Reduced maximal</a:t>
            </a:r>
          </a:p>
          <a:p>
            <a:pPr>
              <a:spcAft>
                <a:spcPts val="500"/>
              </a:spcAft>
              <a:defRPr sz="2300" b="0">
                <a:solidFill>
                  <a:srgbClr val="285180"/>
                </a:solidFill>
                <a:latin typeface="Arial"/>
              </a:defRPr>
            </a:pPr>
            <a:r>
              <a:t>mitochondrial respiration</a:t>
            </a:r>
          </a:p>
          <a:p>
            <a:pPr>
              <a:spcAft>
                <a:spcPts val="500"/>
              </a:spcAft>
              <a:defRPr sz="2300" b="0">
                <a:solidFill>
                  <a:srgbClr val="285180"/>
                </a:solidFill>
                <a:latin typeface="Arial"/>
              </a:defRPr>
            </a:pPr>
          </a:p>
          <a:p>
            <a:pPr>
              <a:spcAft>
                <a:spcPts val="500"/>
              </a:spcAft>
              <a:defRPr sz="2300" b="0">
                <a:solidFill>
                  <a:srgbClr val="285180"/>
                </a:solidFill>
                <a:latin typeface="Arial"/>
              </a:defRPr>
            </a:pPr>
            <a:r>
              <a:t>A functional metabolic phenotype</a:t>
            </a:r>
          </a:p>
        </p:txBody>
      </p:sp>
      <p:sp>
        <p:nvSpPr>
          <p:cNvPr id="5" name="TextBox 4"/>
          <p:cNvSpPr txBox="1"/>
          <p:nvPr/>
        </p:nvSpPr>
        <p:spPr>
          <a:xfrm>
            <a:off x="594360" y="6254496"/>
            <a:ext cx="11000232" cy="320040"/>
          </a:xfrm>
          <a:prstGeom prst="rect">
            <a:avLst/>
          </a:prstGeom>
          <a:noFill/>
        </p:spPr>
        <p:txBody>
          <a:bodyPr wrap="square" lIns="0" rIns="0" tIns="0" bIns="0">
            <a:spAutoFit/>
          </a:bodyPr>
          <a:lstStyle/>
          <a:p>
            <a:pPr algn="ctr">
              <a:lnSpc>
                <a:spcPts val="1600"/>
              </a:lnSpc>
              <a:spcAft>
                <a:spcPts val="0"/>
              </a:spcAft>
              <a:defRPr sz="1500" b="1">
                <a:solidFill>
                  <a:srgbClr val="285180"/>
                </a:solidFill>
                <a:latin typeface="Arial"/>
              </a:defRPr>
            </a:pPr>
            <a:r>
              <a:t>Metabolic validation complements structural and electrical measurements.</a:t>
            </a:r>
          </a:p>
        </p:txBody>
      </p:sp>
      <p:sp>
        <p:nvSpPr>
          <p:cNvPr id="6" name="TextBox 5"/>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7h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749808"/>
            <a:ext cx="11365992" cy="658368"/>
          </a:xfrm>
          <a:prstGeom prst="rect">
            <a:avLst/>
          </a:prstGeom>
          <a:noFill/>
        </p:spPr>
        <p:txBody>
          <a:bodyPr wrap="square" lIns="0" rIns="0" tIns="0" bIns="0">
            <a:spAutoFit/>
          </a:bodyPr>
          <a:lstStyle/>
          <a:p>
            <a:pPr algn="ctr">
              <a:spcAft>
                <a:spcPts val="500"/>
              </a:spcAft>
              <a:defRPr sz="2600" b="1">
                <a:solidFill>
                  <a:srgbClr val="285180"/>
                </a:solidFill>
                <a:latin typeface="Arial"/>
              </a:defRPr>
            </a:pPr>
            <a:r>
              <a:t>Rreb1 perturbation compromises heart function</a:t>
            </a:r>
          </a:p>
        </p:txBody>
      </p:sp>
      <p:pic>
        <p:nvPicPr>
          <p:cNvPr id="3" name="Picture 2" descr="Rreb1_heart.png"/>
          <p:cNvPicPr>
            <a:picLocks noChangeAspect="1"/>
          </p:cNvPicPr>
          <p:nvPr/>
        </p:nvPicPr>
        <p:blipFill>
          <a:blip r:embed="rId2"/>
          <a:stretch>
            <a:fillRect/>
          </a:stretch>
        </p:blipFill>
        <p:spPr>
          <a:xfrm>
            <a:off x="1728181" y="1783080"/>
            <a:ext cx="8750877" cy="4251960"/>
          </a:xfrm>
          <a:prstGeom prst="rect">
            <a:avLst/>
          </a:prstGeom>
        </p:spPr>
      </p:pic>
      <p:sp>
        <p:nvSpPr>
          <p:cNvPr id="4" name="TextBox 3"/>
          <p:cNvSpPr txBox="1"/>
          <p:nvPr/>
        </p:nvSpPr>
        <p:spPr>
          <a:xfrm>
            <a:off x="914400" y="1444752"/>
            <a:ext cx="10332720" cy="320040"/>
          </a:xfrm>
          <a:prstGeom prst="rect">
            <a:avLst/>
          </a:prstGeom>
          <a:noFill/>
        </p:spPr>
        <p:txBody>
          <a:bodyPr wrap="square" lIns="0" rIns="0" tIns="0" bIns="0">
            <a:spAutoFit/>
          </a:bodyPr>
          <a:lstStyle/>
          <a:p>
            <a:pPr algn="ctr">
              <a:spcAft>
                <a:spcPts val="500"/>
              </a:spcAft>
              <a:defRPr sz="1800" b="0">
                <a:solidFill>
                  <a:srgbClr val="285180"/>
                </a:solidFill>
                <a:latin typeface="Arial"/>
              </a:defRPr>
            </a:pPr>
            <a:r>
              <a:t>P35 echocardiography · sgNT: 7 mice · sgRreb1: 10 mice</a:t>
            </a:r>
          </a:p>
        </p:txBody>
      </p:sp>
      <p:sp>
        <p:nvSpPr>
          <p:cNvPr id="5" name="TextBox 4"/>
          <p:cNvSpPr txBox="1"/>
          <p:nvPr/>
        </p:nvSpPr>
        <p:spPr>
          <a:xfrm>
            <a:off x="594360" y="6254496"/>
            <a:ext cx="11000232" cy="320040"/>
          </a:xfrm>
          <a:prstGeom prst="rect">
            <a:avLst/>
          </a:prstGeom>
          <a:noFill/>
        </p:spPr>
        <p:txBody>
          <a:bodyPr wrap="square" lIns="0" rIns="0" tIns="0" bIns="0">
            <a:spAutoFit/>
          </a:bodyPr>
          <a:lstStyle/>
          <a:p>
            <a:pPr algn="ctr">
              <a:lnSpc>
                <a:spcPts val="1600"/>
              </a:lnSpc>
              <a:spcAft>
                <a:spcPts val="0"/>
              </a:spcAft>
              <a:defRPr sz="1500" b="1">
                <a:solidFill>
                  <a:srgbClr val="285180"/>
                </a:solidFill>
                <a:latin typeface="Arial"/>
              </a:defRPr>
            </a:pPr>
            <a:r>
              <a:t>Cellular phenotypes are accompanied by reduced pump performance.</a:t>
            </a:r>
          </a:p>
        </p:txBody>
      </p:sp>
      <p:sp>
        <p:nvSpPr>
          <p:cNvPr id="6" name="TextBox 5"/>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7i–k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749808"/>
            <a:ext cx="11365992" cy="658368"/>
          </a:xfrm>
          <a:prstGeom prst="rect">
            <a:avLst/>
          </a:prstGeom>
          <a:noFill/>
        </p:spPr>
        <p:txBody>
          <a:bodyPr wrap="square" lIns="0" rIns="0" tIns="0" bIns="0">
            <a:spAutoFit/>
          </a:bodyPr>
          <a:lstStyle/>
          <a:p>
            <a:pPr algn="ctr">
              <a:spcAft>
                <a:spcPts val="500"/>
              </a:spcAft>
              <a:defRPr sz="2600" b="1">
                <a:solidFill>
                  <a:srgbClr val="285180"/>
                </a:solidFill>
                <a:latin typeface="Arial"/>
              </a:defRPr>
            </a:pPr>
            <a:r>
              <a:t>Rreb1 supports a maturation-linked transcriptional program</a:t>
            </a:r>
          </a:p>
        </p:txBody>
      </p:sp>
      <p:pic>
        <p:nvPicPr>
          <p:cNvPr id="3" name="Picture 2" descr="Rreb1_RNA.png"/>
          <p:cNvPicPr>
            <a:picLocks noChangeAspect="1"/>
          </p:cNvPicPr>
          <p:nvPr/>
        </p:nvPicPr>
        <p:blipFill>
          <a:blip r:embed="rId2"/>
          <a:stretch>
            <a:fillRect/>
          </a:stretch>
        </p:blipFill>
        <p:spPr>
          <a:xfrm>
            <a:off x="820024" y="1600200"/>
            <a:ext cx="10567190" cy="2011680"/>
          </a:xfrm>
          <a:prstGeom prst="rect">
            <a:avLst/>
          </a:prstGeom>
        </p:spPr>
      </p:pic>
      <p:pic>
        <p:nvPicPr>
          <p:cNvPr id="4" name="Picture 3" descr="Rreb1_model.png"/>
          <p:cNvPicPr>
            <a:picLocks noChangeAspect="1"/>
          </p:cNvPicPr>
          <p:nvPr/>
        </p:nvPicPr>
        <p:blipFill>
          <a:blip r:embed="rId3"/>
          <a:stretch>
            <a:fillRect/>
          </a:stretch>
        </p:blipFill>
        <p:spPr>
          <a:xfrm>
            <a:off x="5598076" y="3675887"/>
            <a:ext cx="5720246" cy="2423160"/>
          </a:xfrm>
          <a:prstGeom prst="rect">
            <a:avLst/>
          </a:prstGeom>
        </p:spPr>
      </p:pic>
      <p:sp>
        <p:nvSpPr>
          <p:cNvPr id="5" name="TextBox 4"/>
          <p:cNvSpPr txBox="1"/>
          <p:nvPr/>
        </p:nvSpPr>
        <p:spPr>
          <a:xfrm>
            <a:off x="822960" y="3931920"/>
            <a:ext cx="4206240" cy="1965960"/>
          </a:xfrm>
          <a:prstGeom prst="rect">
            <a:avLst/>
          </a:prstGeom>
          <a:noFill/>
        </p:spPr>
        <p:txBody>
          <a:bodyPr wrap="square" lIns="0" rIns="0" tIns="0" bIns="0">
            <a:spAutoFit/>
          </a:bodyPr>
          <a:lstStyle/>
          <a:p>
            <a:pPr>
              <a:spcAft>
                <a:spcPts val="500"/>
              </a:spcAft>
              <a:defRPr sz="2100" b="0">
                <a:solidFill>
                  <a:srgbClr val="285180"/>
                </a:solidFill>
                <a:latin typeface="Arial"/>
              </a:defRPr>
            </a:pPr>
            <a:r>
              <a:t>Independent RNA-seq agrees</a:t>
            </a:r>
          </a:p>
          <a:p>
            <a:pPr>
              <a:spcAft>
                <a:spcPts val="500"/>
              </a:spcAft>
              <a:defRPr sz="2100" b="0">
                <a:solidFill>
                  <a:srgbClr val="285180"/>
                </a:solidFill>
                <a:latin typeface="Arial"/>
              </a:defRPr>
            </a:pPr>
            <a:r>
              <a:t>with the PIP-seq phenotype</a:t>
            </a:r>
          </a:p>
          <a:p>
            <a:pPr>
              <a:spcAft>
                <a:spcPts val="500"/>
              </a:spcAft>
              <a:defRPr sz="2100" b="0">
                <a:solidFill>
                  <a:srgbClr val="285180"/>
                </a:solidFill>
                <a:latin typeface="Arial"/>
              </a:defRPr>
            </a:pPr>
          </a:p>
          <a:p>
            <a:pPr>
              <a:spcAft>
                <a:spcPts val="500"/>
              </a:spcAft>
              <a:defRPr sz="2100" b="0">
                <a:solidFill>
                  <a:srgbClr val="285180"/>
                </a:solidFill>
                <a:latin typeface="Arial"/>
              </a:defRPr>
            </a:pPr>
            <a:r>
              <a:t>14 candidate overlapping targets</a:t>
            </a:r>
          </a:p>
          <a:p>
            <a:pPr>
              <a:spcAft>
                <a:spcPts val="500"/>
              </a:spcAft>
              <a:defRPr sz="2100" b="0">
                <a:solidFill>
                  <a:srgbClr val="285180"/>
                </a:solidFill>
                <a:latin typeface="Arial"/>
              </a:defRPr>
            </a:pPr>
            <a:r>
              <a:t>including Thra</a:t>
            </a:r>
          </a:p>
        </p:txBody>
      </p:sp>
      <p:sp>
        <p:nvSpPr>
          <p:cNvPr id="6" name="TextBox 5"/>
          <p:cNvSpPr txBox="1"/>
          <p:nvPr/>
        </p:nvSpPr>
        <p:spPr>
          <a:xfrm>
            <a:off x="594360" y="6254496"/>
            <a:ext cx="11000232" cy="320040"/>
          </a:xfrm>
          <a:prstGeom prst="rect">
            <a:avLst/>
          </a:prstGeom>
          <a:noFill/>
        </p:spPr>
        <p:txBody>
          <a:bodyPr wrap="square" lIns="0" rIns="0" tIns="0" bIns="0">
            <a:spAutoFit/>
          </a:bodyPr>
          <a:lstStyle/>
          <a:p>
            <a:pPr algn="ctr">
              <a:lnSpc>
                <a:spcPts val="1600"/>
              </a:lnSpc>
              <a:spcAft>
                <a:spcPts val="0"/>
              </a:spcAft>
              <a:defRPr sz="1500" b="1">
                <a:solidFill>
                  <a:srgbClr val="285180"/>
                </a:solidFill>
                <a:latin typeface="Arial"/>
              </a:defRPr>
            </a:pPr>
            <a:r>
              <a:t>PIP-seq, independent RNA-seq and regulatory inference converge on a testable model.</a:t>
            </a:r>
          </a:p>
        </p:txBody>
      </p:sp>
      <p:sp>
        <p:nvSpPr>
          <p:cNvPr id="7" name="TextBox 6"/>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7l–o</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749808"/>
            <a:ext cx="11365992" cy="658368"/>
          </a:xfrm>
          <a:prstGeom prst="rect">
            <a:avLst/>
          </a:prstGeom>
          <a:noFill/>
        </p:spPr>
        <p:txBody>
          <a:bodyPr wrap="square" lIns="0" rIns="0" tIns="0" bIns="0">
            <a:spAutoFit/>
          </a:bodyPr>
          <a:lstStyle/>
          <a:p>
            <a:pPr algn="ctr">
              <a:spcAft>
                <a:spcPts val="500"/>
              </a:spcAft>
              <a:defRPr sz="2600" b="1">
                <a:solidFill>
                  <a:srgbClr val="285180"/>
                </a:solidFill>
                <a:latin typeface="Arial"/>
              </a:defRPr>
            </a:pPr>
            <a:r>
              <a:t>Backup: the paper’s 21-gene maturation index</a:t>
            </a:r>
          </a:p>
        </p:txBody>
      </p:sp>
      <p:sp>
        <p:nvSpPr>
          <p:cNvPr id="3" name="TextBox 2"/>
          <p:cNvSpPr txBox="1"/>
          <p:nvPr/>
        </p:nvSpPr>
        <p:spPr>
          <a:xfrm>
            <a:off x="914400" y="1691640"/>
            <a:ext cx="2926080" cy="3383280"/>
          </a:xfrm>
          <a:prstGeom prst="rect">
            <a:avLst/>
          </a:prstGeom>
          <a:noFill/>
        </p:spPr>
        <p:txBody>
          <a:bodyPr wrap="square" lIns="0" rIns="0" tIns="0" bIns="0">
            <a:spAutoFit/>
          </a:bodyPr>
          <a:lstStyle/>
          <a:p>
            <a:pPr>
              <a:lnSpc>
                <a:spcPts val="2600"/>
              </a:lnSpc>
              <a:spcAft>
                <a:spcPts val="300"/>
              </a:spcAft>
              <a:defRPr sz="2200" b="0">
                <a:solidFill>
                  <a:srgbClr val="172B3D"/>
                </a:solidFill>
                <a:latin typeface="Arial"/>
              </a:defRPr>
            </a:pPr>
            <a:r>
              <a:t>Rxrg</a:t>
            </a:r>
          </a:p>
          <a:p>
            <a:pPr>
              <a:lnSpc>
                <a:spcPts val="2600"/>
              </a:lnSpc>
              <a:spcAft>
                <a:spcPts val="300"/>
              </a:spcAft>
              <a:defRPr sz="2200" b="0">
                <a:solidFill>
                  <a:srgbClr val="172B3D"/>
                </a:solidFill>
                <a:latin typeface="Arial"/>
              </a:defRPr>
            </a:pPr>
            <a:r>
              <a:t>Ppargc1a</a:t>
            </a:r>
          </a:p>
          <a:p>
            <a:pPr>
              <a:lnSpc>
                <a:spcPts val="2600"/>
              </a:lnSpc>
              <a:spcAft>
                <a:spcPts val="300"/>
              </a:spcAft>
              <a:defRPr sz="2200" b="0">
                <a:solidFill>
                  <a:srgbClr val="172B3D"/>
                </a:solidFill>
                <a:latin typeface="Arial"/>
              </a:defRPr>
            </a:pPr>
            <a:r>
              <a:t>Ppargc1b</a:t>
            </a:r>
          </a:p>
          <a:p>
            <a:pPr>
              <a:lnSpc>
                <a:spcPts val="2600"/>
              </a:lnSpc>
              <a:spcAft>
                <a:spcPts val="300"/>
              </a:spcAft>
              <a:defRPr sz="2200" b="0">
                <a:solidFill>
                  <a:srgbClr val="172B3D"/>
                </a:solidFill>
                <a:latin typeface="Arial"/>
              </a:defRPr>
            </a:pPr>
            <a:r>
              <a:t>Cebpa</a:t>
            </a:r>
          </a:p>
          <a:p>
            <a:pPr>
              <a:lnSpc>
                <a:spcPts val="2600"/>
              </a:lnSpc>
              <a:spcAft>
                <a:spcPts val="300"/>
              </a:spcAft>
              <a:defRPr sz="2200" b="0">
                <a:solidFill>
                  <a:srgbClr val="172B3D"/>
                </a:solidFill>
                <a:latin typeface="Arial"/>
              </a:defRPr>
            </a:pPr>
            <a:r>
              <a:t>Cebpb</a:t>
            </a:r>
          </a:p>
          <a:p>
            <a:pPr>
              <a:lnSpc>
                <a:spcPts val="2600"/>
              </a:lnSpc>
              <a:spcAft>
                <a:spcPts val="300"/>
              </a:spcAft>
              <a:defRPr sz="2200" b="0">
                <a:solidFill>
                  <a:srgbClr val="172B3D"/>
                </a:solidFill>
                <a:latin typeface="Arial"/>
              </a:defRPr>
            </a:pPr>
            <a:r>
              <a:t>Esrra</a:t>
            </a:r>
          </a:p>
          <a:p>
            <a:pPr>
              <a:lnSpc>
                <a:spcPts val="2600"/>
              </a:lnSpc>
              <a:spcAft>
                <a:spcPts val="300"/>
              </a:spcAft>
              <a:defRPr sz="2200" b="0">
                <a:solidFill>
                  <a:srgbClr val="172B3D"/>
                </a:solidFill>
                <a:latin typeface="Arial"/>
              </a:defRPr>
            </a:pPr>
            <a:r>
              <a:t>Esrrb</a:t>
            </a:r>
          </a:p>
        </p:txBody>
      </p:sp>
      <p:sp>
        <p:nvSpPr>
          <p:cNvPr id="4" name="TextBox 3"/>
          <p:cNvSpPr txBox="1"/>
          <p:nvPr/>
        </p:nvSpPr>
        <p:spPr>
          <a:xfrm>
            <a:off x="4709160" y="1691640"/>
            <a:ext cx="2926080" cy="3383280"/>
          </a:xfrm>
          <a:prstGeom prst="rect">
            <a:avLst/>
          </a:prstGeom>
          <a:noFill/>
        </p:spPr>
        <p:txBody>
          <a:bodyPr wrap="square" lIns="0" rIns="0" tIns="0" bIns="0">
            <a:spAutoFit/>
          </a:bodyPr>
          <a:lstStyle/>
          <a:p>
            <a:pPr>
              <a:lnSpc>
                <a:spcPts val="2600"/>
              </a:lnSpc>
              <a:spcAft>
                <a:spcPts val="300"/>
              </a:spcAft>
              <a:defRPr sz="2200" b="0">
                <a:solidFill>
                  <a:srgbClr val="172B3D"/>
                </a:solidFill>
                <a:latin typeface="Arial"/>
              </a:defRPr>
            </a:pPr>
            <a:r>
              <a:t>Esrrg</a:t>
            </a:r>
          </a:p>
          <a:p>
            <a:pPr>
              <a:lnSpc>
                <a:spcPts val="2600"/>
              </a:lnSpc>
              <a:spcAft>
                <a:spcPts val="300"/>
              </a:spcAft>
              <a:defRPr sz="2200" b="0">
                <a:solidFill>
                  <a:srgbClr val="172B3D"/>
                </a:solidFill>
                <a:latin typeface="Arial"/>
              </a:defRPr>
            </a:pPr>
            <a:r>
              <a:t>Mitf</a:t>
            </a:r>
          </a:p>
          <a:p>
            <a:pPr>
              <a:lnSpc>
                <a:spcPts val="2600"/>
              </a:lnSpc>
              <a:spcAft>
                <a:spcPts val="300"/>
              </a:spcAft>
              <a:defRPr sz="2200" b="0">
                <a:solidFill>
                  <a:srgbClr val="172B3D"/>
                </a:solidFill>
                <a:latin typeface="Arial"/>
              </a:defRPr>
            </a:pPr>
            <a:r>
              <a:t>Myh6</a:t>
            </a:r>
          </a:p>
          <a:p>
            <a:pPr>
              <a:lnSpc>
                <a:spcPts val="2600"/>
              </a:lnSpc>
              <a:spcAft>
                <a:spcPts val="300"/>
              </a:spcAft>
              <a:defRPr sz="2200" b="0">
                <a:solidFill>
                  <a:srgbClr val="172B3D"/>
                </a:solidFill>
                <a:latin typeface="Arial"/>
              </a:defRPr>
            </a:pPr>
            <a:r>
              <a:t>Tnni3</a:t>
            </a:r>
          </a:p>
          <a:p>
            <a:pPr>
              <a:lnSpc>
                <a:spcPts val="2600"/>
              </a:lnSpc>
              <a:spcAft>
                <a:spcPts val="300"/>
              </a:spcAft>
              <a:defRPr sz="2200" b="0">
                <a:solidFill>
                  <a:srgbClr val="172B3D"/>
                </a:solidFill>
                <a:latin typeface="Arial"/>
              </a:defRPr>
            </a:pPr>
            <a:r>
              <a:t>Myl2</a:t>
            </a:r>
          </a:p>
          <a:p>
            <a:pPr>
              <a:lnSpc>
                <a:spcPts val="2600"/>
              </a:lnSpc>
              <a:spcAft>
                <a:spcPts val="300"/>
              </a:spcAft>
              <a:defRPr sz="2200" b="0">
                <a:solidFill>
                  <a:srgbClr val="172B3D"/>
                </a:solidFill>
                <a:latin typeface="Arial"/>
              </a:defRPr>
            </a:pPr>
            <a:r>
              <a:t>Kcnq1</a:t>
            </a:r>
          </a:p>
          <a:p>
            <a:pPr>
              <a:lnSpc>
                <a:spcPts val="2600"/>
              </a:lnSpc>
              <a:spcAft>
                <a:spcPts val="300"/>
              </a:spcAft>
              <a:defRPr sz="2200" b="0">
                <a:solidFill>
                  <a:srgbClr val="172B3D"/>
                </a:solidFill>
                <a:latin typeface="Arial"/>
              </a:defRPr>
            </a:pPr>
            <a:r>
              <a:t>Jph1</a:t>
            </a:r>
          </a:p>
        </p:txBody>
      </p:sp>
      <p:sp>
        <p:nvSpPr>
          <p:cNvPr id="5" name="TextBox 4"/>
          <p:cNvSpPr txBox="1"/>
          <p:nvPr/>
        </p:nvSpPr>
        <p:spPr>
          <a:xfrm>
            <a:off x="8503920" y="1691640"/>
            <a:ext cx="2926080" cy="3383280"/>
          </a:xfrm>
          <a:prstGeom prst="rect">
            <a:avLst/>
          </a:prstGeom>
          <a:noFill/>
        </p:spPr>
        <p:txBody>
          <a:bodyPr wrap="square" lIns="0" rIns="0" tIns="0" bIns="0">
            <a:spAutoFit/>
          </a:bodyPr>
          <a:lstStyle/>
          <a:p>
            <a:pPr>
              <a:lnSpc>
                <a:spcPts val="2600"/>
              </a:lnSpc>
              <a:spcAft>
                <a:spcPts val="300"/>
              </a:spcAft>
              <a:defRPr sz="2200" b="0">
                <a:solidFill>
                  <a:srgbClr val="172B3D"/>
                </a:solidFill>
                <a:latin typeface="Arial"/>
              </a:defRPr>
            </a:pPr>
            <a:r>
              <a:t>Jph2</a:t>
            </a:r>
          </a:p>
          <a:p>
            <a:pPr>
              <a:lnSpc>
                <a:spcPts val="2600"/>
              </a:lnSpc>
              <a:spcAft>
                <a:spcPts val="300"/>
              </a:spcAft>
              <a:defRPr sz="2200" b="0">
                <a:solidFill>
                  <a:srgbClr val="172B3D"/>
                </a:solidFill>
                <a:latin typeface="Arial"/>
              </a:defRPr>
            </a:pPr>
            <a:r>
              <a:t>Bin1</a:t>
            </a:r>
          </a:p>
          <a:p>
            <a:pPr>
              <a:lnSpc>
                <a:spcPts val="2600"/>
              </a:lnSpc>
              <a:spcAft>
                <a:spcPts val="300"/>
              </a:spcAft>
              <a:defRPr sz="2200" b="0">
                <a:solidFill>
                  <a:srgbClr val="172B3D"/>
                </a:solidFill>
                <a:latin typeface="Arial"/>
              </a:defRPr>
            </a:pPr>
            <a:r>
              <a:t>Lpin1</a:t>
            </a:r>
          </a:p>
          <a:p>
            <a:pPr>
              <a:lnSpc>
                <a:spcPts val="2600"/>
              </a:lnSpc>
              <a:spcAft>
                <a:spcPts val="300"/>
              </a:spcAft>
              <a:defRPr sz="2200" b="0">
                <a:solidFill>
                  <a:srgbClr val="172B3D"/>
                </a:solidFill>
                <a:latin typeface="Arial"/>
              </a:defRPr>
            </a:pPr>
            <a:r>
              <a:t>Pln</a:t>
            </a:r>
          </a:p>
          <a:p>
            <a:pPr>
              <a:lnSpc>
                <a:spcPts val="2600"/>
              </a:lnSpc>
              <a:spcAft>
                <a:spcPts val="300"/>
              </a:spcAft>
              <a:defRPr sz="2200" b="0">
                <a:solidFill>
                  <a:srgbClr val="172B3D"/>
                </a:solidFill>
                <a:latin typeface="Arial"/>
              </a:defRPr>
            </a:pPr>
            <a:r>
              <a:t>Ppara</a:t>
            </a:r>
          </a:p>
          <a:p>
            <a:pPr>
              <a:lnSpc>
                <a:spcPts val="2600"/>
              </a:lnSpc>
              <a:spcAft>
                <a:spcPts val="300"/>
              </a:spcAft>
              <a:defRPr sz="2200" b="0">
                <a:solidFill>
                  <a:srgbClr val="172B3D"/>
                </a:solidFill>
                <a:latin typeface="Arial"/>
              </a:defRPr>
            </a:pPr>
            <a:r>
              <a:t>Ppard</a:t>
            </a:r>
          </a:p>
          <a:p>
            <a:pPr>
              <a:lnSpc>
                <a:spcPts val="2600"/>
              </a:lnSpc>
              <a:spcAft>
                <a:spcPts val="300"/>
              </a:spcAft>
              <a:defRPr sz="2200" b="0">
                <a:solidFill>
                  <a:srgbClr val="172B3D"/>
                </a:solidFill>
                <a:latin typeface="Arial"/>
              </a:defRPr>
            </a:pPr>
            <a:r>
              <a:t>Cpt1b</a:t>
            </a:r>
          </a:p>
        </p:txBody>
      </p:sp>
      <p:sp>
        <p:nvSpPr>
          <p:cNvPr id="6" name="TextBox 5"/>
          <p:cNvSpPr txBox="1"/>
          <p:nvPr/>
        </p:nvSpPr>
        <p:spPr>
          <a:xfrm>
            <a:off x="822960" y="4983480"/>
            <a:ext cx="10607040" cy="1005840"/>
          </a:xfrm>
          <a:prstGeom prst="rect">
            <a:avLst/>
          </a:prstGeom>
          <a:noFill/>
        </p:spPr>
        <p:txBody>
          <a:bodyPr wrap="square" lIns="0" rIns="0" tIns="0" bIns="0">
            <a:spAutoFit/>
          </a:bodyPr>
          <a:lstStyle/>
          <a:p>
            <a:pPr algn="ctr">
              <a:spcAft>
                <a:spcPts val="500"/>
              </a:spcAft>
              <a:defRPr sz="2200" b="1">
                <a:solidFill>
                  <a:srgbClr val="285180"/>
                </a:solidFill>
                <a:latin typeface="Arial"/>
              </a:defRPr>
            </a:pPr>
            <a:r>
              <a:t>Published Methods: Seurat AddModuleScore</a:t>
            </a:r>
          </a:p>
          <a:p>
            <a:pPr algn="ctr">
              <a:spcAft>
                <a:spcPts val="500"/>
              </a:spcAft>
              <a:defRPr sz="2200" b="1">
                <a:solidFill>
                  <a:srgbClr val="285180"/>
                </a:solidFill>
                <a:latin typeface="Arial"/>
              </a:defRPr>
            </a:pPr>
            <a:r>
              <a:t>Independent developmental benchmark; mean leave-one-out r = 0.997</a:t>
            </a:r>
          </a:p>
        </p:txBody>
      </p:sp>
      <p:sp>
        <p:nvSpPr>
          <p:cNvPr id="7" name="TextBox 6"/>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Maturation Methods; Fig. 4b; Supplementary Fig. 19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749808"/>
            <a:ext cx="11365992" cy="658368"/>
          </a:xfrm>
          <a:prstGeom prst="rect">
            <a:avLst/>
          </a:prstGeom>
          <a:noFill/>
        </p:spPr>
        <p:txBody>
          <a:bodyPr wrap="square" lIns="0" rIns="0" tIns="0" bIns="0">
            <a:spAutoFit/>
          </a:bodyPr>
          <a:lstStyle/>
          <a:p>
            <a:pPr algn="ctr">
              <a:spcAft>
                <a:spcPts val="500"/>
              </a:spcAft>
              <a:defRPr sz="2600" b="1">
                <a:solidFill>
                  <a:srgbClr val="285180"/>
                </a:solidFill>
                <a:latin typeface="Arial"/>
              </a:defRPr>
            </a:pPr>
            <a:r>
              <a:t>Backup: probe readout and targeted validation</a:t>
            </a:r>
          </a:p>
        </p:txBody>
      </p:sp>
      <p:sp>
        <p:nvSpPr>
          <p:cNvPr id="3" name="TextBox 2"/>
          <p:cNvSpPr txBox="1"/>
          <p:nvPr/>
        </p:nvSpPr>
        <p:spPr>
          <a:xfrm>
            <a:off x="914400" y="1737360"/>
            <a:ext cx="10332720" cy="914400"/>
          </a:xfrm>
          <a:prstGeom prst="rect">
            <a:avLst/>
          </a:prstGeom>
          <a:noFill/>
        </p:spPr>
        <p:txBody>
          <a:bodyPr wrap="square" lIns="0" rIns="0" tIns="0" bIns="0">
            <a:spAutoFit/>
          </a:bodyPr>
          <a:lstStyle/>
          <a:p>
            <a:pPr algn="ctr">
              <a:spcAft>
                <a:spcPts val="500"/>
              </a:spcAft>
              <a:defRPr sz="5400" b="1">
                <a:solidFill>
                  <a:srgbClr val="285180"/>
                </a:solidFill>
                <a:latin typeface="Arial"/>
              </a:defRPr>
            </a:pPr>
            <a:r>
              <a:t>37 / 43</a:t>
            </a:r>
          </a:p>
        </p:txBody>
      </p:sp>
      <p:sp>
        <p:nvSpPr>
          <p:cNvPr id="4" name="TextBox 3"/>
          <p:cNvSpPr txBox="1"/>
          <p:nvPr/>
        </p:nvSpPr>
        <p:spPr>
          <a:xfrm>
            <a:off x="1188720" y="2834640"/>
            <a:ext cx="9829800" cy="1554480"/>
          </a:xfrm>
          <a:prstGeom prst="rect">
            <a:avLst/>
          </a:prstGeom>
          <a:noFill/>
        </p:spPr>
        <p:txBody>
          <a:bodyPr wrap="square" lIns="0" rIns="0" tIns="0" bIns="0">
            <a:spAutoFit/>
          </a:bodyPr>
          <a:lstStyle/>
          <a:p>
            <a:pPr algn="ctr">
              <a:spcAft>
                <a:spcPts val="500"/>
              </a:spcAft>
              <a:defRPr sz="2600" b="0">
                <a:solidFill>
                  <a:srgbClr val="285180"/>
                </a:solidFill>
                <a:latin typeface="Arial"/>
              </a:defRPr>
            </a:pPr>
            <a:r>
              <a:t>Detectable perturbation-detection probes</a:t>
            </a:r>
          </a:p>
          <a:p>
            <a:pPr algn="ctr">
              <a:spcAft>
                <a:spcPts val="500"/>
              </a:spcAft>
              <a:defRPr sz="2600" b="0">
                <a:solidFill>
                  <a:srgbClr val="285180"/>
                </a:solidFill>
                <a:latin typeface="Arial"/>
              </a:defRPr>
            </a:pPr>
            <a:r>
              <a:t>showing at least 50% reduced signal</a:t>
            </a:r>
          </a:p>
        </p:txBody>
      </p:sp>
      <p:sp>
        <p:nvSpPr>
          <p:cNvPr id="5" name="TextBox 4"/>
          <p:cNvSpPr txBox="1"/>
          <p:nvPr/>
        </p:nvSpPr>
        <p:spPr>
          <a:xfrm>
            <a:off x="1280160" y="4754880"/>
            <a:ext cx="9601200" cy="822960"/>
          </a:xfrm>
          <a:prstGeom prst="rect">
            <a:avLst/>
          </a:prstGeom>
          <a:noFill/>
        </p:spPr>
        <p:txBody>
          <a:bodyPr wrap="square" lIns="0" rIns="0" tIns="0" bIns="0">
            <a:spAutoFit/>
          </a:bodyPr>
          <a:lstStyle/>
          <a:p>
            <a:pPr algn="ctr">
              <a:spcAft>
                <a:spcPts val="500"/>
              </a:spcAft>
              <a:defRPr sz="2300" b="0">
                <a:solidFill>
                  <a:srgbClr val="172B3D"/>
                </a:solidFill>
                <a:latin typeface="Arial"/>
              </a:defRPr>
            </a:pPr>
            <a:r>
              <a:t>RNA-based perturbation evidence is followed by</a:t>
            </a:r>
          </a:p>
          <a:p>
            <a:pPr algn="ctr">
              <a:spcAft>
                <a:spcPts val="500"/>
              </a:spcAft>
              <a:defRPr sz="2300" b="0">
                <a:solidFill>
                  <a:srgbClr val="172B3D"/>
                </a:solidFill>
                <a:latin typeface="Arial"/>
              </a:defRPr>
            </a:pPr>
            <a:r>
              <a:t>independent target and functional validation.</a:t>
            </a:r>
          </a:p>
        </p:txBody>
      </p:sp>
      <p:sp>
        <p:nvSpPr>
          <p:cNvPr id="6" name="TextBox 5"/>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PIP-seq Methods; Supplementary Fig. 24d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749808"/>
            <a:ext cx="11365992" cy="658368"/>
          </a:xfrm>
          <a:prstGeom prst="rect">
            <a:avLst/>
          </a:prstGeom>
          <a:noFill/>
        </p:spPr>
        <p:txBody>
          <a:bodyPr wrap="square" lIns="0" rIns="0" tIns="0" bIns="0">
            <a:spAutoFit/>
          </a:bodyPr>
          <a:lstStyle/>
          <a:p>
            <a:pPr algn="ctr">
              <a:spcAft>
                <a:spcPts val="500"/>
              </a:spcAft>
              <a:defRPr sz="2600" b="1">
                <a:solidFill>
                  <a:srgbClr val="285180"/>
                </a:solidFill>
                <a:latin typeface="Arial"/>
              </a:defRPr>
            </a:pPr>
            <a:r>
              <a:t>Backup: interpreting the communication and regulatory models</a:t>
            </a:r>
          </a:p>
        </p:txBody>
      </p:sp>
      <p:pic>
        <p:nvPicPr>
          <p:cNvPr id="3" name="Picture 2" descr="SigNET_pipeline.png"/>
          <p:cNvPicPr>
            <a:picLocks noChangeAspect="1"/>
          </p:cNvPicPr>
          <p:nvPr/>
        </p:nvPicPr>
        <p:blipFill>
          <a:blip r:embed="rId2"/>
          <a:stretch>
            <a:fillRect/>
          </a:stretch>
        </p:blipFill>
        <p:spPr>
          <a:xfrm>
            <a:off x="951199" y="1828800"/>
            <a:ext cx="10259121" cy="3657600"/>
          </a:xfrm>
          <a:prstGeom prst="rect">
            <a:avLst/>
          </a:prstGeom>
        </p:spPr>
      </p:pic>
      <p:sp>
        <p:nvSpPr>
          <p:cNvPr id="4" name="TextBox 3"/>
          <p:cNvSpPr txBox="1"/>
          <p:nvPr/>
        </p:nvSpPr>
        <p:spPr>
          <a:xfrm>
            <a:off x="822960" y="1463040"/>
            <a:ext cx="10515600" cy="320040"/>
          </a:xfrm>
          <a:prstGeom prst="rect">
            <a:avLst/>
          </a:prstGeom>
          <a:noFill/>
        </p:spPr>
        <p:txBody>
          <a:bodyPr wrap="square" lIns="0" rIns="0" tIns="0" bIns="0">
            <a:spAutoFit/>
          </a:bodyPr>
          <a:lstStyle/>
          <a:p>
            <a:pPr algn="ctr">
              <a:spcAft>
                <a:spcPts val="500"/>
              </a:spcAft>
              <a:defRPr sz="1900" b="0">
                <a:solidFill>
                  <a:srgbClr val="285180"/>
                </a:solidFill>
                <a:latin typeface="Arial"/>
              </a:defRPr>
            </a:pPr>
            <a:r>
              <a:t>Model distance penalties: paracrine &gt;200 µm; juxtacrine &gt;50 µm</a:t>
            </a:r>
          </a:p>
        </p:txBody>
      </p:sp>
      <p:sp>
        <p:nvSpPr>
          <p:cNvPr id="5" name="TextBox 4"/>
          <p:cNvSpPr txBox="1"/>
          <p:nvPr/>
        </p:nvSpPr>
        <p:spPr>
          <a:xfrm>
            <a:off x="914400" y="5596128"/>
            <a:ext cx="3063240" cy="384048"/>
          </a:xfrm>
          <a:prstGeom prst="rect">
            <a:avLst/>
          </a:prstGeom>
          <a:noFill/>
        </p:spPr>
        <p:txBody>
          <a:bodyPr wrap="square" lIns="0" rIns="0" tIns="0" bIns="0">
            <a:spAutoFit/>
          </a:bodyPr>
          <a:lstStyle/>
          <a:p>
            <a:pPr algn="ctr">
              <a:spcAft>
                <a:spcPts val="500"/>
              </a:spcAft>
              <a:defRPr sz="1700" b="1">
                <a:solidFill>
                  <a:srgbClr val="285180"/>
                </a:solidFill>
                <a:latin typeface="Arial"/>
              </a:defRPr>
            </a:pPr>
            <a:r>
              <a:t>Spatial gene expression</a:t>
            </a:r>
          </a:p>
        </p:txBody>
      </p:sp>
      <p:sp>
        <p:nvSpPr>
          <p:cNvPr id="6" name="TextBox 5"/>
          <p:cNvSpPr txBox="1"/>
          <p:nvPr/>
        </p:nvSpPr>
        <p:spPr>
          <a:xfrm>
            <a:off x="4572000" y="5596128"/>
            <a:ext cx="3063240" cy="384048"/>
          </a:xfrm>
          <a:prstGeom prst="rect">
            <a:avLst/>
          </a:prstGeom>
          <a:noFill/>
        </p:spPr>
        <p:txBody>
          <a:bodyPr wrap="square" lIns="0" rIns="0" tIns="0" bIns="0">
            <a:spAutoFit/>
          </a:bodyPr>
          <a:lstStyle/>
          <a:p>
            <a:pPr algn="ctr">
              <a:spcAft>
                <a:spcPts val="500"/>
              </a:spcAft>
              <a:defRPr sz="1700" b="1">
                <a:solidFill>
                  <a:srgbClr val="285180"/>
                </a:solidFill>
                <a:latin typeface="Arial"/>
              </a:defRPr>
            </a:pPr>
            <a:r>
              <a:t>SCENIC regulatory programs</a:t>
            </a:r>
          </a:p>
        </p:txBody>
      </p:sp>
      <p:sp>
        <p:nvSpPr>
          <p:cNvPr id="7" name="TextBox 6"/>
          <p:cNvSpPr txBox="1"/>
          <p:nvPr/>
        </p:nvSpPr>
        <p:spPr>
          <a:xfrm>
            <a:off x="8229600" y="5596128"/>
            <a:ext cx="3063240" cy="384048"/>
          </a:xfrm>
          <a:prstGeom prst="rect">
            <a:avLst/>
          </a:prstGeom>
          <a:noFill/>
        </p:spPr>
        <p:txBody>
          <a:bodyPr wrap="square" lIns="0" rIns="0" tIns="0" bIns="0">
            <a:spAutoFit/>
          </a:bodyPr>
          <a:lstStyle/>
          <a:p>
            <a:pPr algn="ctr">
              <a:spcAft>
                <a:spcPts val="500"/>
              </a:spcAft>
              <a:defRPr sz="1700" b="1">
                <a:solidFill>
                  <a:srgbClr val="285180"/>
                </a:solidFill>
                <a:latin typeface="Arial"/>
              </a:defRPr>
            </a:pPr>
            <a:r>
              <a:t>Receptor–TF links</a:t>
            </a:r>
          </a:p>
        </p:txBody>
      </p:sp>
      <p:sp>
        <p:nvSpPr>
          <p:cNvPr id="8" name="TextBox 7"/>
          <p:cNvSpPr txBox="1"/>
          <p:nvPr/>
        </p:nvSpPr>
        <p:spPr>
          <a:xfrm>
            <a:off x="502920" y="6647688"/>
            <a:ext cx="11183112" cy="164592"/>
          </a:xfrm>
          <a:prstGeom prst="rect">
            <a:avLst/>
          </a:prstGeom>
          <a:noFill/>
        </p:spPr>
        <p:txBody>
          <a:bodyPr wrap="square" lIns="0" rIns="0" tIns="0" bIns="0">
            <a:spAutoFit/>
          </a:bodyPr>
          <a:lstStyle/>
          <a:p>
            <a:pPr>
              <a:spcAft>
                <a:spcPts val="500"/>
              </a:spcAft>
              <a:defRPr sz="850" b="0">
                <a:solidFill>
                  <a:srgbClr val="536575"/>
                </a:solidFill>
                <a:latin typeface="Arial"/>
              </a:defRPr>
            </a:pPr>
            <a:r>
              <a:t>Wang, Dong, Song et al. Nature Cardiovascular Research (2026)  |  Fig. 2d; Fig. 3e; Methods</a:t>
            </a:r>
          </a:p>
        </p:txBody>
      </p:sp>
    </p:spTree>
  </p:cSld>
  <p:clrMapOvr>
    <a:masterClrMapping/>
  </p:clrMapOvr>
</p:sld>
</file>

<file path=ppt/theme/theme1.xml><?xml version="1.0" encoding="utf-8"?>
<a:theme xmlns:a="http://schemas.openxmlformats.org/drawingml/2006/main" name="Default Design">
  <a:themeElements>
    <a:clrScheme name="Default Design 13">
      <a:dk1>
        <a:srgbClr val="414141"/>
      </a:dk1>
      <a:lt1>
        <a:srgbClr val="FFFFFF"/>
      </a:lt1>
      <a:dk2>
        <a:srgbClr val="284B90"/>
      </a:dk2>
      <a:lt2>
        <a:srgbClr val="909090"/>
      </a:lt2>
      <a:accent1>
        <a:srgbClr val="BBE0E3"/>
      </a:accent1>
      <a:accent2>
        <a:srgbClr val="335FB7"/>
      </a:accent2>
      <a:accent3>
        <a:srgbClr val="FFFFFF"/>
      </a:accent3>
      <a:accent4>
        <a:srgbClr val="363636"/>
      </a:accent4>
      <a:accent5>
        <a:srgbClr val="DAEDEF"/>
      </a:accent5>
      <a:accent6>
        <a:srgbClr val="2D55A6"/>
      </a:accent6>
      <a:hlink>
        <a:srgbClr val="99CC00"/>
      </a:hlink>
      <a:folHlink>
        <a:srgbClr val="E9E08B"/>
      </a:folHlink>
    </a:clrScheme>
    <a:fontScheme name="Default Design">
      <a:majorFont>
        <a:latin typeface="Arial"/>
        <a:ea typeface=""/>
        <a:cs typeface="Arial"/>
      </a:majorFont>
      <a:minorFont>
        <a:latin typeface="Arial"/>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Default Design 13">
        <a:dk1>
          <a:srgbClr val="414141"/>
        </a:dk1>
        <a:lt1>
          <a:srgbClr val="FFFFFF"/>
        </a:lt1>
        <a:dk2>
          <a:srgbClr val="284B90"/>
        </a:dk2>
        <a:lt2>
          <a:srgbClr val="909090"/>
        </a:lt2>
        <a:accent1>
          <a:srgbClr val="BBE0E3"/>
        </a:accent1>
        <a:accent2>
          <a:srgbClr val="335FB7"/>
        </a:accent2>
        <a:accent3>
          <a:srgbClr val="FFFFFF"/>
        </a:accent3>
        <a:accent4>
          <a:srgbClr val="363636"/>
        </a:accent4>
        <a:accent5>
          <a:srgbClr val="DAEDEF"/>
        </a:accent5>
        <a:accent6>
          <a:srgbClr val="2D55A6"/>
        </a:accent6>
        <a:hlink>
          <a:srgbClr val="99CC00"/>
        </a:hlink>
        <a:folHlink>
          <a:srgbClr val="E9E08B"/>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Custom Design">
  <a:themeElements>
    <a:clrScheme name="Custom Design 13">
      <a:dk1>
        <a:srgbClr val="414141"/>
      </a:dk1>
      <a:lt1>
        <a:srgbClr val="FFFFFF"/>
      </a:lt1>
      <a:dk2>
        <a:srgbClr val="284B90"/>
      </a:dk2>
      <a:lt2>
        <a:srgbClr val="909090"/>
      </a:lt2>
      <a:accent1>
        <a:srgbClr val="BBE0E3"/>
      </a:accent1>
      <a:accent2>
        <a:srgbClr val="335FB7"/>
      </a:accent2>
      <a:accent3>
        <a:srgbClr val="FFFFFF"/>
      </a:accent3>
      <a:accent4>
        <a:srgbClr val="363636"/>
      </a:accent4>
      <a:accent5>
        <a:srgbClr val="DAEDEF"/>
      </a:accent5>
      <a:accent6>
        <a:srgbClr val="2D55A6"/>
      </a:accent6>
      <a:hlink>
        <a:srgbClr val="99CC00"/>
      </a:hlink>
      <a:folHlink>
        <a:srgbClr val="E9E08B"/>
      </a:folHlink>
    </a:clrScheme>
    <a:fontScheme name="Custom Design">
      <a:majorFont>
        <a:latin typeface="Arial"/>
        <a:ea typeface=""/>
        <a:cs typeface="Arial"/>
      </a:majorFont>
      <a:minorFont>
        <a:latin typeface="Arial"/>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Custom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Custom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Custom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Custom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Custom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Custom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Custom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Custom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Custom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Custom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Custom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Custom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Custom Design 13">
        <a:dk1>
          <a:srgbClr val="414141"/>
        </a:dk1>
        <a:lt1>
          <a:srgbClr val="FFFFFF"/>
        </a:lt1>
        <a:dk2>
          <a:srgbClr val="284B90"/>
        </a:dk2>
        <a:lt2>
          <a:srgbClr val="909090"/>
        </a:lt2>
        <a:accent1>
          <a:srgbClr val="BBE0E3"/>
        </a:accent1>
        <a:accent2>
          <a:srgbClr val="335FB7"/>
        </a:accent2>
        <a:accent3>
          <a:srgbClr val="FFFFFF"/>
        </a:accent3>
        <a:accent4>
          <a:srgbClr val="363636"/>
        </a:accent4>
        <a:accent5>
          <a:srgbClr val="DAEDEF"/>
        </a:accent5>
        <a:accent6>
          <a:srgbClr val="2D55A6"/>
        </a:accent6>
        <a:hlink>
          <a:srgbClr val="99CC00"/>
        </a:hlink>
        <a:folHlink>
          <a:srgbClr val="E9E08B"/>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34417</TotalTime>
  <Words>1575</Words>
  <Application>Microsoft Office PowerPoint</Application>
  <PresentationFormat>Widescreen</PresentationFormat>
  <Paragraphs>129</Paragraphs>
  <Slides>16</Slides>
  <Notes>16</Notes>
  <HiddenSlides>0</HiddenSlides>
  <MMClips>1</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16</vt:i4>
      </vt:variant>
    </vt:vector>
  </HeadingPairs>
  <TitlesOfParts>
    <vt:vector size="21" baseType="lpstr">
      <vt:lpstr>Arial</vt:lpstr>
      <vt:lpstr>Calibri</vt:lpstr>
      <vt:lpstr>Times New Roman</vt:lpstr>
      <vt:lpstr>Default Design</vt:lpstr>
      <vt:lpstr>Custom Design</vt:lpstr>
      <vt:lpstr>PowerPoint Presentation</vt:lpstr>
      <vt:lpstr>Cardiac Maturation Is a Multidimensional Process</vt:lpstr>
      <vt:lpstr>Temporal and Spatial Atlas of the Postnatal Heart</vt:lpstr>
      <vt:lpstr>PowerPoint Presentation</vt:lpstr>
      <vt:lpstr>PowerPoint Presentation</vt:lpstr>
      <vt:lpstr>Spatial Cell-Cell Communication in the Postnatal Heart</vt:lpstr>
      <vt:lpstr>Candidate Extrinsic Regulators of CM Maturation</vt:lpstr>
      <vt:lpstr>Temporal Regulation of CM Maturation</vt:lpstr>
      <vt:lpstr>Candidate Intrinsic Regulator of CM Maturation</vt:lpstr>
      <vt:lpstr>Candidate Regulators of CM Maturation</vt:lpstr>
      <vt:lpstr>CRISPR/Cas9-mediated Single-Cell Perturb-Seq</vt:lpstr>
      <vt:lpstr>In Vivo Probe-based Indel-detectable Perturb-Seq (PIP-Seq)</vt:lpstr>
      <vt:lpstr>Functional Genomics of CM Maturation Using PIP-Seq</vt:lpstr>
      <vt:lpstr>PIP-Seq Identifies Novel Regulators of CM Maturation </vt:lpstr>
      <vt:lpstr>Summary II: Regulation of Postnatal Cardiac Maturation</vt:lpstr>
      <vt:lpstr>PowerPoint Presentation</vt:lpstr>
    </vt:vector>
  </TitlesOfParts>
  <Company>UNC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Decoding Postnatal Heart Maturation: From a Spatial Atlas to In Vivo Functional Genomics</dc:title>
  <dc:creator>Jiandong Liu</dc:creator>
  <cp:lastModifiedBy>Jiandong Liu</cp:lastModifiedBy>
  <cp:revision>1152</cp:revision>
  <cp:lastPrinted>2017-04-01T23:50:09Z</cp:lastPrinted>
  <dcterms:created xsi:type="dcterms:W3CDTF">2005-07-06T13:35:28Z</dcterms:created>
  <dcterms:modified xsi:type="dcterms:W3CDTF">2026-10-30T00:23:51Z</dcterms:modified>
  <dc:subject>Revised original presentation based on the published heart-atlas study</dc:subject>
</cp:coreProperties>
</file>