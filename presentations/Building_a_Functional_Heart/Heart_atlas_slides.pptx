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MAIN TALK | Suggested 25 seconds</a:t>
            </a:r>
          </a:p>
          <a:p/>
          <a:p>
            <a:r>
              <a:t>SPEAKER SCRIPT</a:t>
            </a:r>
          </a:p>
          <a:p>
            <a:r>
              <a:t>Today I want to ask how a growing heart becomes a functional heart. Making more cardiomyocytes is an important part of cardiac repair, but those cells must also acquire the structure, metabolism and electrical properties needed to contribute to pumping. Our work approaches that problem at two scales. First, we map where different cardiac cells and maturation states occur during postnatal development. Second, we test candidate regulators directly in the intact heart. The central idea is that cardiomyocyte maturation should be understood within the tissue being built around it.</a:t>
            </a:r>
          </a:p>
          <a:p/>
          <a:p>
            <a:r>
              <a:t>EVIDENCE / SOURCE</a:t>
            </a:r>
          </a:p>
          <a:p>
            <a:r>
              <a:t>Original author affiliation; revised narrative</a:t>
            </a:r>
          </a:p>
          <a:p/>
          <a:p>
            <a:r>
              <a:t>INTERPRETATION BOUNDARY</a:t>
            </a:r>
          </a:p>
          <a:p>
            <a:r>
              <a:t>Use the stated evidence category; no additional causal or functional claim is implied.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MAIN TALK | Suggested 60 seconds</a:t>
            </a:r>
          </a:p>
          <a:p/>
          <a:p>
            <a:r>
              <a:t>SPEAKER SCRIPT</a:t>
            </a:r>
          </a:p>
          <a:p>
            <a:r>
              <a:t>Regeneration raises two connected problems: producing or preserving cardiomyocytes, and making those cells function as part of the heart. A new cardiomyocyte needs more than a favorable transcriptional identity. It needs organized contractile structures, appropriate electrical behavior, adequate energy supply and integration with the surrounding tissue. These goals can overlap in time. Growth and maturation are not opposite ends of a single scale. This is why normal postnatal development is useful: it shows us how muscle growth, vascular development and matrix remodeling are coordinated as the heart takes on increasing work.</a:t>
            </a:r>
          </a:p>
          <a:p/>
          <a:p>
            <a:r>
              <a:t>EVIDENCE / SOURCE</a:t>
            </a:r>
          </a:p>
          <a:p>
            <a:r>
              <a:t>Tzahor &amp; Poss, Science 356, 1035–1039 (2017); Guo &amp; Pu, Circ Res 126, 1086–1106 (2020)</a:t>
            </a:r>
          </a:p>
          <a:p/>
          <a:p>
            <a:r>
              <a:t>INTERPRETATION BOUNDARY</a:t>
            </a:r>
          </a:p>
          <a:p>
            <a:r>
              <a:t>Use the stated evidence category; no additional causal or functional claim is implied.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MAIN TALK | Suggested 65 seconds</a:t>
            </a:r>
          </a:p>
          <a:p/>
          <a:p>
            <a:r>
              <a:t>SPEAKER SCRIPT</a:t>
            </a:r>
          </a:p>
          <a:p>
            <a:r>
              <a:t>I will use maturation to describe several related but distinct processes. Cardiomyocytes enlarge and organize their sarcomeres. Their electrical and calcium-handling machinery changes. Their metabolic capacity adapts to sustained contraction. Cell-cycle behavior also changes, but cell-cycle withdrawal alone does not establish mature function. A cell can retain some cycling-associated RNA while expressing metabolic or contractile programs. We therefore need to distinguish a transcriptional score, which is useful for mapping tissue, from direct functional measurements. That distinction becomes important when we move from the atlas to genetic perturbation.</a:t>
            </a:r>
          </a:p>
          <a:p/>
          <a:p>
            <a:r>
              <a:t>EVIDENCE / SOURCE</a:t>
            </a:r>
          </a:p>
          <a:p>
            <a:r>
              <a:t>Guo &amp; Pu, Circ Res 126, 1086–1106 (2020); original supplied slide 2</a:t>
            </a:r>
          </a:p>
          <a:p/>
          <a:p>
            <a:r>
              <a:t>INTERPRETATION BOUNDARY</a:t>
            </a:r>
          </a:p>
          <a:p>
            <a:r>
              <a:t>Use the stated evidence category; no additional causal or functional claim is implied.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MAIN TALK | Suggested 55 seconds</a:t>
            </a:r>
          </a:p>
          <a:p/>
          <a:p>
            <a:r>
              <a:t>SPEAKER SCRIPT</a:t>
            </a:r>
          </a:p>
          <a:p>
            <a:r>
              <a:t>Our earlier work on the epigenetic regulator CARM1 established one intrinsic route into cardiomyocyte maturation. That leads to a broader question: how does a cardiomyocyte coordinate its internal program with its changing environment? During the same period, vessels expand, the myocardial wall remodels, and fibroblasts change the matrix they express. Mechanical demand, endocrine signals and nutrition also change. A complete model has to connect these influences rather than assign the entire process to one gene or one neighboring cell type. The atlas gives us a way to identify where these processes meet.</a:t>
            </a:r>
          </a:p>
          <a:p/>
          <a:p>
            <a:r>
              <a:t>EVIDENCE / SOURCE</a:t>
            </a:r>
          </a:p>
          <a:p>
            <a:r>
              <a:t>Guo &amp; Pu (2020); Garbutt et al., Circulation (2024), as cited in original deck; Lu et al. Nature Cell Biology 23, 967–977 (2021); doi:10.1038/s41556-021-00747-1</a:t>
            </a:r>
          </a:p>
          <a:p/>
          <a:p>
            <a:r>
              <a:t>INTERPRETATION BOUNDARY</a:t>
            </a:r>
          </a:p>
          <a:p>
            <a:r>
              <a:t>The CARM1 citation is retained from the author’s original presentation; no new CARM1 experiment is introduced.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MAIN TALK | Suggested 40 seconds</a:t>
            </a:r>
          </a:p>
          <a:p/>
          <a:p>
            <a:r>
              <a:t>SPEAKER SCRIPT</a:t>
            </a:r>
          </a:p>
          <a:p>
            <a:r>
              <a:t>The story has three parts. First, we build a spatial and temporal atlas to identify the cells and states present in the postnatal heart. Second, we ask how cardiomyocyte transcriptional maturation relates to vascular and fibroblast neighborhoods. These observations nominate hypotheses, but they do not establish a local mechanism. Third, we use an in vivo functional-genomics platform to test candidate regulators, then follow one candidate into structural, cellular and heart-level phenotypes. This sequence lets us move from where a process occurs toward which genes are required for it.</a:t>
            </a:r>
          </a:p>
          <a:p/>
          <a:p>
            <a:r>
              <a:t>EVIDENCE / SOURCE</a:t>
            </a:r>
          </a:p>
          <a:p>
            <a:r>
              <a:t>Wang, Dong, Song et al. Nature Cardiovascular Research (2026); doi:10.1038/s44161-026-00861-z</a:t>
            </a:r>
          </a:p>
          <a:p/>
          <a:p>
            <a:r>
              <a:t>INTERPRETATION BOUNDARY</a:t>
            </a:r>
          </a:p>
          <a:p>
            <a:r>
              <a:t>Use the stated evidence category; no additional causal or functional claim is implied.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MAIN TALK | Suggested 70 seconds</a:t>
            </a:r>
          </a:p>
          <a:p/>
          <a:p>
            <a:r>
              <a:t>SPEAKER SCRIPT</a:t>
            </a:r>
          </a:p>
          <a:p>
            <a:r>
              <a:t>The atlas covers P0, P7, P14 and P21. Single-nucleus RNA sequencing provides broad transcriptomic coverage, with two libraries from two animals at each age in the reviewed reference. Xenium supplies a spatial section at each age and directly measures 403 gene targets. We use the RNA reference to support cell identities and broader program interpretation, and the measured spatial counts to examine local relationships. These data give complementary views of development. They do not provide repeated spatial hearts at each stage, which limits how strongly we can generalize a section-level association.</a:t>
            </a:r>
          </a:p>
          <a:p/>
          <a:p>
            <a:r>
              <a:t>EVIDENCE / SOURCE</a:t>
            </a:r>
          </a:p>
          <a:p>
            <a:r>
              <a:t>Wang, Dong, Song et al. Nature Cardiovascular Research (2026); doi:10.1038/s44161-026-00861-z; GSE290989; Zenodo 14961929/14961942</a:t>
            </a:r>
          </a:p>
          <a:p/>
          <a:p>
            <a:r>
              <a:t>INTERPRETATION BOUNDARY</a:t>
            </a:r>
          </a:p>
          <a:p>
            <a:r>
              <a:t>One observed Xenium section per stage; cells are not independent hearts.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MAIN TALK | Suggested 45 seconds</a:t>
            </a:r>
          </a:p>
          <a:p/>
          <a:p>
            <a:r>
              <a:t>SPEAKER SCRIPT</a:t>
            </a:r>
          </a:p>
          <a:p>
            <a:r>
              <a:t>There are two kinds of information on these maps. Xenium directly measures the targets on its panel. Reference alignment, including CytoSPACE in the original study, adds RNA-supported identities or inferred transcriptomic information. Those should not be treated as equivalent measurements. For the spatial maturation question, we deliberately use the 21 maturation genes measured in Xenium. We do not project missing maturation genes from the nuclear reference. The reference identifies neighboring populations, while the measured spatial panel supplies the cardiomyocyte outcome. This separation makes the biological question easier to interpret.</a:t>
            </a:r>
          </a:p>
          <a:p/>
          <a:p>
            <a:r>
              <a:t>EVIDENCE / SOURCE</a:t>
            </a:r>
          </a:p>
          <a:p>
            <a:r>
              <a:t>Wang, Dong, Song et al. Nature Cardiovascular Research (2026); doi:10.1038/s44161-026-00861-z; current reanalysis methods</a:t>
            </a:r>
          </a:p>
          <a:p/>
          <a:p>
            <a:r>
              <a:t>INTERPRETATION BOUNDARY</a:t>
            </a:r>
          </a:p>
          <a:p>
            <a:r>
              <a:t>PIP-seq later uses broader transcriptional phenotype modules; those are separate readouts from the Xenium 21-gene score.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MAIN TALK | Suggested 60 seconds</a:t>
            </a:r>
          </a:p>
          <a:p/>
          <a:p>
            <a:r>
              <a:t>SPEAKER SCRIPT</a:t>
            </a:r>
          </a:p>
          <a:p>
            <a:r>
              <a:t>The first observation is that the heart is organized at more than one level. Cardiomyocytes, endothelial cells, fibroblasts, mural cells, immune cells and epicardial cells occupy different territories and form recurring local combinations. These combinations reflect anatomy and development, not simply a random mixture of cell types. This gives us a tissue framework for asking about maturation. It also creates an important alternative explanation: if both capillaries and higher-scoring cardiomyocytes concentrate in the same anatomical region, their association may be regional rather than a direct local signaling effect.</a:t>
            </a:r>
          </a:p>
          <a:p/>
          <a:p>
            <a:r>
              <a:t>EVIDENCE / SOURCE</a:t>
            </a:r>
          </a:p>
          <a:p>
            <a:r>
              <a:t>Wang, Dong, Song et al. Nature Cardiovascular Research (2026); doi:10.1038/s44161-026-00861-z; supplied presentation slide 4</a:t>
            </a:r>
          </a:p>
          <a:p/>
          <a:p>
            <a:r>
              <a:t>INTERPRETATION BOUNDARY</a:t>
            </a:r>
          </a:p>
          <a:p>
            <a:r>
              <a:t>The published fine niche partition is descriptive. Earlier seed checks supported broader contexts more strongly than every fine boundary; organized tissue does not imply that all fine partitions are stable.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MAIN TALK | Suggested 55 seconds</a:t>
            </a:r>
          </a:p>
          <a:p/>
          <a:p>
            <a:r>
              <a:t>SPEAKER SCRIPT</a:t>
            </a:r>
          </a:p>
          <a:p>
            <a:r>
              <a:t>Broad lineage labels are a starting point, but they conceal important differences. Endothelial cells include capillary-like, arterial-like, venous-like, endocardial-like and lymphatic-like populations where there is sufficient evidence. Fibroblasts include developmental Postn-associated and later Gfpt2/Pi16-, Col8a1- and other matrix-associated families. Ventricular cardiomyocytes also include different states, including Ankrd1-associated cells. These are not all different positions on a single maturation scale. Keeping identity separate from maturation lets us ask whether the same local environment relates differently to different kinds of cardiomyocytes.</a:t>
            </a:r>
          </a:p>
          <a:p/>
          <a:p>
            <a:r>
              <a:t>EVIDENCE / SOURCE</a:t>
            </a:r>
          </a:p>
          <a:p>
            <a:r>
              <a:t>Wang, Dong, Song et al. Nature Cardiovascular Research (2026); doi:10.1038/s44161-026-00861-z; reviewed subtype catalogs</a:t>
            </a:r>
          </a:p>
          <a:p/>
          <a:p>
            <a:r>
              <a:t>INTERPRETATION BOUNDARY</a:t>
            </a:r>
          </a:p>
          <a:p>
            <a:r>
              <a:t>Marker-based and RNA-transfer labels remain provisional; an anatomical identity is not established by one marker.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MAIN TALK | Suggested 70 seconds</a:t>
            </a:r>
          </a:p>
          <a:p/>
          <a:p>
            <a:r>
              <a:t>SPEAKER SCRIPT</a:t>
            </a:r>
          </a:p>
          <a:p>
            <a:r>
              <a:t>We next map the same 21 measured maturation genes across the four sections. The maps show an age-related shift in the index, but they also show considerable variation among cells within each age. The color scale is shared across sections. The positive maturation module contains only the published 21 targets, with other measured genes used for normalization and matched background controls. This is a paper-style score reconstruction; the authors’ exact control set and original spatial graph are unavailable. We retain all 131,605 previously QC-eligible ventricular cardiomyocyte profiles rather than restricting the map to selected anatomical patches.</a:t>
            </a:r>
          </a:p>
          <a:p/>
          <a:p>
            <a:r>
              <a:t>EVIDENCE / SOURCE</a:t>
            </a:r>
          </a:p>
          <a:p>
            <a:r>
              <a:t>Exploratory follow-up: CM21_paperstyle_extension, frozen commit 1179f3cfb4af34fdfeeba4e2fee2ca765bbe8c6e; measured_21gene_panel.tsv; stage_score_summaries.tsv</a:t>
            </a:r>
          </a:p>
          <a:p/>
          <a:p>
            <a:r>
              <a:t>INTERPRETATION BOUNDARY</a:t>
            </a:r>
          </a:p>
          <a:p>
            <a:r>
              <a:t>A transcriptional index does not directly measure force, perfusion, mitochondrial performance or completed maturation.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MAIN TALK | Suggested 60 seconds</a:t>
            </a:r>
          </a:p>
          <a:p/>
          <a:p>
            <a:r>
              <a:t>SPEAKER SCRIPT</a:t>
            </a:r>
          </a:p>
          <a:p>
            <a:r>
              <a:t>The P7 section makes the within-age variation easier to see. Blue and orange mark lower- and higher-score quartiles within this stage. These are relative groups in the same tissue, not a claim that a higher-scoring P7 cell is fully mature. The next question is what surrounds these cells. Do higher-scoring cells lie closer to capillaries? Does the identity of nearby fibroblasts matter? We also retain CMs without a visible nuclear profile, because a section through a large cardiomyocyte can legitimately miss its nucleus. We do not equate a missing nuclear area with an invalid cell.</a:t>
            </a:r>
          </a:p>
          <a:p/>
          <a:p>
            <a:r>
              <a:t>EVIDENCE / SOURCE</a:t>
            </a:r>
          </a:p>
          <a:p>
            <a:r>
              <a:t>Exploratory follow-up: CM21_paperstyle_extension, frozen commit 1179f3cfb4af34fdfeeba4e2fee2ca765bbe8c6e; P7_CM21_extension_values.tsv.gz</a:t>
            </a:r>
          </a:p>
          <a:p/>
          <a:p>
            <a:r>
              <a:t>INTERPRETATION BOUNDARY</a:t>
            </a:r>
          </a:p>
          <a:p>
            <a:r>
              <a:t>Use the stated evidence category; no additional causal or functional claim is implied.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MAIN TALK | Suggested 45 seconds</a:t>
            </a:r>
          </a:p>
          <a:p/>
          <a:p>
            <a:r>
              <a:t>SPEAKER SCRIPT</a:t>
            </a:r>
          </a:p>
          <a:p>
            <a:r>
              <a:t>Before interpreting the map biologically, we challenged the score. Removing any one of the 21 genes leaves the cell rankings strongly similar to the full-panel result. Changing matched background controls also has little effect. This argues against one highly influential naming gene or a favorable random control draw driving the map. That does not make every individual cell assignment certain. Whole-cell and boundary-supported transcript assignments give only moderate agreement in cell rankings, and source labels can affect the spatial association. We therefore distinguish score-component stability from segmentation and annotation uncertainty.</a:t>
            </a:r>
          </a:p>
          <a:p/>
          <a:p>
            <a:r>
              <a:t>EVIDENCE / SOURCE</a:t>
            </a:r>
          </a:p>
          <a:p>
            <a:r>
              <a:t>Exploratory follow-up: CM21_paperstyle_extension, frozen commit 1179f3cfb4af34fdfeeba4e2fee2ca765bbe8c6e; score_stability.tsv; source_label_sensitivity.tsv</a:t>
            </a:r>
          </a:p>
          <a:p/>
          <a:p>
            <a:r>
              <a:t>INTERPRETATION BOUNDARY</a:t>
            </a:r>
          </a:p>
          <a:p>
            <a:r>
              <a:t>Minimum one-gene-omission rank agreement ≈0.960; control-draw minimum ≈0.990. Whole-cell/core rank agreement ≈0.77–0.79.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MAIN TALK | Suggested 85 seconds</a:t>
            </a:r>
          </a:p>
          <a:p/>
          <a:p>
            <a:r>
              <a:t>SPEAKER SCRIPT</a:t>
            </a:r>
          </a:p>
          <a:p>
            <a:r>
              <a:t>The perinatal vascular study provides a physical context for these maps. Lu and colleagues showed that the pre-existing coronary plexus expands into the developing inner myocardium, beginning before birth around E18.5. Growth is regionally concentrated and associated with endothelial proliferation and local hypoxia. By P7, inner-wall vessel density approaches that in the outer wall. Their lineage experiments distinguish this late expansion from de novo production by the late-fetal or neonatal ventricular endocardium. The biological point for us is that a cardiomyocyte’s vascular surroundings are changing as the myocardial wall thickens and remodels.</a:t>
            </a:r>
          </a:p>
          <a:p/>
          <a:p>
            <a:r>
              <a:t>EVIDENCE / SOURCE</a:t>
            </a:r>
          </a:p>
          <a:p>
            <a:r>
              <a:t>Lu et al. Nature Cell Biology 23, 967–977 (2021); doi:10.1038/s41556-021-00747-1; Figure 3 and Results</a:t>
            </a:r>
          </a:p>
          <a:p/>
          <a:p>
            <a:r>
              <a:t>INTERPRETATION BOUNDARY</a:t>
            </a:r>
          </a:p>
          <a:p>
            <a:r>
              <a:t>This study supplies context, not an oxygen measurement in our Xenium sections; the source is the late pre-existing coronary plexus, not a claim about all embryonic coronary origins.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MAIN TALK | Suggested 50 seconds</a:t>
            </a:r>
          </a:p>
          <a:p/>
          <a:p>
            <a:r>
              <a:t>SPEAKER SCRIPT</a:t>
            </a:r>
          </a:p>
          <a:p>
            <a:r>
              <a:t>It would be too simple to imagine an early phase of vessel growth followed by a completely separate phase of cardiomyocyte maturation. A growing network can support increasingly active and enlarging muscle while some endothelial cells remain proliferative. The important developmental changes may include network coverage, vessel connectivity, mural association and the proximity of capillaries to cardiomyocytes. More endothelial proliferation is not automatically better perfusion, and fewer cycling cells do not mean that vascular adaptation is complete. This is why we measure the local arrangement of capillary profiles rather than use an endothelial cycling label as a surrogate for oxygen delivery.</a:t>
            </a:r>
          </a:p>
          <a:p/>
          <a:p>
            <a:r>
              <a:t>EVIDENCE / SOURCE</a:t>
            </a:r>
          </a:p>
          <a:p>
            <a:r>
              <a:t>Lu et al. Nature Cell Biology 23, 967–977 (2021); doi:10.1038/s41556-021-00747-1; Wang, Dong, Song et al. Nature Cardiovascular Research (2026); doi:10.1038/s44161-026-00861-z</a:t>
            </a:r>
          </a:p>
          <a:p/>
          <a:p>
            <a:r>
              <a:t>INTERPRETATION BOUNDARY</a:t>
            </a:r>
          </a:p>
          <a:p>
            <a:r>
              <a:t>The interval diagram is a schematic interpretation, not newly observed P3/P5/P10 data or a measured developmental trajectory.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MAIN TALK | Suggested 85 seconds</a:t>
            </a:r>
          </a:p>
          <a:p/>
          <a:p>
            <a:r>
              <a:t>SPEAKER SCRIPT</a:t>
            </a:r>
          </a:p>
          <a:p>
            <a:r>
              <a:t>Using the paper-style 21-gene score, the higher-score P7 quartile lies closer to capillary endothelial profiles than the lower-score quartile: mean distances are 42.4 and 48.7 micrometers. The continuous-score analysis also gives a small positive relationship after local and technical adjustment. This is stronger than relying on a correlation between neighborhood-bin averages because we also inspect the relationship at the individual-CM level. It remains an association in one observed section. The result does not by itself tell us whether capillaries instruct maturation, respond to cardiomyocyte demand, or share a regional developmental environment.</a:t>
            </a:r>
          </a:p>
          <a:p/>
          <a:p>
            <a:r>
              <a:t>EVIDENCE / SOURCE</a:t>
            </a:r>
          </a:p>
          <a:p>
            <a:r>
              <a:t>Exploratory follow-up: CM21_paperstyle_extension, frozen commit 1179f3cfb4af34fdfeeba4e2fee2ca765bbe8c6e; raw_vascular_comparisons.tsv; primary_vascular_results.tsv</a:t>
            </a:r>
          </a:p>
          <a:p/>
          <a:p>
            <a:r>
              <a:t>INTERPRETATION BOUNDARY</a:t>
            </a:r>
          </a:p>
          <a:p>
            <a:r>
              <a:t>Adjusted beta≈+0.0246 SD, vascular-family q=0.0012. Paper-style scoring differs from the earlier gene-Z score and from the unavailable exact author score.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MAIN TALK | Suggested 70 seconds</a:t>
            </a:r>
          </a:p>
          <a:p/>
          <a:p>
            <a:r>
              <a:t>SPEAKER SCRIPT</a:t>
            </a:r>
          </a:p>
          <a:p>
            <a:r>
              <a:t>We asked the same question using three spatial measurements: nearest-capillary distance, the number of capillary profiles within 50 micrometers, and the fraction of the segmented CM boundary close to capillary profiles. At P7, all three associations pass the same vascular-test correction. At P14, nearness and boundary apposition pass, while the count comparison does not. The count association also weakens when total nearby cell number is included. This suggests that arrangement may be more informative than abundance alone. However, the measurements are related descriptions of the same tissue, not three independent demonstrations of a mechanism.</a:t>
            </a:r>
          </a:p>
          <a:p/>
          <a:p>
            <a:r>
              <a:t>EVIDENCE / SOURCE</a:t>
            </a:r>
          </a:p>
          <a:p>
            <a:r>
              <a:t>Exploratory follow-up: CM21_paperstyle_extension, frozen commit 1179f3cfb4af34fdfeeba4e2fee2ca765bbe8c6e; primary_vascular_results.tsv; source_label_sensitivity.tsv</a:t>
            </a:r>
          </a:p>
          <a:p/>
          <a:p>
            <a:r>
              <a:t>INTERPRETATION BOUNDARY</a:t>
            </a:r>
          </a:p>
          <a:p>
            <a:r>
              <a:t>Boundary apposition uses a 2-µm threshold and native polygons; it is not validated membrane contact. Strict source labels attenuate P7; P14 is more source-definition-sensitive.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MAIN TALK | Suggested 60 seconds</a:t>
            </a:r>
          </a:p>
          <a:p/>
          <a:p>
            <a:r>
              <a:t>SPEAKER SCRIPT</a:t>
            </a:r>
          </a:p>
          <a:p>
            <a:r>
              <a:t>A regional explanation is the main baseline we need to take seriously. We therefore compare CMs at the same age, within nearby tissue regions and the same available CM subtype, while accounting for RNA capture, cell size and missing nuclear area. These comparisons retain a positive P7 relationship under several local grid choices. We also use tissue-screened graph paths and boundary distances. These checks strengthen the description, but they do not recreate the authors’ exact anatomical masks or establish matched compact, trabecular, papillary and chamber identities. Independent morphology and independent hearts remain important next steps.</a:t>
            </a:r>
          </a:p>
          <a:p/>
          <a:p>
            <a:r>
              <a:t>EVIDENCE / SOURCE</a:t>
            </a:r>
          </a:p>
          <a:p>
            <a:r>
              <a:t>Exploratory follow-up: CM21_paperstyle_extension, frozen commit 1179f3cfb4af34fdfeeba4e2fee2ca765bbe8c6e; analysis_settings.json; spatial_models.tsv</a:t>
            </a:r>
          </a:p>
          <a:p/>
          <a:p>
            <a:r>
              <a:t>INTERPRETATION BOUNDARY</a:t>
            </a:r>
          </a:p>
          <a:p>
            <a:r>
              <a:t>Existing candidate anatomy is a sensitivity, not expert-validated LV/RV or compact/trabecular ground truth. Statistical uncertainty is within-section.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MAIN TALK | Suggested 70 seconds</a:t>
            </a:r>
          </a:p>
          <a:p/>
          <a:p>
            <a:r>
              <a:t>SPEAKER SCRIPT</a:t>
            </a:r>
          </a:p>
          <a:p>
            <a:r>
              <a:t>Fibroblasts are also changing during the interval in which CMs mature. In the reviewed RNA reference, early populations are dominated by Postn-associated developmental programs. Later ages contain more distinct Gfpt2/Pi16-, Col8a1- and Lsamp-associated families. These names summarize multi-gene profiles, not mandatory double-positive gates. The bars describe the captured, QC-retained reference nuclei; they are not unbiased tissue abundances or lineage tracing. Importantly, losing a Postn-family label at a later age does not prove that every Postn-expressing cell has disappeared. It may reflect changing expression and reference classification.</a:t>
            </a:r>
          </a:p>
          <a:p/>
          <a:p>
            <a:r>
              <a:t>EVIDENCE / SOURCE</a:t>
            </a:r>
          </a:p>
          <a:p>
            <a:r>
              <a:t>fibroblast_subtype_catalog/reviewed_family_nucleus_counts.tsv; Hortells et al. PNAS (2020); doi:10.1073/pnas.2009119117; PMID:32817558</a:t>
            </a:r>
          </a:p>
          <a:p/>
          <a:p>
            <a:r>
              <a:t>INTERPRETATION BOUNDARY</a:t>
            </a:r>
          </a:p>
          <a:p>
            <a:r>
              <a:t>Early Postn-cell interventions in Hortells implicate developmental support but do not isolate a direct FB→CM signal from matrix, nerve or other effects.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MAIN TALK | Suggested 65 seconds</a:t>
            </a:r>
          </a:p>
          <a:p/>
          <a:p>
            <a:r>
              <a:t>SPEAKER SCRIPT</a:t>
            </a:r>
          </a:p>
          <a:p>
            <a:r>
              <a:t>The later fibroblast families are not simply interchangeable collagen-producing cells. At P14, the Col8a1 family has relatively higher basement-membrane-associated RNA than Gfpt2/Pi16 fibroblasts, while the Gfpt2 family has relatively higher fibronectin- and elastic-fiber-associated programs. The points show the two RNA libraries, so we can see whether the directions agree between animals. These differences suggest distinct ways of organizing the local matrix. They do not establish the amount, stiffness or architecture of deposited extracellular matrix. Those are testable tissue properties, and they may matter for vascular organization and mechanical communication with CMs.</a:t>
            </a:r>
          </a:p>
          <a:p/>
          <a:p>
            <a:r>
              <a:t>EVIDENCE / SOURCE</a:t>
            </a:r>
          </a:p>
          <a:p>
            <a:r>
              <a:t>fibroblast_states/RNA_matrix_direct_family_pairs.tsv; P14 corrected comparisons</a:t>
            </a:r>
          </a:p>
          <a:p/>
          <a:p>
            <a:r>
              <a:t>INTERPRETATION BOUNDARY</a:t>
            </a:r>
          </a:p>
          <a:p>
            <a:r>
              <a:t>Relative RNA programs are not direct measurements of collagen deposition, hyaluronan synthesis, matrix elasticity or force transmission. P14 shown to avoid mixing earlier P21 group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MAIN TALK | Suggested 70 seconds</a:t>
            </a:r>
          </a:p>
          <a:p/>
          <a:p>
            <a:r>
              <a:t>SPEAKER SCRIPT</a:t>
            </a:r>
          </a:p>
          <a:p>
            <a:r>
              <a:t>The spatial maps suggest that these fibroblast programs are organized rather than uniformly mixed. They also show why finer labels matter: a broad fibroblast map hides differences among Col8a1-, Gfpt2/Pi16-, Lsamp- and other supported families. We keep unresolved profiles visible. Late Gfpt2 placement remains particularly uncertain, so sparse calls should not be interpreted as biological rarity. The sections are not anatomically registered across ages, and the myocardial wall is growing. A shift in position therefore cannot establish migration or a particular state transition. The reliable conclusion is spatially patterned specialization with incomplete fine assignment.</a:t>
            </a:r>
          </a:p>
          <a:p/>
          <a:p>
            <a:r>
              <a:t>EVIDENCE / SOURCE</a:t>
            </a:r>
          </a:p>
          <a:p>
            <a:r>
              <a:t>fibroblast_multimethod_identity/P14 and P21 recommended_candidate layers</a:t>
            </a:r>
          </a:p>
          <a:p/>
          <a:p>
            <a:r>
              <a:t>INTERPRETATION BOUNDARY</a:t>
            </a:r>
          </a:p>
          <a:p>
            <a:r>
              <a:t>No exclusive peri-arterial Col8a1, valve Kirrel3 or outflow-tract Lsamp identity is claimed. P21 Gfpt2 coverage remains incomplete.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MAIN TALK | Suggested 75 seconds</a:t>
            </a:r>
          </a:p>
          <a:p/>
          <a:p>
            <a:r>
              <a:t>SPEAKER SCRIPT</a:t>
            </a:r>
          </a:p>
          <a:p>
            <a:r>
              <a:t>When we keep the same 21-gene CM outcome but distinguish neighboring subtypes, different patterns emerge. Capillary EC nearness is positively associated at P7 and P14, whereas endocardial-like EC nearness is negatively associated in the paper-style whole-cell analysis. Lsamp-associated fibroblast nearness accompanies lower scores at P14 and P21, with a consistent direction across transcript-assignment and fibroblast-label layers. Col8a1 results are less stable between whole-cell and boundary-supported RNA. These differences are useful for generating more specific biological questions. They do not establish that one cell type promotes maturation and another inhibits it; regional anatomy and mechanics can contribute.</a:t>
            </a:r>
          </a:p>
          <a:p/>
          <a:p>
            <a:r>
              <a:t>EVIDENCE / SOURCE</a:t>
            </a:r>
          </a:p>
          <a:p>
            <a:r>
              <a:t>Exploratory follow-up: CM21_paperstyle_extension, frozen commit 1179f3cfb4af34fdfeeba4e2fee2ca765bbe8c6e; primary_nonCM_results.tsv; nonCM_score_and_segmentation_robustness.tsv</a:t>
            </a:r>
          </a:p>
          <a:p/>
          <a:p>
            <a:r>
              <a:t>INTERPRETATION BOUNDARY</a:t>
            </a:r>
          </a:p>
          <a:p>
            <a:r>
              <a:t>Source-screen q values are within-section. Do not infer functional inhibition or acceleration from a coefficient; subtype calls are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MAIN TALK | Suggested 50 seconds</a:t>
            </a:r>
          </a:p>
          <a:p/>
          <a:p>
            <a:r>
              <a:t>SPEAKER SCRIPT</a:t>
            </a:r>
          </a:p>
          <a:p>
            <a:r>
              <a:t>A natural next hypothesis is that the matrix environment changes how CMs relate to capillaries. We tested this directly by including capillary nearness, the local count of a fibroblast family, and their interaction in the same model. None of the twelve assessable interactions passes correction for multiple comparisons. This is an important boundary on the story: the data support some subtype-specific associations, but they do not yet establish a combined Postn-, Gfpt2/Pi16- or Col8a1-dependent vascular effect. We should use this result to design the next experiment rather than turn a plausible niche model into a positive finding.</a:t>
            </a:r>
          </a:p>
          <a:p/>
          <a:p>
            <a:r>
              <a:t>EVIDENCE / SOURCE</a:t>
            </a:r>
          </a:p>
          <a:p>
            <a:r>
              <a:t>Exploratory follow-up: CM21_paperstyle_extension, frozen commit 1179f3cfb4af34fdfeeba4e2fee2ca765bbe8c6e; primary_fibroblast_context_results.tsv</a:t>
            </a:r>
          </a:p>
          <a:p/>
          <a:p>
            <a:r>
              <a:t>INTERPRETATION BOUNDARY</a:t>
            </a:r>
          </a:p>
          <a:p>
            <a:r>
              <a:t>All unsuccessful interaction tests are retained. An inconclusive interaction does not prove biological independence.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MAIN TALK | Suggested 55 seconds</a:t>
            </a:r>
          </a:p>
          <a:p/>
          <a:p>
            <a:r>
              <a:t>SPEAKER SCRIPT</a:t>
            </a:r>
          </a:p>
          <a:p>
            <a:r>
              <a:t>The atlas becomes most useful when it narrows the next experiment. The heatmaps summarize inferred paracrine and juxtacrine activities across stages; the important point is that candidate signaling programs change with development. Spatial proximity identifies compatible neighborhoods, and ligand–receptor expression nominates possible communication routes. Regulatory-network inference suggests how a CM might respond. Each step contributes information, but all remain partly dependent on expression data. A predictive model or a high correlation is not a causal experiment. We next test whether a candidate is required, and ask which neighboring cell supplies the relevant signal. This connects the tissue map to functional genetics.</a:t>
            </a:r>
          </a:p>
          <a:p/>
          <a:p>
            <a:r>
              <a:t>EVIDENCE / SOURCE</a:t>
            </a:r>
          </a:p>
          <a:p>
            <a:r>
              <a:t>Wang, Dong, Song et al. Nature Cardiovascular Research (2026); doi:10.1038/s44161-026-00861-z; supplied slide 7; COMMOT, SCENIC and SigNET analyses</a:t>
            </a:r>
          </a:p>
          <a:p/>
          <a:p>
            <a:r>
              <a:t>INTERPRETATION BOUNDARY</a:t>
            </a:r>
          </a:p>
          <a:p>
            <a:r>
              <a:t>Random-cell predictive validation does not establish generalization to independent spatial regions or animals. COMMOT does not directly measure ligand transport or receptor activation.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MAIN TALK | Suggested 80 seconds</a:t>
            </a:r>
          </a:p>
          <a:p/>
          <a:p>
            <a:r>
              <a:t>SPEAKER SCRIPT</a:t>
            </a:r>
          </a:p>
          <a:p>
            <a:r>
              <a:t>One example is PTPRM, a contact-associated membrane protein. The paper nominates PTPRM-compatible interactions between capillary ECs and adjacent CMs, and detects protein at EC–CM interfaces. Perturbing Ptprm in the postnatal heart changes cell-cycle and maturation-associated RNA. MEIS1, a regulator of postnatal cell-cycle exit, is nominated as a downstream link. Together, these results support a functional role for the candidate. They do not establish the complete chain from a particular EC sender through a homophilic contact to MEIS1-dependent functional maturation. Cell-type-specific perturbation and a downstream rescue would make that model more precise.</a:t>
            </a:r>
          </a:p>
          <a:p/>
          <a:p>
            <a:r>
              <a:t>EVIDENCE / SOURCE</a:t>
            </a:r>
          </a:p>
          <a:p>
            <a:r>
              <a:t>Wang, Dong, Song et al. Nature Cardiovascular Research (2026); doi:10.1038/s44161-026-00861-z; Fig.4 and Extended Data Fig.7</a:t>
            </a:r>
          </a:p>
          <a:p/>
          <a:p>
            <a:r>
              <a:t>INTERPRETATION BOUNDARY</a:t>
            </a:r>
          </a:p>
          <a:p>
            <a:r>
              <a:t>The spatial association, protein localization and gene perturbation are different evidence layers. EC-specific necessity, CM–CM alternatives and MEIS1 mediation remain incompletely tested.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MAIN TALK | Suggested 60 seconds</a:t>
            </a:r>
          </a:p>
          <a:p/>
          <a:p>
            <a:r>
              <a:t>SPEAKER SCRIPT</a:t>
            </a:r>
          </a:p>
          <a:p>
            <a:r>
              <a:t>The spatial environment is only one side of the problem. We also used temporal RNA profiles and SCENIC to identify intrinsic transcriptional programs. Here, a regulon means a candidate transcription factor together with the genes predicted to respond to it. The study reports thirty-two CM-specific regulons, including seven with previous links to maturation and twenty-five not previously characterized in this context. The network is a candidate map, not a catalogue of experimentally confirmed binding events. It connects changing CM states to a manageable set of regulators. The next question is which of them actually changes maturation when perturbed in the postnatal heart.</a:t>
            </a:r>
          </a:p>
          <a:p/>
          <a:p>
            <a:r>
              <a:t>EVIDENCE / SOURCE</a:t>
            </a:r>
          </a:p>
          <a:p>
            <a:r>
              <a:t>Wang, Dong, Song et al. Nature Cardiovascular Research (2026); doi:10.1038/s44161-026-00861-z; Fig.5d; original supplied slide 9</a:t>
            </a:r>
          </a:p>
          <a:p/>
          <a:p>
            <a:r>
              <a:t>INTERPRETATION BOUNDARY</a:t>
            </a:r>
          </a:p>
          <a:p>
            <a:r>
              <a:t>SCENIC uses expression and motif evidence; inferred edges and regulon activity are not direct binding or necessity tests.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MAIN TALK | Suggested 40 seconds</a:t>
            </a:r>
          </a:p>
          <a:p/>
          <a:p>
            <a:r>
              <a:t>SPEAKER SCRIPT</a:t>
            </a:r>
          </a:p>
          <a:p>
            <a:r>
              <a:t>The atlas produced more candidates than could be tested one at a time efficiently. We therefore built a pooled strategy to connect a perturbation to a transcriptomic phenotype within the intact postnatal heart. The selected target set included intracellular regulators and genes associated with intercellular signaling. For genes perturbed in CMs, the screen tests their requirement in those cells within a native tissue context. It does not by itself establish which non-CM population supplied an upstream cue. This distinction lets us use the niche to prioritize candidates while keeping the experiment’s causal scope clear.</a:t>
            </a:r>
          </a:p>
          <a:p/>
          <a:p>
            <a:r>
              <a:t>EVIDENCE / SOURCE</a:t>
            </a:r>
          </a:p>
          <a:p>
            <a:r>
              <a:t>Wang, Dong, Song et al. Nature Cardiovascular Research (2026); doi:10.1038/s44161-026-00861-z; Fig.6; 37 intracellular and 13 intercellular candidate targets</a:t>
            </a:r>
          </a:p>
          <a:p/>
          <a:p>
            <a:r>
              <a:t>INTERPRETATION BOUNDARY</a:t>
            </a:r>
          </a:p>
          <a:p>
            <a:r>
              <a:t>Candidate selection is not proof of a niche-specific mechanism; pooled screening nominates targets for independent functional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MAIN TALK | Suggested 85 seconds</a:t>
            </a:r>
          </a:p>
          <a:p/>
          <a:p>
            <a:r>
              <a:t>SPEAKER SCRIPT</a:t>
            </a:r>
          </a:p>
          <a:p>
            <a:r>
              <a:t>Cardiomyocytes are large and difficult to recover reliably as intact single cells. PIP-seq works through nuclei while preserving an in vivo perturbation context. At P0, AAV9 delivers dual guides and CM-directed Cre to mice carrying Cas9 and a Cre-dependent nuclear-envelope GFP reporter. At P14, GFP-positive CM nuclei are enriched and profiled with a probe-based single-nucleus assay. Custom probes recover guide identity and provide evidence at the targeted transcript site. We can then connect candidate perturbations to changes in broader transcriptional programs. The native environment is retained during the perturbation, even though the final readout is performed on isolated nuclei.</a:t>
            </a:r>
          </a:p>
          <a:p/>
          <a:p>
            <a:r>
              <a:t>EVIDENCE / SOURCE</a:t>
            </a:r>
          </a:p>
          <a:p>
            <a:r>
              <a:t>Wang, Dong, Song et al. Nature Cardiovascular Research (2026); doi:10.1038/s44161-026-00861-z; Fig.6a–c; PIP-seq Methods</a:t>
            </a:r>
          </a:p>
          <a:p/>
          <a:p>
            <a:r>
              <a:t>INTERPRETATION BOUNDARY</a:t>
            </a:r>
          </a:p>
          <a:p>
            <a:r>
              <a:t>SUN1-GFP marks the targeted/infected CM-nuclear population; it is not itself proof of biallelic editing.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MAIN TALK | Suggested 75 seconds</a:t>
            </a:r>
          </a:p>
          <a:p/>
          <a:p>
            <a:r>
              <a:t>SPEAKER SCRIPT</a:t>
            </a:r>
          </a:p>
          <a:p>
            <a:r>
              <a:t>PIP-seq uses two complementary probe strategies. One captures the guide transcript so we can identify the perturbation associated with a nucleus. The other targets a wild-type transcript sequence across the expected editing region; an indel can reduce probe hybridization at that site. This provides additional target-site evidence beyond guide detection alone. It is still an RNA-based proxy. Reduced target-probe signal can also be influenced by transcript abundance and RNA stability, and guide assignment does not guarantee that every allele is edited. The platform improves screening, while independent target and phenotype validation remain essential.</a:t>
            </a:r>
          </a:p>
          <a:p/>
          <a:p>
            <a:r>
              <a:t>EVIDENCE / SOURCE</a:t>
            </a:r>
          </a:p>
          <a:p>
            <a:r>
              <a:t>Wang, Dong, Song et al. Nature Cardiovascular Research (2026); doi:10.1038/s44161-026-00861-z; Fig.6c; Supplementary Fig.24</a:t>
            </a:r>
          </a:p>
          <a:p/>
          <a:p>
            <a:r>
              <a:t>INTERPRETATION BOUNDARY</a:t>
            </a:r>
          </a:p>
          <a:p>
            <a:r>
              <a:t>Do not describe target-probe reduction as a measured whole-population biallelic knockout rate.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MAIN TALK | Suggested 65 seconds</a:t>
            </a:r>
          </a:p>
          <a:p/>
          <a:p>
            <a:r>
              <a:t>SPEAKER SCRIPT</a:t>
            </a:r>
          </a:p>
          <a:p>
            <a:r>
              <a:t>The screen recovered 5,706 nuclei with at least one assigned guide and evaluated the candidate set using transcriptional maturation programs. Twenty-three genes, including the two established positive-control regulators, affected at least one tested program. Thus the study nominates twenty-one additional candidates rather than demonstrating twenty-one fully validated functional mechanisms. Recovering known regulators provides a useful benchmark. The UMAP is descriptive; separation alone is not an editing-efficiency assay. These screen readouts use broader RNA program sets and should not be confused with the separate 21-gene Xenium index used in our spatial comparisons.</a:t>
            </a:r>
          </a:p>
          <a:p/>
          <a:p>
            <a:r>
              <a:t>EVIDENCE / SOURCE</a:t>
            </a:r>
          </a:p>
          <a:p>
            <a:r>
              <a:t>Wang, Dong, Song et al. Nature Cardiovascular Research (2026); doi:10.1038/s44161-026-00861-z; Fig.6; 5,706 guide-assigned nuclei; 23 genes affect ≥1 RNA program</a:t>
            </a:r>
          </a:p>
          <a:p/>
          <a:p>
            <a:r>
              <a:t>INTERPRETATION BOUNDARY</a:t>
            </a:r>
          </a:p>
          <a:p>
            <a:r>
              <a:t>Screen-level comparisons are nucleus-level; the later targeted experiments add biological and functional validation. Do not equate 23 RNA hits with 23 proven therapies.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MAIN TALK | Suggested 65 seconds</a:t>
            </a:r>
          </a:p>
          <a:p/>
          <a:p>
            <a:r>
              <a:t>SPEAKER SCRIPT</a:t>
            </a:r>
          </a:p>
          <a:p>
            <a:r>
              <a:t>The perturbation matrix shows why a single maturity label is not enough. Some candidates affect several programs, whereas others have a more selective pattern. The positive controls recover expected aspects of maturation, and new candidates include regulators of transcription, chromatin organization and metabolism. This helps us choose what to validate and which functional measurements to use. A candidate with a broad RNA phenotype should be followed across structural, electrical and metabolic outcomes. A selective RNA phenotype should motivate a focused functional test. The matrix is therefore a prioritization tool, not the final mechanistic conclusion.</a:t>
            </a:r>
          </a:p>
          <a:p/>
          <a:p>
            <a:r>
              <a:t>EVIDENCE / SOURCE</a:t>
            </a:r>
          </a:p>
          <a:p>
            <a:r>
              <a:t>Wang, Dong, Song et al. Nature Cardiovascular Research (2026); doi:10.1038/s44161-026-00861-z; Fig.6e–g; original supplied slide 14</a:t>
            </a:r>
          </a:p>
          <a:p/>
          <a:p>
            <a:r>
              <a:t>INTERPRETATION BOUNDARY</a:t>
            </a:r>
          </a:p>
          <a:p>
            <a:r>
              <a:t>These RNA program sets differ from the spatial 21-gene panel. The exact number of screen hits depends on the published significance and module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MAIN TALK | Suggested 80 seconds</a:t>
            </a:r>
          </a:p>
          <a:p/>
          <a:p>
            <a:r>
              <a:t>SPEAKER SCRIPT</a:t>
            </a:r>
          </a:p>
          <a:p>
            <a:r>
              <a:t>We followed Rreb1, a transcriptional regulator, because conventional loss of the gene is embryonically lethal and does not directly answer its postnatal role. Postnatal AAV perturbation allows us to examine that later interval. At P14, GFP-positive, sgRreb1-targeted CMs are smaller than GFP-negative CMs within the same heart. At P35, targeted CMs show more disorganized T-tubule structure. These results move beyond the RNA screen and support a role in postnatal structural development. Cell size alone would be an incomplete maturation phenotype, so the next question is whether electrical, metabolic and organ-level function also change.</a:t>
            </a:r>
          </a:p>
          <a:p/>
          <a:p>
            <a:r>
              <a:t>EVIDENCE / SOURCE</a:t>
            </a:r>
          </a:p>
          <a:p>
            <a:r>
              <a:t>Wang, Dong, Song et al. Nature Cardiovascular Research (2026); doi:10.1038/s44161-026-00861-z; Fig.7b–e; author-supplied manuscript panels</a:t>
            </a:r>
          </a:p>
          <a:p/>
          <a:p>
            <a:r>
              <a:t>INTERPRETATION BOUNDARY</a:t>
            </a:r>
          </a:p>
          <a:p>
            <a:r>
              <a:t>Morphology points are cells/FOVs nested within mice; do not present them as independent animal counts. Supplied draft panel layout is interpreted against final published legend.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MAIN TALK | Suggested 80 seconds</a:t>
            </a:r>
          </a:p>
          <a:p/>
          <a:p>
            <a:r>
              <a:t>SPEAKER SCRIPT</a:t>
            </a:r>
          </a:p>
          <a:p>
            <a:r>
              <a:t>Rreb1 perturbation also changes voltage-sensitive fluorescence and contraction behavior, and reduces maximal mitochondrial respiratory capacity in the reported assay. These readouts address different aspects of cardiomyocyte performance, which is important because transcriptional scores alone cannot establish function. The electrical trace is a fluorescence-based measurement, not a calibrated membrane-voltage recording. The contraction trace describes behavior rather than directly measuring generated force. The agreement across these assays nevertheless makes the phenotype substantially more informative than an isolated gene-expression change. It suggests that the transcriptional regulator contributes to several linked parts of postnatal CM development.</a:t>
            </a:r>
          </a:p>
          <a:p/>
          <a:p>
            <a:r>
              <a:t>EVIDENCE / SOURCE</a:t>
            </a:r>
          </a:p>
          <a:p>
            <a:r>
              <a:t>Wang, Dong, Song et al. Nature Cardiovascular Research (2026); doi:10.1038/s44161-026-00861-z; Fig.7f–h</a:t>
            </a:r>
          </a:p>
          <a:p/>
          <a:p>
            <a:r>
              <a:t>INTERPRETATION BOUNDARY</a:t>
            </a:r>
          </a:p>
          <a:p>
            <a:r>
              <a:t>Avoid claiming a specific action-potential-duration change or direct force measurement that was not established by these panels.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MAIN TALK | Suggested 75 seconds</a:t>
            </a:r>
          </a:p>
          <a:p/>
          <a:p>
            <a:r>
              <a:t>SPEAKER SCRIPT</a:t>
            </a:r>
          </a:p>
          <a:p>
            <a:r>
              <a:t>At the organ level, hearts receiving the Rreb1-targeting treatment show reduced fractional shortening and ejection fraction at the later assessment. The final paper reports seven control and ten sgRreb1 mice for these echocardiographic comparisons. Together with structural, electrical and metabolic findings, this supports a requirement for Rreb1 in normal postnatal cardiac development. RNA sequencing and regulatory-network overlap also nominate thyroid-hormone-associated transcription as a possible downstream component. That proposed mediator remains a working mechanism rather than a completed rescue or epistasis result. The functional phenotype is stronger evidence than the inferred intermediate pathway.</a:t>
            </a:r>
          </a:p>
          <a:p/>
          <a:p>
            <a:r>
              <a:t>EVIDENCE / SOURCE</a:t>
            </a:r>
          </a:p>
          <a:p>
            <a:r>
              <a:t>Wang, Dong, Song et al. Nature Cardiovascular Research (2026); doi:10.1038/s44161-026-00861-z; Fig.7i–o</a:t>
            </a:r>
          </a:p>
          <a:p/>
          <a:p>
            <a:r>
              <a:t>INTERPRETATION BOUNDARY</a:t>
            </a:r>
          </a:p>
          <a:p>
            <a:r>
              <a:t>The higher-dose heart-function experiment differs from the mosaic within-heart morphology comparison. A Thra-mediated causal chain is not fully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MAIN TALK | Suggested 60 seconds</a:t>
            </a:r>
          </a:p>
          <a:p/>
          <a:p>
            <a:r>
              <a:t>SPEAKER SCRIPT</a:t>
            </a:r>
          </a:p>
          <a:p>
            <a:r>
              <a:t>The emerging model is that intrinsic competence and tissue context develop together. Genetic perturbation demonstrates that particular CM regulators are required for normal development and function. Spatial observations associate transcriptional maturation with the identity and organization of nearby cells. CMs are also potential senders: changing muscle demand and CM-derived signals may help organize the surrounding vasculature and matrix. The vascular literature and fibroblast programs provide context for this reciprocal model. These evidence layers are complementary but not interchangeable. Which local interactions are instructive, permissive or responses to muscle development remains an experimental question.</a:t>
            </a:r>
          </a:p>
          <a:p/>
          <a:p>
            <a:r>
              <a:t>EVIDENCE / SOURCE</a:t>
            </a:r>
          </a:p>
          <a:p>
            <a:r>
              <a:t>Wang, Dong, Song et al. Nature Cardiovascular Research (2026); doi:10.1038/s44161-026-00861-z; Lu et al. Nature Cell Biology 23, 967–977 (2021); doi:10.1038/s41556-021-00747-1; Exploratory follow-up: CM21_paperstyle_extension, frozen commit 1179f3cfb4af34fdfeeba4e2fee2ca765bbe8c6e</a:t>
            </a:r>
          </a:p>
          <a:p/>
          <a:p>
            <a:r>
              <a:t>INTERPRETATION BOUNDARY</a:t>
            </a:r>
          </a:p>
          <a:p>
            <a:r>
              <a:t>Solid relationships in the diagram denote tested gene-perturbation effects; dashed relationships denote unproven reciprocal niche mechanisms or inferred mediators.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MAIN TALK | Suggested 50 seconds</a:t>
            </a:r>
          </a:p>
          <a:p/>
          <a:p>
            <a:r>
              <a:t>SPEAKER SCRIPT</a:t>
            </a:r>
          </a:p>
          <a:p>
            <a:r>
              <a:t>For regeneration, the implication is that generating new muscle should be paired with building the conditions that let it function. A strategy may need to support cell production, vascular access, matrix organization and the acquisition of appropriate contractile and electrical properties. These goals can overlap; we should not assume that all maturation must be suppressed before growth or that cell-cycle exit is the only desired endpoint. The current work identifies measurements and candidate regulators for designing such experiments. It does not demonstrate a regenerative treatment or establish that inhibiting a maturation regulator would improve repair.</a:t>
            </a:r>
          </a:p>
          <a:p/>
          <a:p>
            <a:r>
              <a:t>EVIDENCE / SOURCE</a:t>
            </a:r>
          </a:p>
          <a:p>
            <a:r>
              <a:t>Guo &amp; Pu (2020); Tzahor &amp; Poss (2017); Wang, Dong, Song et al. Nature Cardiovascular Research (2026); doi:10.1038/s44161-026-00861-z</a:t>
            </a:r>
          </a:p>
          <a:p/>
          <a:p>
            <a:r>
              <a:t>INTERPRETATION BOUNDARY</a:t>
            </a:r>
          </a:p>
          <a:p>
            <a:r>
              <a:t>This is a proposed experimental framework, not a demonstrated regenerative therapy.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MAIN TALK | Suggested 130 seconds</a:t>
            </a:r>
          </a:p>
          <a:p/>
          <a:p>
            <a:r>
              <a:t>SPEAKER SCRIPT</a:t>
            </a:r>
          </a:p>
          <a:p>
            <a:r>
              <a:t>The next experiments should separate explanations rather than simply add another computational method. First, repeat the regional vascular comparisons in independent hearts while measuring perfused capillaries and CM function alongside the same 21-gene score. Second, compare EC-specific and CM-specific perturbation of a contact candidate, with a downstream rescue where feasible. Third, test whether a defined fibroblast state or matrix property changes vascular organization and CM performance, rather than interpreting broad cell depletion as a single direct signal. Earlier P3/P5 and intermediate P10 samples would clarify timing between the existing stages. These experiments would turn the spatial associations into a more precise developmental model.</a:t>
            </a:r>
          </a:p>
          <a:p/>
          <a:p>
            <a:r>
              <a:t>EVIDENCE / SOURCE</a:t>
            </a:r>
          </a:p>
          <a:p>
            <a:r>
              <a:t>Exploratory follow-up: CM21_paperstyle_extension, frozen commit 1179f3cfb4af34fdfeeba4e2fee2ca765bbe8c6e; inference boundaries from Wang, Dong, Song et al. Nature Cardiovascular Research (2026); doi:10.1038/s44161-026-00861-z</a:t>
            </a:r>
          </a:p>
          <a:p/>
          <a:p>
            <a:r>
              <a:t>INTERPRETATION BOUNDARY</a:t>
            </a:r>
          </a:p>
          <a:p>
            <a:r>
              <a:t>Keep shared anatomy, general tissue injury and matrix/nerve-mediated effects as alternative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MAIN TALK | Suggested 50 seconds</a:t>
            </a:r>
          </a:p>
          <a:p/>
          <a:p>
            <a:r>
              <a:t>SPEAKER SCRIPT</a:t>
            </a:r>
          </a:p>
          <a:p>
            <a:r>
              <a:t>There are three main messages. First, postnatal maturation is spatially heterogeneous, and CM identity should be separated from maturation state. Second, the identity and arrangement of vascular and fibroblast neighbors help define biologically specific hypotheses; the strongest new spatial support concerns capillary organization at P7, while several finer relationships remain uncertain. Third, in vivo functional genomics turns those hypotheses into testable gene requirements, and targeted validation shows that a screen-nominated regulator can affect structure, cellular performance and heart function. Together, these approaches connect a developmental tissue landscape to experimentally testable mechanisms.</a:t>
            </a:r>
          </a:p>
          <a:p/>
          <a:p>
            <a:r>
              <a:t>EVIDENCE / SOURCE</a:t>
            </a:r>
          </a:p>
          <a:p>
            <a:r>
              <a:t>Wang, Dong, Song et al. Nature Cardiovascular Research (2026); doi:10.1038/s44161-026-00861-z; Lu et al. Nature Cell Biology 23, 967–977 (2021); doi:10.1038/s41556-021-00747-1; reviewed exploratory follow-up</a:t>
            </a:r>
          </a:p>
          <a:p/>
          <a:p>
            <a:r>
              <a:t>INTERPRETATION BOUNDARY</a:t>
            </a:r>
          </a:p>
          <a:p>
            <a:r>
              <a:t>Use the stated evidence category; no additional causal or functional claim is implied.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MAIN TALK | Suggested 20 seconds</a:t>
            </a:r>
          </a:p>
          <a:p/>
          <a:p>
            <a:r>
              <a:t>SPEAKER SCRIPT</a:t>
            </a:r>
          </a:p>
          <a:p>
            <a:r>
              <a:t>I would like to thank the members of the Liu and Qian laboratories, the collaborators and colleagues who contributed to this work, and our funding organizations. The original acknowledgment slide is preserved here so that the names, photographs and funder logos remain intact. Thank you, and I welcome your questions.</a:t>
            </a:r>
          </a:p>
          <a:p/>
          <a:p>
            <a:r>
              <a:t>EVIDENCE / SOURCE</a:t>
            </a:r>
          </a:p>
          <a:p>
            <a:r>
              <a:t>Original presentation slide 16, names/photos/funder logos preserved</a:t>
            </a:r>
          </a:p>
          <a:p/>
          <a:p>
            <a:r>
              <a:t>INTERPRETATION BOUNDARY</a:t>
            </a:r>
          </a:p>
          <a:p>
            <a:r>
              <a:t>Use the stated evidence category; no additional causal or functional claim is implied.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BACKUP | Suggested 0 seconds</a:t>
            </a:r>
          </a:p>
          <a:p/>
          <a:p>
            <a:r>
              <a:t>SPEAKER SCRIPT</a:t>
            </a:r>
          </a:p>
          <a:p>
            <a:r>
              <a:t>The spatial outcome is the published 21-gene positive module measured by Xenium. Counts are normalized over the 403 measured targets. The paper-style reconstruction subtracts matched control expression, with fixed pooled expression bins and an ensemble of 50 control draws. We also retain the earlier gene-Z score and alternative control settings as sensitivities. These are different numerical definitions using the same positive maturation panel. No missing maturation targets are imputed from snRNA-seq.</a:t>
            </a:r>
          </a:p>
          <a:p/>
          <a:p>
            <a:r>
              <a:t>EVIDENCE / SOURCE</a:t>
            </a:r>
          </a:p>
          <a:p>
            <a:r>
              <a:t>Exploratory follow-up: CM21_paperstyle_extension, frozen commit 1179f3cfb4af34fdfeeba4e2fee2ca765bbe8c6e; measured_21gene_panel.tsv; analysis_settings.json</a:t>
            </a:r>
          </a:p>
          <a:p/>
          <a:p>
            <a:r>
              <a:t>INTERPRETATION BOUNDARY</a:t>
            </a:r>
          </a:p>
          <a:p>
            <a:r>
              <a:t>The original author control genes, exact graph and masks are unavailable; this is not exact replication.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BACKUP | Suggested 0 seconds</a:t>
            </a:r>
          </a:p>
          <a:p/>
          <a:p>
            <a:r>
              <a:t>SPEAKER SCRIPT</a:t>
            </a:r>
          </a:p>
          <a:p>
            <a:r>
              <a:t>The P7 association remains positive with reviewed capillary calls and broader public capillary labels passing EC QC. Requiring strict cell-and-nucleus agreement leaves 268 P7 source profiles and weakens the estimate. At P14, broader-label support is weaker and the strict 202-profile set is inconclusive. A highly selected sparse source set is not ground truth for the whole capillary network. Source definitions should therefore be shown alongside the main result rather than hidden as a technical footnote.</a:t>
            </a:r>
          </a:p>
          <a:p/>
          <a:p>
            <a:r>
              <a:t>EVIDENCE / SOURCE</a:t>
            </a:r>
          </a:p>
          <a:p>
            <a:r>
              <a:t>Exploratory follow-up: CM21_paperstyle_extension, frozen commit 1179f3cfb4af34fdfeeba4e2fee2ca765bbe8c6e; source_label_sensitivity.tsv</a:t>
            </a:r>
          </a:p>
          <a:p/>
          <a:p>
            <a:r>
              <a:t>INTERPRETATION BOUNDARY</a:t>
            </a:r>
          </a:p>
          <a:p>
            <a:r>
              <a:t>No favorable source definition is selected post hoc as the sole truth.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BACKUP | Suggested 0 seconds</a:t>
            </a:r>
          </a:p>
          <a:p/>
          <a:p>
            <a:r>
              <a:t>SPEAKER SCRIPT</a:t>
            </a:r>
          </a:p>
          <a:p>
            <a:r>
              <a:t>A valid section through a large cardiomyocyte can miss its nucleus. We therefore retain nucleus-free CM profiles and compare whole-cell with confidence-supported transcript assignments. The core layer is not nuclear-only truth. Individual CM score rankings agree only moderately between these views, even when some spatial association directions agree. Native polygon apposition is also only an operational two-dimensional measurement. Protein-defined boundaries, transcript-level inspection and boundary perturbations should support, rather than be replaced by, a single label or score.</a:t>
            </a:r>
          </a:p>
          <a:p/>
          <a:p>
            <a:r>
              <a:t>EVIDENCE / SOURCE</a:t>
            </a:r>
          </a:p>
          <a:p>
            <a:r>
              <a:t>Exploratory follow-up: CM21_paperstyle_extension, frozen commit 1179f3cfb4af34fdfeeba4e2fee2ca765bbe8c6e; core_native_score_agreement.tsv; original boundary validation</a:t>
            </a:r>
          </a:p>
          <a:p/>
          <a:p>
            <a:r>
              <a:t>INTERPRETATION BOUNDARY</a:t>
            </a:r>
          </a:p>
          <a:p>
            <a:r>
              <a:t>96 sampled original boundaries and eight stage/view count reconstructions were independently checked; these audits do not establish universal segmentation accuracy.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BACKUP | Suggested 0 seconds</a:t>
            </a:r>
          </a:p>
          <a:p/>
          <a:p>
            <a:r>
              <a:t>SPEAKER SCRIPT</a:t>
            </a:r>
          </a:p>
          <a:p>
            <a:r>
              <a:t>The decline of one expression family and the appearance of another can reflect state switching, differential proliferation or survival, sampling, and changes in classification. Growing myocardial geometry can also alter a cell’s relative distance to the endocardium without requiring active outward migration. RNA trajectories and optimal-transport correspondences can nominate transitions but cannot distinguish these possibilities conclusively. A Postn-associated to Gfpt2/Pi16- or Col8a1-associated transition remains a hypothesis. Timed lineage tracing with intermediate stages and coherent marker panels is needed, especially before claiming that anatomically distinct valve- or outflow-associated groups share the same transition.</a:t>
            </a:r>
          </a:p>
          <a:p/>
          <a:p>
            <a:r>
              <a:t>EVIDENCE / SOURCE</a:t>
            </a:r>
          </a:p>
          <a:p>
            <a:r>
              <a:t>Reviewed fibroblast reference and spatial annotations; Hortells et al. PNAS (2020); doi:10.1073/pnas.2009119117; PMID:32817558</a:t>
            </a:r>
          </a:p>
          <a:p/>
          <a:p>
            <a:r>
              <a:t>INTERPRETATION BOUNDARY</a:t>
            </a:r>
          </a:p>
          <a:p>
            <a:r>
              <a:t>Postn-family label absence is not proof of absent Postn RNA; Gfpt2/Pi16 is a descriptive multi-gene family, and Col8a1 remains one broad family.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BACKUP | Suggested 0 seconds</a:t>
            </a:r>
          </a:p>
          <a:p/>
          <a:p>
            <a:r>
              <a:t>SPEAKER SCRIPT</a:t>
            </a:r>
          </a:p>
          <a:p>
            <a:r>
              <a:t>CytoSPACE aligns an RNA reference to the spatial dataset. COMMOT nominates expression-compatible spatial communication. SCENIC and SigNET nominate regulatory relationships and possible mediators. Predictive modeling evaluates associations under the chosen validation split. These methods address different questions and their agreement can be useful, but overlapping RNA features are not independent experimental confirmation. For prediction, spatially held-out regions and independent animals are stronger tests than a random cell split. For mechanism, receiver perturbation alone does not identify the sender, contact route or mediator.</a:t>
            </a:r>
          </a:p>
          <a:p/>
          <a:p>
            <a:r>
              <a:t>EVIDENCE / SOURCE</a:t>
            </a:r>
          </a:p>
          <a:p>
            <a:r>
              <a:t>Wang, Dong, Song et al. Nature Cardiovascular Research (2026); doi:10.1038/s44161-026-00861-z; released COMMOT/SCENIC/SigNET and maturation-model code</a:t>
            </a:r>
          </a:p>
          <a:p/>
          <a:p>
            <a:r>
              <a:t>INTERPRETATION BOUNDARY</a:t>
            </a:r>
          </a:p>
          <a:p>
            <a:r>
              <a:t>Do not treat SHAP importance, random-cell predictive accuracy or a transport solution as proof of a biological mechanism.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BACKUP | Suggested 0 seconds</a:t>
            </a:r>
          </a:p>
          <a:p/>
          <a:p>
            <a:r>
              <a:t>SPEAKER SCRIPT</a:t>
            </a:r>
          </a:p>
          <a:p>
            <a:r>
              <a:t>Among 43 targets with detectable perturbation-detection probes, 37 showed at least a 50% reduction in the reported comparison. This is a target-probe signal result, not an absolute biallelic-editing percentage. Guide detection and probe reduction provide complementary assignment evidence. The screen also includes non-targeting controls and established maturation regulators. Nucleus-level module-score changes nominate hits, whereas independent target verification, biological replication and functional measurements establish the stronger follow-up conclusions. The Rreb1 studies supply several of those additional evidence layers.</a:t>
            </a:r>
          </a:p>
          <a:p/>
          <a:p>
            <a:r>
              <a:t>EVIDENCE / SOURCE</a:t>
            </a:r>
          </a:p>
          <a:p>
            <a:r>
              <a:t>Wang, Dong, Song et al. Nature Cardiovascular Research (2026); doi:10.1038/s44161-026-00861-z; Supplementary Fig.24; Methods</a:t>
            </a:r>
          </a:p>
          <a:p/>
          <a:p>
            <a:r>
              <a:t>INTERPRETATION BOUNDARY</a:t>
            </a:r>
          </a:p>
          <a:p>
            <a:r>
              <a:t>Use 37/43 probe reductions rather than the original slide note’s unqualified 88% knockout efficiency.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BACKUP | Suggested 0 seconds</a:t>
            </a:r>
          </a:p>
          <a:p/>
          <a:p>
            <a:r>
              <a:t>SPEAKER SCRIPT</a:t>
            </a:r>
          </a:p>
          <a:p>
            <a:r>
              <a:t>Optimal transport compares distributions and can help ask whether developmental neighborhoods change composition, internal state or both. It does not track cells or establish fate. In our existing cross-stage benchmark, the current Wormhole encoder was less convincing for composition-matched changes, where simple mean-feature comparisons usually matched or outperformed it. We therefore keep transport-generated developmental correspondences outside the core conclusions. A useful extension would preserve anatomy and absolute vascular abundance separately, compare with exact or regularized transport, and test any proposed trajectory with intermediate stages and independent biological evidence.</a:t>
            </a:r>
          </a:p>
          <a:p/>
          <a:p>
            <a:r>
              <a:t>EVIDENCE / SOURCE</a:t>
            </a:r>
          </a:p>
          <a:p>
            <a:r>
              <a:t>cardiac_developmental_synthesis/cross_stage_metric_assessment.tsv; prior held-out Wormhole assessment</a:t>
            </a:r>
          </a:p>
          <a:p/>
          <a:p>
            <a:r>
              <a:t>INTERPRETATION BOUNDARY</a:t>
            </a:r>
          </a:p>
          <a:p>
            <a:r>
              <a:t>The benchmark is calibration of distances, not a validated dynamic cardiac niche reconstruction.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BACKUP | Suggested 0 seconds</a:t>
            </a:r>
          </a:p>
          <a:p/>
          <a:p>
            <a:r>
              <a:t>SPEAKER SCRIPT</a:t>
            </a:r>
          </a:p>
          <a:p>
            <a:r>
              <a:t>The main sources are the final 2026 heart-atlas article, the full Lu et al. perinatal angiogenesis paper supplied by the author, the cardiomyocyte-maturation review cited in the original presentation, and the existing reviewed analysis outputs. The Hortells intervention is discussed with its mechanistic limitations; that earlier review checked the indexed abstract rather than performing a new full-paper audit. Figure panels from the supplied manuscript are credited as supplied draft panels and interpreted against the final article’s results and legends. Original acknowledgment names and photographs are preserved. The original PowerPoint remains unchanged.</a:t>
            </a:r>
          </a:p>
          <a:p/>
          <a:p>
            <a:r>
              <a:t>EVIDENCE / SOURCE</a:t>
            </a:r>
          </a:p>
          <a:p>
            <a:r>
              <a:t>Bibliography and figure provenance</a:t>
            </a:r>
          </a:p>
          <a:p/>
          <a:p>
            <a:r>
              <a:t>INTERPRETATION BOUNDARY</a:t>
            </a:r>
          </a:p>
          <a:p>
            <a:r>
              <a:t>Use the stated evidence category; no additional causal or functional claim is implied.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73A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789920" cy="365760"/>
          </a:xfrm>
          <a:prstGeom prst="rect">
            <a:avLst/>
          </a:prstGeom>
          <a:noFill/>
        </p:spPr>
        <p:txBody>
          <a:bodyPr wrap="square" lIns="0" rIns="0" tIns="0" bIns="0">
            <a:spAutoFit/>
          </a:bodyPr>
          <a:lstStyle/>
          <a:p>
            <a:pPr>
              <a:spcAft>
                <a:spcPts val="800"/>
              </a:spcAft>
              <a:defRPr sz="1400" b="1">
                <a:solidFill>
                  <a:srgbClr val="4B9CD3"/>
                </a:solidFill>
                <a:latin typeface="Arial"/>
              </a:defRPr>
            </a:pPr>
            <a:r>
              <a:t>UNC  |  McALLISTER HEART INSTITUTE</a:t>
            </a:r>
          </a:p>
        </p:txBody>
      </p:sp>
      <p:sp>
        <p:nvSpPr>
          <p:cNvPr id="5" name="TextBox 4"/>
          <p:cNvSpPr txBox="1"/>
          <p:nvPr/>
        </p:nvSpPr>
        <p:spPr>
          <a:xfrm>
            <a:off x="731520" y="1417320"/>
            <a:ext cx="10789920" cy="822960"/>
          </a:xfrm>
          <a:prstGeom prst="rect">
            <a:avLst/>
          </a:prstGeom>
          <a:noFill/>
        </p:spPr>
        <p:txBody>
          <a:bodyPr wrap="square" lIns="0" rIns="0" tIns="0" bIns="0">
            <a:spAutoFit/>
          </a:bodyPr>
          <a:lstStyle/>
          <a:p>
            <a:pPr>
              <a:spcAft>
                <a:spcPts val="800"/>
              </a:spcAft>
              <a:defRPr sz="4200" b="1">
                <a:solidFill>
                  <a:srgbClr val="FFFFFF"/>
                </a:solidFill>
                <a:latin typeface="Arial"/>
              </a:defRPr>
            </a:pPr>
            <a:r>
              <a:t>Building a Functional Heart</a:t>
            </a:r>
          </a:p>
        </p:txBody>
      </p:sp>
      <p:sp>
        <p:nvSpPr>
          <p:cNvPr id="6" name="TextBox 5"/>
          <p:cNvSpPr txBox="1"/>
          <p:nvPr/>
        </p:nvSpPr>
        <p:spPr>
          <a:xfrm>
            <a:off x="758952" y="2331720"/>
            <a:ext cx="10607040" cy="1024128"/>
          </a:xfrm>
          <a:prstGeom prst="rect">
            <a:avLst/>
          </a:prstGeom>
          <a:noFill/>
        </p:spPr>
        <p:txBody>
          <a:bodyPr wrap="square" lIns="0" rIns="0" tIns="0" bIns="0">
            <a:spAutoFit/>
          </a:bodyPr>
          <a:lstStyle/>
          <a:p>
            <a:pPr>
              <a:spcAft>
                <a:spcPts val="800"/>
              </a:spcAft>
              <a:defRPr sz="3000" b="0">
                <a:solidFill>
                  <a:srgbClr val="FFFFFF"/>
                </a:solidFill>
                <a:latin typeface="Arial"/>
              </a:defRPr>
            </a:pPr>
            <a:r>
              <a:t>From Cellular Neighborhoods</a:t>
            </a:r>
          </a:p>
          <a:p>
            <a:pPr>
              <a:spcAft>
                <a:spcPts val="800"/>
              </a:spcAft>
              <a:defRPr sz="3000" b="0">
                <a:solidFill>
                  <a:srgbClr val="FFFFFF"/>
                </a:solidFill>
                <a:latin typeface="Arial"/>
              </a:defRPr>
            </a:pPr>
            <a:r>
              <a:t>to Gene Function</a:t>
            </a:r>
          </a:p>
        </p:txBody>
      </p:sp>
      <p:sp>
        <p:nvSpPr>
          <p:cNvPr id="7" name="TextBox 6"/>
          <p:cNvSpPr txBox="1"/>
          <p:nvPr/>
        </p:nvSpPr>
        <p:spPr>
          <a:xfrm>
            <a:off x="777240" y="3822191"/>
            <a:ext cx="10424160" cy="731520"/>
          </a:xfrm>
          <a:prstGeom prst="rect">
            <a:avLst/>
          </a:prstGeom>
          <a:noFill/>
        </p:spPr>
        <p:txBody>
          <a:bodyPr wrap="square" lIns="0" rIns="0" tIns="0" bIns="0">
            <a:spAutoFit/>
          </a:bodyPr>
          <a:lstStyle/>
          <a:p>
            <a:pPr>
              <a:spcAft>
                <a:spcPts val="800"/>
              </a:spcAft>
              <a:defRPr sz="2200" b="0">
                <a:solidFill>
                  <a:srgbClr val="BBD8E9"/>
                </a:solidFill>
                <a:latin typeface="Arial"/>
              </a:defRPr>
            </a:pPr>
            <a:r>
              <a:t>Coordinating postnatal muscle, vascular and matrix development</a:t>
            </a:r>
          </a:p>
        </p:txBody>
      </p:sp>
      <p:sp>
        <p:nvSpPr>
          <p:cNvPr id="8" name="TextBox 7"/>
          <p:cNvSpPr txBox="1"/>
          <p:nvPr/>
        </p:nvSpPr>
        <p:spPr>
          <a:xfrm>
            <a:off x="777240" y="5212080"/>
            <a:ext cx="10424160" cy="960120"/>
          </a:xfrm>
          <a:prstGeom prst="rect">
            <a:avLst/>
          </a:prstGeom>
          <a:noFill/>
        </p:spPr>
        <p:txBody>
          <a:bodyPr wrap="square" lIns="0" rIns="0" tIns="0" bIns="0">
            <a:spAutoFit/>
          </a:bodyPr>
          <a:lstStyle/>
          <a:p>
            <a:pPr>
              <a:spcAft>
                <a:spcPts val="800"/>
              </a:spcAft>
              <a:defRPr sz="1800" b="0">
                <a:solidFill>
                  <a:srgbClr val="FFFFFF"/>
                </a:solidFill>
                <a:latin typeface="Arial"/>
              </a:defRPr>
            </a:pPr>
            <a:r>
              <a:t>Jiandong Liu, Ph.D.</a:t>
            </a:r>
          </a:p>
          <a:p>
            <a:pPr>
              <a:spcAft>
                <a:spcPts val="800"/>
              </a:spcAft>
              <a:defRPr sz="1800" b="0">
                <a:solidFill>
                  <a:srgbClr val="FFFFFF"/>
                </a:solidFill>
                <a:latin typeface="Arial"/>
              </a:defRPr>
            </a:pPr>
            <a:r>
              <a:t>McAllister Heart Institute</a:t>
            </a:r>
          </a:p>
          <a:p>
            <a:pPr>
              <a:spcAft>
                <a:spcPts val="800"/>
              </a:spcAft>
              <a:defRPr sz="1800" b="0">
                <a:solidFill>
                  <a:srgbClr val="FFFFFF"/>
                </a:solidFill>
                <a:latin typeface="Arial"/>
              </a:defRPr>
            </a:pPr>
            <a:r>
              <a:t>Department of Pathology and Laboratory Medicine · UNC–Chapel Hill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BIOLOGICAL PROBLEM</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Biological framework</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New muscle must become functional myocardium</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Tzahor &amp; Poss, Science 356, 1035–1039 (2017); Guo &amp; Pu, Circ Res 126, 1086–1106 (2020)</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2</a:t>
            </a:r>
          </a:p>
        </p:txBody>
      </p:sp>
      <p:sp>
        <p:nvSpPr>
          <p:cNvPr id="9" name="Rounded Rectangle 8"/>
          <p:cNvSpPr/>
          <p:nvPr/>
        </p:nvSpPr>
        <p:spPr>
          <a:xfrm>
            <a:off x="548640" y="1737360"/>
            <a:ext cx="534924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37360"/>
            <a:ext cx="59436" cy="347472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20240"/>
            <a:ext cx="4983479"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Produce or preserve muscle</a:t>
            </a:r>
          </a:p>
        </p:txBody>
      </p:sp>
      <p:sp>
        <p:nvSpPr>
          <p:cNvPr id="12" name="TextBox 11"/>
          <p:cNvSpPr txBox="1"/>
          <p:nvPr/>
        </p:nvSpPr>
        <p:spPr>
          <a:xfrm>
            <a:off x="749808" y="2697480"/>
            <a:ext cx="4965192" cy="2377439"/>
          </a:xfrm>
          <a:prstGeom prst="rect">
            <a:avLst/>
          </a:prstGeom>
          <a:noFill/>
        </p:spPr>
        <p:txBody>
          <a:bodyPr wrap="square" lIns="0" rIns="0" tIns="0" bIns="0">
            <a:spAutoFit/>
          </a:bodyPr>
          <a:lstStyle/>
          <a:p>
            <a:pPr>
              <a:spcAft>
                <a:spcPts val="800"/>
              </a:spcAft>
              <a:defRPr sz="2300" b="0">
                <a:solidFill>
                  <a:srgbClr val="243746"/>
                </a:solidFill>
                <a:latin typeface="Arial"/>
              </a:defRPr>
            </a:pPr>
            <a:r>
              <a:t>Cell number and growth</a:t>
            </a:r>
          </a:p>
          <a:p>
            <a:pPr>
              <a:spcAft>
                <a:spcPts val="800"/>
              </a:spcAft>
              <a:defRPr sz="2300" b="0">
                <a:solidFill>
                  <a:srgbClr val="243746"/>
                </a:solidFill>
                <a:latin typeface="Arial"/>
              </a:defRPr>
            </a:pPr>
          </a:p>
          <a:p>
            <a:pPr>
              <a:spcAft>
                <a:spcPts val="800"/>
              </a:spcAft>
              <a:defRPr sz="2300" b="0">
                <a:solidFill>
                  <a:srgbClr val="243746"/>
                </a:solidFill>
                <a:latin typeface="Arial"/>
              </a:defRPr>
            </a:pPr>
            <a:r>
              <a:t>Replenish the tissue that has been lost</a:t>
            </a:r>
          </a:p>
        </p:txBody>
      </p:sp>
      <p:sp>
        <p:nvSpPr>
          <p:cNvPr id="13" name="Rounded Rectangle 12"/>
          <p:cNvSpPr/>
          <p:nvPr/>
        </p:nvSpPr>
        <p:spPr>
          <a:xfrm>
            <a:off x="6263640" y="1737360"/>
            <a:ext cx="534924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737360"/>
            <a:ext cx="59436" cy="347472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7" y="1920240"/>
            <a:ext cx="4983479"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Build durable function</a:t>
            </a:r>
          </a:p>
        </p:txBody>
      </p:sp>
      <p:sp>
        <p:nvSpPr>
          <p:cNvPr id="16" name="TextBox 15"/>
          <p:cNvSpPr txBox="1"/>
          <p:nvPr/>
        </p:nvSpPr>
        <p:spPr>
          <a:xfrm>
            <a:off x="6464807" y="2697480"/>
            <a:ext cx="4965192" cy="2377439"/>
          </a:xfrm>
          <a:prstGeom prst="rect">
            <a:avLst/>
          </a:prstGeom>
          <a:noFill/>
        </p:spPr>
        <p:txBody>
          <a:bodyPr wrap="square" lIns="0" rIns="0" tIns="0" bIns="0">
            <a:spAutoFit/>
          </a:bodyPr>
          <a:lstStyle/>
          <a:p>
            <a:pPr>
              <a:spcAft>
                <a:spcPts val="800"/>
              </a:spcAft>
              <a:defRPr sz="2300" b="0">
                <a:solidFill>
                  <a:srgbClr val="243746"/>
                </a:solidFill>
                <a:latin typeface="Arial"/>
              </a:defRPr>
            </a:pPr>
            <a:r>
              <a:t>Contract, conduct and sustain workload</a:t>
            </a:r>
          </a:p>
          <a:p>
            <a:pPr>
              <a:spcAft>
                <a:spcPts val="800"/>
              </a:spcAft>
              <a:defRPr sz="2300" b="0">
                <a:solidFill>
                  <a:srgbClr val="243746"/>
                </a:solidFill>
                <a:latin typeface="Arial"/>
              </a:defRPr>
            </a:pPr>
          </a:p>
          <a:p>
            <a:pPr>
              <a:spcAft>
                <a:spcPts val="800"/>
              </a:spcAft>
              <a:defRPr sz="2300" b="0">
                <a:solidFill>
                  <a:srgbClr val="243746"/>
                </a:solidFill>
                <a:latin typeface="Arial"/>
              </a:defRPr>
            </a:pPr>
            <a:r>
              <a:t>Integrate muscle with vessels and matrix</a:t>
            </a:r>
          </a:p>
        </p:txBody>
      </p:sp>
      <p:sp>
        <p:nvSpPr>
          <p:cNvPr id="17" name="Rectangle 16"/>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Postnatal development reveals how growing muscle acquires function within a tissue.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BIOLOGICAL PROBLEM</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Established biology</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Maturation combines several changes in cell function</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Guo &amp; Pu, Circ Res 126, 1086–1106 (2020); original supplied slide 2</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3</a:t>
            </a:r>
          </a:p>
        </p:txBody>
      </p:sp>
      <p:sp>
        <p:nvSpPr>
          <p:cNvPr id="9" name="Rounded Rectangle 8"/>
          <p:cNvSpPr/>
          <p:nvPr/>
        </p:nvSpPr>
        <p:spPr>
          <a:xfrm>
            <a:off x="548640" y="1691640"/>
            <a:ext cx="5349240" cy="1755648"/>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64008" cy="175564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874520"/>
            <a:ext cx="4846320" cy="411480"/>
          </a:xfrm>
          <a:prstGeom prst="rect">
            <a:avLst/>
          </a:prstGeom>
          <a:noFill/>
        </p:spPr>
        <p:txBody>
          <a:bodyPr wrap="square" lIns="0" rIns="0" tIns="0" bIns="0">
            <a:spAutoFit/>
          </a:bodyPr>
          <a:lstStyle/>
          <a:p>
            <a:pPr>
              <a:spcAft>
                <a:spcPts val="800"/>
              </a:spcAft>
              <a:defRPr sz="2500" b="1">
                <a:solidFill>
                  <a:srgbClr val="173A53"/>
                </a:solidFill>
                <a:latin typeface="Arial"/>
              </a:defRPr>
            </a:pPr>
            <a:r>
              <a:t>Structure</a:t>
            </a:r>
          </a:p>
        </p:txBody>
      </p:sp>
      <p:sp>
        <p:nvSpPr>
          <p:cNvPr id="12" name="TextBox 11"/>
          <p:cNvSpPr txBox="1"/>
          <p:nvPr/>
        </p:nvSpPr>
        <p:spPr>
          <a:xfrm>
            <a:off x="758952" y="2450592"/>
            <a:ext cx="4846320" cy="822960"/>
          </a:xfrm>
          <a:prstGeom prst="rect">
            <a:avLst/>
          </a:prstGeom>
          <a:noFill/>
        </p:spPr>
        <p:txBody>
          <a:bodyPr wrap="square" lIns="0" rIns="0" tIns="0" bIns="0">
            <a:spAutoFit/>
          </a:bodyPr>
          <a:lstStyle/>
          <a:p>
            <a:pPr>
              <a:spcAft>
                <a:spcPts val="800"/>
              </a:spcAft>
              <a:defRPr sz="2200" b="0">
                <a:solidFill>
                  <a:srgbClr val="243746"/>
                </a:solidFill>
                <a:latin typeface="Arial"/>
              </a:defRPr>
            </a:pPr>
            <a:r>
              <a:t>Sarcomeres, cell growth</a:t>
            </a:r>
          </a:p>
          <a:p>
            <a:pPr>
              <a:spcAft>
                <a:spcPts val="800"/>
              </a:spcAft>
              <a:defRPr sz="2200" b="0">
                <a:solidFill>
                  <a:srgbClr val="243746"/>
                </a:solidFill>
                <a:latin typeface="Arial"/>
              </a:defRPr>
            </a:pPr>
            <a:r>
              <a:t>and T-tubules</a:t>
            </a:r>
          </a:p>
        </p:txBody>
      </p:sp>
      <p:sp>
        <p:nvSpPr>
          <p:cNvPr id="13" name="Rounded Rectangle 12"/>
          <p:cNvSpPr/>
          <p:nvPr/>
        </p:nvSpPr>
        <p:spPr>
          <a:xfrm>
            <a:off x="6263640" y="1691640"/>
            <a:ext cx="5349240" cy="1755648"/>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691640"/>
            <a:ext cx="64008" cy="1755648"/>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874520"/>
            <a:ext cx="4846320" cy="411480"/>
          </a:xfrm>
          <a:prstGeom prst="rect">
            <a:avLst/>
          </a:prstGeom>
          <a:noFill/>
        </p:spPr>
        <p:txBody>
          <a:bodyPr wrap="square" lIns="0" rIns="0" tIns="0" bIns="0">
            <a:spAutoFit/>
          </a:bodyPr>
          <a:lstStyle/>
          <a:p>
            <a:pPr>
              <a:spcAft>
                <a:spcPts val="800"/>
              </a:spcAft>
              <a:defRPr sz="2500" b="1">
                <a:solidFill>
                  <a:srgbClr val="173A53"/>
                </a:solidFill>
                <a:latin typeface="Arial"/>
              </a:defRPr>
            </a:pPr>
            <a:r>
              <a:t>Electrical behavior</a:t>
            </a:r>
          </a:p>
        </p:txBody>
      </p:sp>
      <p:sp>
        <p:nvSpPr>
          <p:cNvPr id="16" name="TextBox 15"/>
          <p:cNvSpPr txBox="1"/>
          <p:nvPr/>
        </p:nvSpPr>
        <p:spPr>
          <a:xfrm>
            <a:off x="6473952" y="2450592"/>
            <a:ext cx="4846320" cy="822960"/>
          </a:xfrm>
          <a:prstGeom prst="rect">
            <a:avLst/>
          </a:prstGeom>
          <a:noFill/>
        </p:spPr>
        <p:txBody>
          <a:bodyPr wrap="square" lIns="0" rIns="0" tIns="0" bIns="0">
            <a:spAutoFit/>
          </a:bodyPr>
          <a:lstStyle/>
          <a:p>
            <a:pPr>
              <a:spcAft>
                <a:spcPts val="800"/>
              </a:spcAft>
              <a:defRPr sz="2200" b="0">
                <a:solidFill>
                  <a:srgbClr val="243746"/>
                </a:solidFill>
                <a:latin typeface="Arial"/>
              </a:defRPr>
            </a:pPr>
            <a:r>
              <a:t>Excitation and</a:t>
            </a:r>
          </a:p>
          <a:p>
            <a:pPr>
              <a:spcAft>
                <a:spcPts val="800"/>
              </a:spcAft>
              <a:defRPr sz="2200" b="0">
                <a:solidFill>
                  <a:srgbClr val="243746"/>
                </a:solidFill>
                <a:latin typeface="Arial"/>
              </a:defRPr>
            </a:pPr>
            <a:r>
              <a:t>calcium handling</a:t>
            </a:r>
          </a:p>
        </p:txBody>
      </p:sp>
      <p:sp>
        <p:nvSpPr>
          <p:cNvPr id="17" name="Rounded Rectangle 16"/>
          <p:cNvSpPr/>
          <p:nvPr/>
        </p:nvSpPr>
        <p:spPr>
          <a:xfrm>
            <a:off x="548640" y="3703320"/>
            <a:ext cx="5349240" cy="1755648"/>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03320"/>
            <a:ext cx="64008" cy="1755648"/>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886200"/>
            <a:ext cx="4846320" cy="411480"/>
          </a:xfrm>
          <a:prstGeom prst="rect">
            <a:avLst/>
          </a:prstGeom>
          <a:noFill/>
        </p:spPr>
        <p:txBody>
          <a:bodyPr wrap="square" lIns="0" rIns="0" tIns="0" bIns="0">
            <a:spAutoFit/>
          </a:bodyPr>
          <a:lstStyle/>
          <a:p>
            <a:pPr>
              <a:spcAft>
                <a:spcPts val="800"/>
              </a:spcAft>
              <a:defRPr sz="2500" b="1">
                <a:solidFill>
                  <a:srgbClr val="173A53"/>
                </a:solidFill>
                <a:latin typeface="Arial"/>
              </a:defRPr>
            </a:pPr>
            <a:r>
              <a:t>Metabolism</a:t>
            </a:r>
          </a:p>
        </p:txBody>
      </p:sp>
      <p:sp>
        <p:nvSpPr>
          <p:cNvPr id="20" name="TextBox 19"/>
          <p:cNvSpPr txBox="1"/>
          <p:nvPr/>
        </p:nvSpPr>
        <p:spPr>
          <a:xfrm>
            <a:off x="758952" y="4462272"/>
            <a:ext cx="4846320" cy="822960"/>
          </a:xfrm>
          <a:prstGeom prst="rect">
            <a:avLst/>
          </a:prstGeom>
          <a:noFill/>
        </p:spPr>
        <p:txBody>
          <a:bodyPr wrap="square" lIns="0" rIns="0" tIns="0" bIns="0">
            <a:spAutoFit/>
          </a:bodyPr>
          <a:lstStyle/>
          <a:p>
            <a:pPr>
              <a:spcAft>
                <a:spcPts val="800"/>
              </a:spcAft>
              <a:defRPr sz="2200" b="0">
                <a:solidFill>
                  <a:srgbClr val="243746"/>
                </a:solidFill>
                <a:latin typeface="Arial"/>
              </a:defRPr>
            </a:pPr>
            <a:r>
              <a:t>Energy supply for</a:t>
            </a:r>
          </a:p>
          <a:p>
            <a:pPr>
              <a:spcAft>
                <a:spcPts val="800"/>
              </a:spcAft>
              <a:defRPr sz="2200" b="0">
                <a:solidFill>
                  <a:srgbClr val="243746"/>
                </a:solidFill>
                <a:latin typeface="Arial"/>
              </a:defRPr>
            </a:pPr>
            <a:r>
              <a:t>sustained contraction</a:t>
            </a:r>
          </a:p>
        </p:txBody>
      </p:sp>
      <p:sp>
        <p:nvSpPr>
          <p:cNvPr id="21" name="Rounded Rectangle 20"/>
          <p:cNvSpPr/>
          <p:nvPr/>
        </p:nvSpPr>
        <p:spPr>
          <a:xfrm>
            <a:off x="6263640" y="3703320"/>
            <a:ext cx="5349240" cy="1755648"/>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3703320"/>
            <a:ext cx="64008" cy="1755648"/>
          </a:xfrm>
          <a:prstGeom prst="rect">
            <a:avLst/>
          </a:prstGeom>
          <a:solidFill>
            <a:srgbClr val="7758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3886200"/>
            <a:ext cx="4846320" cy="411480"/>
          </a:xfrm>
          <a:prstGeom prst="rect">
            <a:avLst/>
          </a:prstGeom>
          <a:noFill/>
        </p:spPr>
        <p:txBody>
          <a:bodyPr wrap="square" lIns="0" rIns="0" tIns="0" bIns="0">
            <a:spAutoFit/>
          </a:bodyPr>
          <a:lstStyle/>
          <a:p>
            <a:pPr>
              <a:spcAft>
                <a:spcPts val="800"/>
              </a:spcAft>
              <a:defRPr sz="2500" b="1">
                <a:solidFill>
                  <a:srgbClr val="173A53"/>
                </a:solidFill>
                <a:latin typeface="Arial"/>
              </a:defRPr>
            </a:pPr>
            <a:r>
              <a:t>Cell-cycle behavior</a:t>
            </a:r>
          </a:p>
        </p:txBody>
      </p:sp>
      <p:sp>
        <p:nvSpPr>
          <p:cNvPr id="24" name="TextBox 23"/>
          <p:cNvSpPr txBox="1"/>
          <p:nvPr/>
        </p:nvSpPr>
        <p:spPr>
          <a:xfrm>
            <a:off x="6473952" y="4462272"/>
            <a:ext cx="4846320" cy="822960"/>
          </a:xfrm>
          <a:prstGeom prst="rect">
            <a:avLst/>
          </a:prstGeom>
          <a:noFill/>
        </p:spPr>
        <p:txBody>
          <a:bodyPr wrap="square" lIns="0" rIns="0" tIns="0" bIns="0">
            <a:spAutoFit/>
          </a:bodyPr>
          <a:lstStyle/>
          <a:p>
            <a:pPr>
              <a:spcAft>
                <a:spcPts val="800"/>
              </a:spcAft>
              <a:defRPr sz="2200" b="0">
                <a:solidFill>
                  <a:srgbClr val="243746"/>
                </a:solidFill>
                <a:latin typeface="Arial"/>
              </a:defRPr>
            </a:pPr>
            <a:r>
              <a:t>One developmental feature;</a:t>
            </a:r>
          </a:p>
          <a:p>
            <a:pPr>
              <a:spcAft>
                <a:spcPts val="800"/>
              </a:spcAft>
              <a:defRPr sz="2200" b="0">
                <a:solidFill>
                  <a:srgbClr val="243746"/>
                </a:solidFill>
                <a:latin typeface="Arial"/>
              </a:defRPr>
            </a:pPr>
            <a:r>
              <a:t>not a complete functional readout</a:t>
            </a:r>
          </a:p>
        </p:txBody>
      </p:sp>
      <p:sp>
        <p:nvSpPr>
          <p:cNvPr id="25" name="Rectangle 24"/>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Growth-associated and maturation-associated programs can overlap in the same cell.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BIOLOGICAL PROBLEM</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Framework informed by prior work</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Intrinsic programs and the local environment develop together</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Guo &amp; Pu (2020); Garbutt et al., Circulation (2024), as cited in original deck; Lu et al. Nature Cell Biology 23, 967–977 (2021); doi:10.1038/s41556-021-00747-1</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4</a:t>
            </a:r>
          </a:p>
        </p:txBody>
      </p:sp>
      <p:sp>
        <p:nvSpPr>
          <p:cNvPr id="9" name="Rounded Rectangle 8"/>
          <p:cNvSpPr/>
          <p:nvPr/>
        </p:nvSpPr>
        <p:spPr>
          <a:xfrm>
            <a:off x="548640" y="1737360"/>
            <a:ext cx="3566160" cy="37947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37360"/>
            <a:ext cx="59436" cy="379476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20240"/>
            <a:ext cx="32004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Intrinsic competence</a:t>
            </a:r>
          </a:p>
        </p:txBody>
      </p:sp>
      <p:sp>
        <p:nvSpPr>
          <p:cNvPr id="12" name="TextBox 11"/>
          <p:cNvSpPr txBox="1"/>
          <p:nvPr/>
        </p:nvSpPr>
        <p:spPr>
          <a:xfrm>
            <a:off x="749808" y="2697480"/>
            <a:ext cx="3182112" cy="2697480"/>
          </a:xfrm>
          <a:prstGeom prst="rect">
            <a:avLst/>
          </a:prstGeom>
          <a:noFill/>
        </p:spPr>
        <p:txBody>
          <a:bodyPr wrap="square" lIns="0" rIns="0" tIns="0" bIns="0">
            <a:spAutoFit/>
          </a:bodyPr>
          <a:lstStyle/>
          <a:p>
            <a:pPr>
              <a:spcAft>
                <a:spcPts val="800"/>
              </a:spcAft>
              <a:defRPr sz="2000" b="0">
                <a:solidFill>
                  <a:srgbClr val="243746"/>
                </a:solidFill>
                <a:latin typeface="Arial"/>
              </a:defRPr>
            </a:pPr>
            <a:r>
              <a:t>Chromatin and</a:t>
            </a:r>
          </a:p>
          <a:p>
            <a:pPr>
              <a:spcAft>
                <a:spcPts val="800"/>
              </a:spcAft>
              <a:defRPr sz="2000" b="0">
                <a:solidFill>
                  <a:srgbClr val="243746"/>
                </a:solidFill>
                <a:latin typeface="Arial"/>
              </a:defRPr>
            </a:pPr>
            <a:r>
              <a:t>transcriptional programs</a:t>
            </a:r>
          </a:p>
          <a:p>
            <a:pPr>
              <a:spcAft>
                <a:spcPts val="800"/>
              </a:spcAft>
              <a:defRPr sz="2000" b="0">
                <a:solidFill>
                  <a:srgbClr val="243746"/>
                </a:solidFill>
                <a:latin typeface="Arial"/>
              </a:defRPr>
            </a:pPr>
          </a:p>
          <a:p>
            <a:pPr>
              <a:spcAft>
                <a:spcPts val="800"/>
              </a:spcAft>
              <a:defRPr sz="2000" b="0">
                <a:solidFill>
                  <a:srgbClr val="243746"/>
                </a:solidFill>
                <a:latin typeface="Arial"/>
              </a:defRPr>
            </a:pPr>
            <a:r>
              <a:t>Prior lab example:</a:t>
            </a:r>
          </a:p>
          <a:p>
            <a:pPr>
              <a:spcAft>
                <a:spcPts val="800"/>
              </a:spcAft>
              <a:defRPr sz="2000" b="0">
                <a:solidFill>
                  <a:srgbClr val="243746"/>
                </a:solidFill>
                <a:latin typeface="Arial"/>
              </a:defRPr>
            </a:pPr>
            <a:r>
              <a:t>CARM1-dependent regulation</a:t>
            </a:r>
          </a:p>
        </p:txBody>
      </p:sp>
      <p:sp>
        <p:nvSpPr>
          <p:cNvPr id="13" name="Rounded Rectangle 12"/>
          <p:cNvSpPr/>
          <p:nvPr/>
        </p:nvSpPr>
        <p:spPr>
          <a:xfrm>
            <a:off x="4315968" y="1737360"/>
            <a:ext cx="3566160" cy="37947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737360"/>
            <a:ext cx="59436" cy="379476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1920240"/>
            <a:ext cx="32004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Local tissue context</a:t>
            </a:r>
          </a:p>
        </p:txBody>
      </p:sp>
      <p:sp>
        <p:nvSpPr>
          <p:cNvPr id="16" name="TextBox 15"/>
          <p:cNvSpPr txBox="1"/>
          <p:nvPr/>
        </p:nvSpPr>
        <p:spPr>
          <a:xfrm>
            <a:off x="4517136" y="2697480"/>
            <a:ext cx="3182112" cy="2697480"/>
          </a:xfrm>
          <a:prstGeom prst="rect">
            <a:avLst/>
          </a:prstGeom>
          <a:noFill/>
        </p:spPr>
        <p:txBody>
          <a:bodyPr wrap="square" lIns="0" rIns="0" tIns="0" bIns="0">
            <a:spAutoFit/>
          </a:bodyPr>
          <a:lstStyle/>
          <a:p>
            <a:pPr>
              <a:spcAft>
                <a:spcPts val="800"/>
              </a:spcAft>
              <a:defRPr sz="2000" b="0">
                <a:solidFill>
                  <a:srgbClr val="243746"/>
                </a:solidFill>
                <a:latin typeface="Arial"/>
              </a:defRPr>
            </a:pPr>
            <a:r>
              <a:t>Capillaries and mural cells</a:t>
            </a:r>
          </a:p>
          <a:p>
            <a:pPr>
              <a:spcAft>
                <a:spcPts val="800"/>
              </a:spcAft>
              <a:defRPr sz="2000" b="0">
                <a:solidFill>
                  <a:srgbClr val="243746"/>
                </a:solidFill>
                <a:latin typeface="Arial"/>
              </a:defRPr>
            </a:pPr>
            <a:r>
              <a:t>Fibroblast matrix</a:t>
            </a:r>
          </a:p>
          <a:p>
            <a:pPr>
              <a:spcAft>
                <a:spcPts val="800"/>
              </a:spcAft>
              <a:defRPr sz="2000" b="0">
                <a:solidFill>
                  <a:srgbClr val="243746"/>
                </a:solidFill>
                <a:latin typeface="Arial"/>
              </a:defRPr>
            </a:pPr>
            <a:r>
              <a:t>Endocardial environment</a:t>
            </a:r>
          </a:p>
          <a:p>
            <a:pPr>
              <a:spcAft>
                <a:spcPts val="800"/>
              </a:spcAft>
              <a:defRPr sz="2000" b="0">
                <a:solidFill>
                  <a:srgbClr val="243746"/>
                </a:solidFill>
                <a:latin typeface="Arial"/>
              </a:defRPr>
            </a:pPr>
          </a:p>
          <a:p>
            <a:pPr>
              <a:spcAft>
                <a:spcPts val="800"/>
              </a:spcAft>
              <a:defRPr sz="2000" b="0">
                <a:solidFill>
                  <a:srgbClr val="243746"/>
                </a:solidFill>
                <a:latin typeface="Arial"/>
              </a:defRPr>
            </a:pPr>
            <a:r>
              <a:t>Mechanical and paracrine cues</a:t>
            </a:r>
          </a:p>
        </p:txBody>
      </p:sp>
      <p:sp>
        <p:nvSpPr>
          <p:cNvPr id="17" name="Rounded Rectangle 16"/>
          <p:cNvSpPr/>
          <p:nvPr/>
        </p:nvSpPr>
        <p:spPr>
          <a:xfrm>
            <a:off x="8083296" y="1737360"/>
            <a:ext cx="3566160" cy="37947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737360"/>
            <a:ext cx="59436" cy="3794760"/>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4464" y="1920240"/>
            <a:ext cx="32004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Changing physiology</a:t>
            </a:r>
          </a:p>
        </p:txBody>
      </p:sp>
      <p:sp>
        <p:nvSpPr>
          <p:cNvPr id="20" name="TextBox 19"/>
          <p:cNvSpPr txBox="1"/>
          <p:nvPr/>
        </p:nvSpPr>
        <p:spPr>
          <a:xfrm>
            <a:off x="8284464" y="2697480"/>
            <a:ext cx="3182112" cy="2697480"/>
          </a:xfrm>
          <a:prstGeom prst="rect">
            <a:avLst/>
          </a:prstGeom>
          <a:noFill/>
        </p:spPr>
        <p:txBody>
          <a:bodyPr wrap="square" lIns="0" rIns="0" tIns="0" bIns="0">
            <a:spAutoFit/>
          </a:bodyPr>
          <a:lstStyle/>
          <a:p>
            <a:pPr>
              <a:spcAft>
                <a:spcPts val="800"/>
              </a:spcAft>
              <a:defRPr sz="2000" b="0">
                <a:solidFill>
                  <a:srgbClr val="243746"/>
                </a:solidFill>
                <a:latin typeface="Arial"/>
              </a:defRPr>
            </a:pPr>
            <a:r>
              <a:t>Circulation and workload</a:t>
            </a:r>
          </a:p>
          <a:p>
            <a:pPr>
              <a:spcAft>
                <a:spcPts val="800"/>
              </a:spcAft>
              <a:defRPr sz="2000" b="0">
                <a:solidFill>
                  <a:srgbClr val="243746"/>
                </a:solidFill>
                <a:latin typeface="Arial"/>
              </a:defRPr>
            </a:pPr>
            <a:r>
              <a:t>Nutrition and hormones</a:t>
            </a:r>
          </a:p>
          <a:p>
            <a:pPr>
              <a:spcAft>
                <a:spcPts val="800"/>
              </a:spcAft>
              <a:defRPr sz="2000" b="0">
                <a:solidFill>
                  <a:srgbClr val="243746"/>
                </a:solidFill>
                <a:latin typeface="Arial"/>
              </a:defRPr>
            </a:pPr>
            <a:r>
              <a:t>Oxygen demand and supply</a:t>
            </a:r>
          </a:p>
          <a:p>
            <a:pPr>
              <a:spcAft>
                <a:spcPts val="800"/>
              </a:spcAft>
              <a:defRPr sz="2000" b="0">
                <a:solidFill>
                  <a:srgbClr val="243746"/>
                </a:solidFill>
                <a:latin typeface="Arial"/>
              </a:defRPr>
            </a:pPr>
          </a:p>
          <a:p>
            <a:pPr>
              <a:spcAft>
                <a:spcPts val="800"/>
              </a:spcAft>
              <a:defRPr sz="2000" b="0">
                <a:solidFill>
                  <a:srgbClr val="243746"/>
                </a:solidFill>
                <a:latin typeface="Arial"/>
              </a:defRPr>
            </a:pPr>
            <a:r>
              <a:t>Shared developmental inputs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ROADMAP</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Study design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Map the tissue, nominate regulators, then test function</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5</a:t>
            </a:r>
          </a:p>
        </p:txBody>
      </p:sp>
      <p:sp>
        <p:nvSpPr>
          <p:cNvPr id="9" name="Rounded Rectangle 8"/>
          <p:cNvSpPr/>
          <p:nvPr/>
        </p:nvSpPr>
        <p:spPr>
          <a:xfrm>
            <a:off x="594360" y="1874519"/>
            <a:ext cx="333756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874519"/>
            <a:ext cx="59436" cy="347472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57400"/>
            <a:ext cx="29718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01  MAP</a:t>
            </a:r>
          </a:p>
        </p:txBody>
      </p:sp>
      <p:sp>
        <p:nvSpPr>
          <p:cNvPr id="12" name="TextBox 11"/>
          <p:cNvSpPr txBox="1"/>
          <p:nvPr/>
        </p:nvSpPr>
        <p:spPr>
          <a:xfrm>
            <a:off x="795528" y="2834639"/>
            <a:ext cx="2953512" cy="2377439"/>
          </a:xfrm>
          <a:prstGeom prst="rect">
            <a:avLst/>
          </a:prstGeom>
          <a:noFill/>
        </p:spPr>
        <p:txBody>
          <a:bodyPr wrap="square" lIns="0" rIns="0" tIns="0" bIns="0">
            <a:spAutoFit/>
          </a:bodyPr>
          <a:lstStyle/>
          <a:p>
            <a:pPr>
              <a:spcAft>
                <a:spcPts val="800"/>
              </a:spcAft>
              <a:defRPr sz="2300" b="0">
                <a:solidFill>
                  <a:srgbClr val="243746"/>
                </a:solidFill>
                <a:latin typeface="Arial"/>
              </a:defRPr>
            </a:pPr>
            <a:r>
              <a:t>Who is present?</a:t>
            </a:r>
          </a:p>
          <a:p>
            <a:pPr>
              <a:spcAft>
                <a:spcPts val="800"/>
              </a:spcAft>
              <a:defRPr sz="2300" b="0">
                <a:solidFill>
                  <a:srgbClr val="243746"/>
                </a:solidFill>
                <a:latin typeface="Arial"/>
              </a:defRPr>
            </a:pPr>
            <a:r>
              <a:t>Where are they?</a:t>
            </a:r>
          </a:p>
          <a:p>
            <a:pPr>
              <a:spcAft>
                <a:spcPts val="800"/>
              </a:spcAft>
              <a:defRPr sz="2300" b="0">
                <a:solidFill>
                  <a:srgbClr val="243746"/>
                </a:solidFill>
                <a:latin typeface="Arial"/>
              </a:defRPr>
            </a:pPr>
            <a:r>
              <a:t>How do states vary?</a:t>
            </a:r>
          </a:p>
        </p:txBody>
      </p:sp>
      <p:sp>
        <p:nvSpPr>
          <p:cNvPr id="13" name="Rounded Rectangle 12"/>
          <p:cNvSpPr/>
          <p:nvPr/>
        </p:nvSpPr>
        <p:spPr>
          <a:xfrm>
            <a:off x="4434840" y="1874519"/>
            <a:ext cx="333756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874519"/>
            <a:ext cx="59436" cy="347472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6007" y="2057400"/>
            <a:ext cx="29718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02  CONNECT</a:t>
            </a:r>
          </a:p>
        </p:txBody>
      </p:sp>
      <p:sp>
        <p:nvSpPr>
          <p:cNvPr id="16" name="TextBox 15"/>
          <p:cNvSpPr txBox="1"/>
          <p:nvPr/>
        </p:nvSpPr>
        <p:spPr>
          <a:xfrm>
            <a:off x="4636007" y="2834639"/>
            <a:ext cx="2953512" cy="2377439"/>
          </a:xfrm>
          <a:prstGeom prst="rect">
            <a:avLst/>
          </a:prstGeom>
          <a:noFill/>
        </p:spPr>
        <p:txBody>
          <a:bodyPr wrap="square" lIns="0" rIns="0" tIns="0" bIns="0">
            <a:spAutoFit/>
          </a:bodyPr>
          <a:lstStyle/>
          <a:p>
            <a:pPr>
              <a:spcAft>
                <a:spcPts val="800"/>
              </a:spcAft>
              <a:defRPr sz="2300" b="0">
                <a:solidFill>
                  <a:srgbClr val="243746"/>
                </a:solidFill>
                <a:latin typeface="Arial"/>
              </a:defRPr>
            </a:pPr>
            <a:r>
              <a:t>Which vascular and matrix</a:t>
            </a:r>
          </a:p>
          <a:p>
            <a:pPr>
              <a:spcAft>
                <a:spcPts val="800"/>
              </a:spcAft>
              <a:defRPr sz="2300" b="0">
                <a:solidFill>
                  <a:srgbClr val="243746"/>
                </a:solidFill>
                <a:latin typeface="Arial"/>
              </a:defRPr>
            </a:pPr>
            <a:r>
              <a:t>contexts accompany</a:t>
            </a:r>
          </a:p>
          <a:p>
            <a:pPr>
              <a:spcAft>
                <a:spcPts val="800"/>
              </a:spcAft>
              <a:defRPr sz="2300" b="0">
                <a:solidFill>
                  <a:srgbClr val="243746"/>
                </a:solidFill>
                <a:latin typeface="Arial"/>
              </a:defRPr>
            </a:pPr>
            <a:r>
              <a:t>CM maturation?</a:t>
            </a:r>
          </a:p>
        </p:txBody>
      </p:sp>
      <p:sp>
        <p:nvSpPr>
          <p:cNvPr id="17" name="Rounded Rectangle 16"/>
          <p:cNvSpPr/>
          <p:nvPr/>
        </p:nvSpPr>
        <p:spPr>
          <a:xfrm>
            <a:off x="8275320" y="1874519"/>
            <a:ext cx="333756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20" y="1874519"/>
            <a:ext cx="59436" cy="3474720"/>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76488" y="2057400"/>
            <a:ext cx="29718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03  TEST</a:t>
            </a:r>
          </a:p>
        </p:txBody>
      </p:sp>
      <p:sp>
        <p:nvSpPr>
          <p:cNvPr id="20" name="TextBox 19"/>
          <p:cNvSpPr txBox="1"/>
          <p:nvPr/>
        </p:nvSpPr>
        <p:spPr>
          <a:xfrm>
            <a:off x="8476488" y="2834639"/>
            <a:ext cx="2953512" cy="2377439"/>
          </a:xfrm>
          <a:prstGeom prst="rect">
            <a:avLst/>
          </a:prstGeom>
          <a:noFill/>
        </p:spPr>
        <p:txBody>
          <a:bodyPr wrap="square" lIns="0" rIns="0" tIns="0" bIns="0">
            <a:spAutoFit/>
          </a:bodyPr>
          <a:lstStyle/>
          <a:p>
            <a:pPr>
              <a:spcAft>
                <a:spcPts val="800"/>
              </a:spcAft>
              <a:defRPr sz="2300" b="0">
                <a:solidFill>
                  <a:srgbClr val="243746"/>
                </a:solidFill>
                <a:latin typeface="Arial"/>
              </a:defRPr>
            </a:pPr>
            <a:r>
              <a:t>Which candidate genes</a:t>
            </a:r>
          </a:p>
          <a:p>
            <a:pPr>
              <a:spcAft>
                <a:spcPts val="800"/>
              </a:spcAft>
              <a:defRPr sz="2300" b="0">
                <a:solidFill>
                  <a:srgbClr val="243746"/>
                </a:solidFill>
                <a:latin typeface="Arial"/>
              </a:defRPr>
            </a:pPr>
            <a:r>
              <a:t>are required for</a:t>
            </a:r>
          </a:p>
          <a:p>
            <a:pPr>
              <a:spcAft>
                <a:spcPts val="800"/>
              </a:spcAft>
              <a:defRPr sz="2300" b="0">
                <a:solidFill>
                  <a:srgbClr val="243746"/>
                </a:solidFill>
                <a:latin typeface="Arial"/>
              </a:defRPr>
            </a:pPr>
            <a:r>
              <a:t>cell and heart function?</a:t>
            </a:r>
          </a:p>
        </p:txBody>
      </p:sp>
      <p:cxnSp>
        <p:nvCxnSpPr>
          <p:cNvPr id="21" name="Connector 20"/>
          <p:cNvCxnSpPr/>
          <p:nvPr/>
        </p:nvCxnSpPr>
        <p:spPr>
          <a:xfrm>
            <a:off x="3995928" y="3566160"/>
            <a:ext cx="320040" cy="0"/>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836408" y="3566160"/>
            <a:ext cx="320040" cy="0"/>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MAP THE DEVELOPING HEART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study + reviewed reference</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An atlas connects four developmental stages across two assays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GSE290989; Zenodo 14961929/14961942</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6</a:t>
            </a:r>
          </a:p>
        </p:txBody>
      </p:sp>
      <p:sp>
        <p:nvSpPr>
          <p:cNvPr id="9" name="Rounded Rectangle 8"/>
          <p:cNvSpPr/>
          <p:nvPr/>
        </p:nvSpPr>
        <p:spPr>
          <a:xfrm>
            <a:off x="914400" y="1691640"/>
            <a:ext cx="2194560" cy="621792"/>
          </a:xfrm>
          <a:prstGeom prst="roundRect">
            <a:avLst/>
          </a:prstGeom>
          <a:solidFill>
            <a:srgbClr val="173A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10512"/>
            <a:ext cx="2194560" cy="411480"/>
          </a:xfrm>
          <a:prstGeom prst="rect">
            <a:avLst/>
          </a:prstGeom>
          <a:noFill/>
        </p:spPr>
        <p:txBody>
          <a:bodyPr wrap="square" lIns="0" rIns="0" tIns="0" bIns="0">
            <a:spAutoFit/>
          </a:bodyPr>
          <a:lstStyle/>
          <a:p>
            <a:pPr algn="ctr">
              <a:spcAft>
                <a:spcPts val="800"/>
              </a:spcAft>
              <a:defRPr sz="2500" b="1">
                <a:solidFill>
                  <a:srgbClr val="FFFFFF"/>
                </a:solidFill>
                <a:latin typeface="Arial"/>
              </a:defRPr>
            </a:pPr>
            <a:r>
              <a:t>P0</a:t>
            </a:r>
          </a:p>
        </p:txBody>
      </p:sp>
      <p:sp>
        <p:nvSpPr>
          <p:cNvPr id="11" name="Rounded Rectangle 10"/>
          <p:cNvSpPr/>
          <p:nvPr/>
        </p:nvSpPr>
        <p:spPr>
          <a:xfrm>
            <a:off x="3657600" y="1691640"/>
            <a:ext cx="2194560" cy="621792"/>
          </a:xfrm>
          <a:prstGeom prst="roundRect">
            <a:avLst/>
          </a:prstGeom>
          <a:solidFill>
            <a:srgbClr val="173A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1810512"/>
            <a:ext cx="2194560" cy="411480"/>
          </a:xfrm>
          <a:prstGeom prst="rect">
            <a:avLst/>
          </a:prstGeom>
          <a:noFill/>
        </p:spPr>
        <p:txBody>
          <a:bodyPr wrap="square" lIns="0" rIns="0" tIns="0" bIns="0">
            <a:spAutoFit/>
          </a:bodyPr>
          <a:lstStyle/>
          <a:p>
            <a:pPr algn="ctr">
              <a:spcAft>
                <a:spcPts val="800"/>
              </a:spcAft>
              <a:defRPr sz="2500" b="1">
                <a:solidFill>
                  <a:srgbClr val="FFFFFF"/>
                </a:solidFill>
                <a:latin typeface="Arial"/>
              </a:defRPr>
            </a:pPr>
            <a:r>
              <a:t>P7</a:t>
            </a:r>
          </a:p>
        </p:txBody>
      </p:sp>
      <p:sp>
        <p:nvSpPr>
          <p:cNvPr id="13" name="Rounded Rectangle 12"/>
          <p:cNvSpPr/>
          <p:nvPr/>
        </p:nvSpPr>
        <p:spPr>
          <a:xfrm>
            <a:off x="6400800" y="1691640"/>
            <a:ext cx="2194560" cy="621792"/>
          </a:xfrm>
          <a:prstGeom prst="roundRect">
            <a:avLst/>
          </a:prstGeom>
          <a:solidFill>
            <a:srgbClr val="173A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810512"/>
            <a:ext cx="2194560" cy="411480"/>
          </a:xfrm>
          <a:prstGeom prst="rect">
            <a:avLst/>
          </a:prstGeom>
          <a:noFill/>
        </p:spPr>
        <p:txBody>
          <a:bodyPr wrap="square" lIns="0" rIns="0" tIns="0" bIns="0">
            <a:spAutoFit/>
          </a:bodyPr>
          <a:lstStyle/>
          <a:p>
            <a:pPr algn="ctr">
              <a:spcAft>
                <a:spcPts val="800"/>
              </a:spcAft>
              <a:defRPr sz="2500" b="1">
                <a:solidFill>
                  <a:srgbClr val="FFFFFF"/>
                </a:solidFill>
                <a:latin typeface="Arial"/>
              </a:defRPr>
            </a:pPr>
            <a:r>
              <a:t>P14</a:t>
            </a:r>
          </a:p>
        </p:txBody>
      </p:sp>
      <p:sp>
        <p:nvSpPr>
          <p:cNvPr id="15" name="Rounded Rectangle 14"/>
          <p:cNvSpPr/>
          <p:nvPr/>
        </p:nvSpPr>
        <p:spPr>
          <a:xfrm>
            <a:off x="9144000" y="1691640"/>
            <a:ext cx="2194560" cy="621792"/>
          </a:xfrm>
          <a:prstGeom prst="roundRect">
            <a:avLst/>
          </a:prstGeom>
          <a:solidFill>
            <a:srgbClr val="173A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1810512"/>
            <a:ext cx="2194560" cy="411480"/>
          </a:xfrm>
          <a:prstGeom prst="rect">
            <a:avLst/>
          </a:prstGeom>
          <a:noFill/>
        </p:spPr>
        <p:txBody>
          <a:bodyPr wrap="square" lIns="0" rIns="0" tIns="0" bIns="0">
            <a:spAutoFit/>
          </a:bodyPr>
          <a:lstStyle/>
          <a:p>
            <a:pPr algn="ctr">
              <a:spcAft>
                <a:spcPts val="800"/>
              </a:spcAft>
              <a:defRPr sz="2500" b="1">
                <a:solidFill>
                  <a:srgbClr val="FFFFFF"/>
                </a:solidFill>
                <a:latin typeface="Arial"/>
              </a:defRPr>
            </a:pPr>
            <a:r>
              <a:t>P21</a:t>
            </a:r>
          </a:p>
        </p:txBody>
      </p:sp>
      <p:sp>
        <p:nvSpPr>
          <p:cNvPr id="17" name="Rounded Rectangle 16"/>
          <p:cNvSpPr/>
          <p:nvPr/>
        </p:nvSpPr>
        <p:spPr>
          <a:xfrm>
            <a:off x="731520" y="2743200"/>
            <a:ext cx="5029200" cy="2468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2743200"/>
            <a:ext cx="59436" cy="246888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2926080"/>
            <a:ext cx="466344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Single-nucleus RNA-seq</a:t>
            </a:r>
          </a:p>
        </p:txBody>
      </p:sp>
      <p:sp>
        <p:nvSpPr>
          <p:cNvPr id="20" name="TextBox 19"/>
          <p:cNvSpPr txBox="1"/>
          <p:nvPr/>
        </p:nvSpPr>
        <p:spPr>
          <a:xfrm>
            <a:off x="932688" y="3703320"/>
            <a:ext cx="4645152" cy="1371600"/>
          </a:xfrm>
          <a:prstGeom prst="rect">
            <a:avLst/>
          </a:prstGeom>
          <a:noFill/>
        </p:spPr>
        <p:txBody>
          <a:bodyPr wrap="square" lIns="0" rIns="0" tIns="0" bIns="0">
            <a:spAutoFit/>
          </a:bodyPr>
          <a:lstStyle/>
          <a:p>
            <a:pPr>
              <a:spcAft>
                <a:spcPts val="800"/>
              </a:spcAft>
              <a:defRPr sz="2200" b="0">
                <a:solidFill>
                  <a:srgbClr val="243746"/>
                </a:solidFill>
                <a:latin typeface="Arial"/>
              </a:defRPr>
            </a:pPr>
            <a:r>
              <a:t>Broad transcriptomic coverage</a:t>
            </a:r>
          </a:p>
          <a:p>
            <a:pPr>
              <a:spcAft>
                <a:spcPts val="800"/>
              </a:spcAft>
              <a:defRPr sz="2200" b="0">
                <a:solidFill>
                  <a:srgbClr val="243746"/>
                </a:solidFill>
                <a:latin typeface="Arial"/>
              </a:defRPr>
            </a:pPr>
            <a:r>
              <a:t>2 libraries / 2 animals per age</a:t>
            </a:r>
          </a:p>
        </p:txBody>
      </p:sp>
      <p:sp>
        <p:nvSpPr>
          <p:cNvPr id="21" name="Rounded Rectangle 20"/>
          <p:cNvSpPr/>
          <p:nvPr/>
        </p:nvSpPr>
        <p:spPr>
          <a:xfrm>
            <a:off x="6400800" y="2743200"/>
            <a:ext cx="5029200" cy="2468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2743200"/>
            <a:ext cx="59436" cy="246888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1968" y="2926080"/>
            <a:ext cx="466344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Xenium spatial transcriptomics</a:t>
            </a:r>
          </a:p>
        </p:txBody>
      </p:sp>
      <p:sp>
        <p:nvSpPr>
          <p:cNvPr id="24" name="TextBox 23"/>
          <p:cNvSpPr txBox="1"/>
          <p:nvPr/>
        </p:nvSpPr>
        <p:spPr>
          <a:xfrm>
            <a:off x="6601968" y="3703320"/>
            <a:ext cx="4645152" cy="1371600"/>
          </a:xfrm>
          <a:prstGeom prst="rect">
            <a:avLst/>
          </a:prstGeom>
          <a:noFill/>
        </p:spPr>
        <p:txBody>
          <a:bodyPr wrap="square" lIns="0" rIns="0" tIns="0" bIns="0">
            <a:spAutoFit/>
          </a:bodyPr>
          <a:lstStyle/>
          <a:p>
            <a:pPr>
              <a:spcAft>
                <a:spcPts val="800"/>
              </a:spcAft>
              <a:defRPr sz="2200" b="0">
                <a:solidFill>
                  <a:srgbClr val="243746"/>
                </a:solidFill>
                <a:latin typeface="Arial"/>
              </a:defRPr>
            </a:pPr>
            <a:r>
              <a:t>403 measured gene targets</a:t>
            </a:r>
          </a:p>
          <a:p>
            <a:pPr>
              <a:spcAft>
                <a:spcPts val="800"/>
              </a:spcAft>
              <a:defRPr sz="2200" b="0">
                <a:solidFill>
                  <a:srgbClr val="243746"/>
                </a:solidFill>
                <a:latin typeface="Arial"/>
              </a:defRPr>
            </a:pPr>
            <a:r>
              <a:t>1 observed section per age</a:t>
            </a:r>
          </a:p>
        </p:txBody>
      </p:sp>
      <p:sp>
        <p:nvSpPr>
          <p:cNvPr id="25" name="Rectangle 24"/>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RNA supports cell identities; measured Xenium counts support spatial comparisons.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MAP THE DEVELOPING HEART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Measurement framework</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Keep measured expression separate from transferred information</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current reanalysis methods</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7</a:t>
            </a:r>
          </a:p>
        </p:txBody>
      </p:sp>
      <p:sp>
        <p:nvSpPr>
          <p:cNvPr id="9" name="Rounded Rectangle 8"/>
          <p:cNvSpPr/>
          <p:nvPr/>
        </p:nvSpPr>
        <p:spPr>
          <a:xfrm>
            <a:off x="594360" y="1783080"/>
            <a:ext cx="5303520" cy="35661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783080"/>
            <a:ext cx="59436" cy="356616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965960"/>
            <a:ext cx="4937759"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Directly measured</a:t>
            </a:r>
          </a:p>
        </p:txBody>
      </p:sp>
      <p:sp>
        <p:nvSpPr>
          <p:cNvPr id="12" name="TextBox 11"/>
          <p:cNvSpPr txBox="1"/>
          <p:nvPr/>
        </p:nvSpPr>
        <p:spPr>
          <a:xfrm>
            <a:off x="795528" y="2743200"/>
            <a:ext cx="4919472" cy="2468880"/>
          </a:xfrm>
          <a:prstGeom prst="rect">
            <a:avLst/>
          </a:prstGeom>
          <a:noFill/>
        </p:spPr>
        <p:txBody>
          <a:bodyPr wrap="square" lIns="0" rIns="0" tIns="0" bIns="0">
            <a:spAutoFit/>
          </a:bodyPr>
          <a:lstStyle/>
          <a:p>
            <a:pPr>
              <a:spcAft>
                <a:spcPts val="800"/>
              </a:spcAft>
              <a:defRPr sz="2400" b="0">
                <a:solidFill>
                  <a:srgbClr val="243746"/>
                </a:solidFill>
                <a:latin typeface="Arial"/>
              </a:defRPr>
            </a:pPr>
            <a:r>
              <a:t>Xenium target counts</a:t>
            </a:r>
          </a:p>
          <a:p>
            <a:pPr>
              <a:spcAft>
                <a:spcPts val="800"/>
              </a:spcAft>
              <a:defRPr sz="2400" b="0">
                <a:solidFill>
                  <a:srgbClr val="243746"/>
                </a:solidFill>
                <a:latin typeface="Arial"/>
              </a:defRPr>
            </a:pPr>
          </a:p>
          <a:p>
            <a:pPr>
              <a:spcAft>
                <a:spcPts val="800"/>
              </a:spcAft>
              <a:defRPr sz="2400" b="0">
                <a:solidFill>
                  <a:srgbClr val="243746"/>
                </a:solidFill>
                <a:latin typeface="Arial"/>
              </a:defRPr>
            </a:pPr>
            <a:r>
              <a:t>The 21-gene spatial</a:t>
            </a:r>
          </a:p>
          <a:p>
            <a:pPr>
              <a:spcAft>
                <a:spcPts val="800"/>
              </a:spcAft>
              <a:defRPr sz="2400" b="0">
                <a:solidFill>
                  <a:srgbClr val="243746"/>
                </a:solidFill>
                <a:latin typeface="Arial"/>
              </a:defRPr>
            </a:pPr>
            <a:r>
              <a:t>maturation module</a:t>
            </a:r>
          </a:p>
        </p:txBody>
      </p:sp>
      <p:sp>
        <p:nvSpPr>
          <p:cNvPr id="13" name="Rounded Rectangle 12"/>
          <p:cNvSpPr/>
          <p:nvPr/>
        </p:nvSpPr>
        <p:spPr>
          <a:xfrm>
            <a:off x="6309360" y="1783080"/>
            <a:ext cx="5303520" cy="35661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783080"/>
            <a:ext cx="59436" cy="356616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0528" y="1965960"/>
            <a:ext cx="4937759"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Reference-supported / inferred</a:t>
            </a:r>
          </a:p>
        </p:txBody>
      </p:sp>
      <p:sp>
        <p:nvSpPr>
          <p:cNvPr id="16" name="TextBox 15"/>
          <p:cNvSpPr txBox="1"/>
          <p:nvPr/>
        </p:nvSpPr>
        <p:spPr>
          <a:xfrm>
            <a:off x="6510528" y="2743200"/>
            <a:ext cx="4919472" cy="2468880"/>
          </a:xfrm>
          <a:prstGeom prst="rect">
            <a:avLst/>
          </a:prstGeom>
          <a:noFill/>
        </p:spPr>
        <p:txBody>
          <a:bodyPr wrap="square" lIns="0" rIns="0" tIns="0" bIns="0">
            <a:spAutoFit/>
          </a:bodyPr>
          <a:lstStyle/>
          <a:p>
            <a:pPr>
              <a:spcAft>
                <a:spcPts val="800"/>
              </a:spcAft>
              <a:defRPr sz="2400" b="0">
                <a:solidFill>
                  <a:srgbClr val="243746"/>
                </a:solidFill>
                <a:latin typeface="Arial"/>
              </a:defRPr>
            </a:pPr>
            <a:r>
              <a:t>Cell identities and subtypes</a:t>
            </a:r>
          </a:p>
          <a:p>
            <a:pPr>
              <a:spcAft>
                <a:spcPts val="800"/>
              </a:spcAft>
              <a:defRPr sz="2400" b="0">
                <a:solidFill>
                  <a:srgbClr val="243746"/>
                </a:solidFill>
                <a:latin typeface="Arial"/>
              </a:defRPr>
            </a:pPr>
          </a:p>
          <a:p>
            <a:pPr>
              <a:spcAft>
                <a:spcPts val="800"/>
              </a:spcAft>
              <a:defRPr sz="2400" b="0">
                <a:solidFill>
                  <a:srgbClr val="243746"/>
                </a:solidFill>
                <a:latin typeface="Arial"/>
              </a:defRPr>
            </a:pPr>
            <a:r>
              <a:t>Broader RNA programs</a:t>
            </a:r>
          </a:p>
          <a:p>
            <a:pPr>
              <a:spcAft>
                <a:spcPts val="800"/>
              </a:spcAft>
              <a:defRPr sz="2400" b="0">
                <a:solidFill>
                  <a:srgbClr val="243746"/>
                </a:solidFill>
                <a:latin typeface="Arial"/>
              </a:defRPr>
            </a:pPr>
            <a:r>
              <a:t>placed into spatial context</a:t>
            </a:r>
          </a:p>
        </p:txBody>
      </p:sp>
      <p:sp>
        <p:nvSpPr>
          <p:cNvPr id="17" name="Rectangle 16"/>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No missing maturation genes are imputed into the spatial 21-gene outcome.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MAP THE DEVELOPING HEART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atlas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Cardiac cells occupy organized tissue neighborhoods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supplied presentation slide 4</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8</a:t>
            </a:r>
          </a:p>
        </p:txBody>
      </p:sp>
      <p:pic>
        <p:nvPicPr>
          <p:cNvPr id="9" name="Picture 8" descr="all_cells_original.png"/>
          <p:cNvPicPr>
            <a:picLocks noChangeAspect="1"/>
          </p:cNvPicPr>
          <p:nvPr/>
        </p:nvPicPr>
        <p:blipFill>
          <a:blip r:embed="rId2"/>
          <a:stretch>
            <a:fillRect/>
          </a:stretch>
        </p:blipFill>
        <p:spPr>
          <a:xfrm>
            <a:off x="548640" y="1758994"/>
            <a:ext cx="11109960" cy="3751490"/>
          </a:xfrm>
          <a:prstGeom prst="rect">
            <a:avLst/>
          </a:prstGeom>
        </p:spPr>
      </p:pic>
      <p:sp>
        <p:nvSpPr>
          <p:cNvPr id="10" name="Rectangle 9"/>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Organized neighborhoods provide biological context and a potential source of regional confounding.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MAP THE DEVELOPING HEART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atlas + reviewed annotations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Subtypes make the neighborhood biologically informative</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reviewed subtype catalogs</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9</a:t>
            </a:r>
          </a:p>
        </p:txBody>
      </p:sp>
      <p:sp>
        <p:nvSpPr>
          <p:cNvPr id="9" name="Rounded Rectangle 8"/>
          <p:cNvSpPr/>
          <p:nvPr/>
        </p:nvSpPr>
        <p:spPr>
          <a:xfrm>
            <a:off x="548640" y="1737360"/>
            <a:ext cx="3566160" cy="3749039"/>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37360"/>
            <a:ext cx="59436" cy="3749039"/>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20240"/>
            <a:ext cx="32004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Cardiomyocytes</a:t>
            </a:r>
          </a:p>
        </p:txBody>
      </p:sp>
      <p:sp>
        <p:nvSpPr>
          <p:cNvPr id="12" name="TextBox 11"/>
          <p:cNvSpPr txBox="1"/>
          <p:nvPr/>
        </p:nvSpPr>
        <p:spPr>
          <a:xfrm>
            <a:off x="749808" y="2697480"/>
            <a:ext cx="3182112" cy="2651759"/>
          </a:xfrm>
          <a:prstGeom prst="rect">
            <a:avLst/>
          </a:prstGeom>
          <a:noFill/>
        </p:spPr>
        <p:txBody>
          <a:bodyPr wrap="square" lIns="0" rIns="0" tIns="0" bIns="0">
            <a:spAutoFit/>
          </a:bodyPr>
          <a:lstStyle/>
          <a:p>
            <a:pPr>
              <a:spcAft>
                <a:spcPts val="800"/>
              </a:spcAft>
              <a:defRPr sz="2100" b="0">
                <a:solidFill>
                  <a:srgbClr val="243746"/>
                </a:solidFill>
                <a:latin typeface="Arial"/>
              </a:defRPr>
            </a:pPr>
            <a:r>
              <a:t>Working ventricular</a:t>
            </a:r>
          </a:p>
          <a:p>
            <a:pPr>
              <a:spcAft>
                <a:spcPts val="800"/>
              </a:spcAft>
              <a:defRPr sz="2100" b="0">
                <a:solidFill>
                  <a:srgbClr val="243746"/>
                </a:solidFill>
                <a:latin typeface="Arial"/>
              </a:defRPr>
            </a:pPr>
            <a:r>
              <a:t>Ankrd1-associated</a:t>
            </a:r>
          </a:p>
          <a:p>
            <a:pPr>
              <a:spcAft>
                <a:spcPts val="800"/>
              </a:spcAft>
              <a:defRPr sz="2100" b="0">
                <a:solidFill>
                  <a:srgbClr val="243746"/>
                </a:solidFill>
                <a:latin typeface="Arial"/>
              </a:defRPr>
            </a:pPr>
            <a:r>
              <a:t>Regional / cycling</a:t>
            </a:r>
          </a:p>
          <a:p>
            <a:pPr>
              <a:spcAft>
                <a:spcPts val="800"/>
              </a:spcAft>
              <a:defRPr sz="2100" b="0">
                <a:solidFill>
                  <a:srgbClr val="243746"/>
                </a:solidFill>
                <a:latin typeface="Arial"/>
              </a:defRPr>
            </a:pPr>
          </a:p>
          <a:p>
            <a:pPr>
              <a:spcAft>
                <a:spcPts val="800"/>
              </a:spcAft>
              <a:defRPr sz="2100" b="0">
                <a:solidFill>
                  <a:srgbClr val="243746"/>
                </a:solidFill>
                <a:latin typeface="Arial"/>
              </a:defRPr>
            </a:pPr>
            <a:r>
              <a:t>Identity ≠ maturity</a:t>
            </a:r>
          </a:p>
        </p:txBody>
      </p:sp>
      <p:sp>
        <p:nvSpPr>
          <p:cNvPr id="13" name="Rounded Rectangle 12"/>
          <p:cNvSpPr/>
          <p:nvPr/>
        </p:nvSpPr>
        <p:spPr>
          <a:xfrm>
            <a:off x="4315968" y="1737360"/>
            <a:ext cx="3566160" cy="3749039"/>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737360"/>
            <a:ext cx="59436" cy="3749039"/>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1920240"/>
            <a:ext cx="32004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Endothelial cells</a:t>
            </a:r>
          </a:p>
        </p:txBody>
      </p:sp>
      <p:sp>
        <p:nvSpPr>
          <p:cNvPr id="16" name="TextBox 15"/>
          <p:cNvSpPr txBox="1"/>
          <p:nvPr/>
        </p:nvSpPr>
        <p:spPr>
          <a:xfrm>
            <a:off x="4517136" y="2697480"/>
            <a:ext cx="3182112" cy="2651759"/>
          </a:xfrm>
          <a:prstGeom prst="rect">
            <a:avLst/>
          </a:prstGeom>
          <a:noFill/>
        </p:spPr>
        <p:txBody>
          <a:bodyPr wrap="square" lIns="0" rIns="0" tIns="0" bIns="0">
            <a:spAutoFit/>
          </a:bodyPr>
          <a:lstStyle/>
          <a:p>
            <a:pPr>
              <a:spcAft>
                <a:spcPts val="800"/>
              </a:spcAft>
              <a:defRPr sz="2100" b="0">
                <a:solidFill>
                  <a:srgbClr val="243746"/>
                </a:solidFill>
                <a:latin typeface="Arial"/>
              </a:defRPr>
            </a:pPr>
            <a:r>
              <a:t>Capillary-like</a:t>
            </a:r>
          </a:p>
          <a:p>
            <a:pPr>
              <a:spcAft>
                <a:spcPts val="800"/>
              </a:spcAft>
              <a:defRPr sz="2100" b="0">
                <a:solidFill>
                  <a:srgbClr val="243746"/>
                </a:solidFill>
                <a:latin typeface="Arial"/>
              </a:defRPr>
            </a:pPr>
            <a:r>
              <a:t>Arterial-like / venous-like</a:t>
            </a:r>
          </a:p>
          <a:p>
            <a:pPr>
              <a:spcAft>
                <a:spcPts val="800"/>
              </a:spcAft>
              <a:defRPr sz="2100" b="0">
                <a:solidFill>
                  <a:srgbClr val="243746"/>
                </a:solidFill>
                <a:latin typeface="Arial"/>
              </a:defRPr>
            </a:pPr>
            <a:r>
              <a:t>Endocardial-like</a:t>
            </a:r>
          </a:p>
          <a:p>
            <a:pPr>
              <a:spcAft>
                <a:spcPts val="800"/>
              </a:spcAft>
              <a:defRPr sz="2100" b="0">
                <a:solidFill>
                  <a:srgbClr val="243746"/>
                </a:solidFill>
                <a:latin typeface="Arial"/>
              </a:defRPr>
            </a:pPr>
            <a:r>
              <a:t>Lymphatic-like, if supported</a:t>
            </a:r>
          </a:p>
        </p:txBody>
      </p:sp>
      <p:sp>
        <p:nvSpPr>
          <p:cNvPr id="17" name="Rounded Rectangle 16"/>
          <p:cNvSpPr/>
          <p:nvPr/>
        </p:nvSpPr>
        <p:spPr>
          <a:xfrm>
            <a:off x="8083296" y="1737360"/>
            <a:ext cx="3566160" cy="3749039"/>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737360"/>
            <a:ext cx="59436" cy="3749039"/>
          </a:xfrm>
          <a:prstGeom prst="rect">
            <a:avLst/>
          </a:prstGeom>
          <a:solidFill>
            <a:srgbClr val="7758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4464" y="1920240"/>
            <a:ext cx="32004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Fibroblasts</a:t>
            </a:r>
          </a:p>
        </p:txBody>
      </p:sp>
      <p:sp>
        <p:nvSpPr>
          <p:cNvPr id="20" name="TextBox 19"/>
          <p:cNvSpPr txBox="1"/>
          <p:nvPr/>
        </p:nvSpPr>
        <p:spPr>
          <a:xfrm>
            <a:off x="8284464" y="2697480"/>
            <a:ext cx="3182112" cy="2651759"/>
          </a:xfrm>
          <a:prstGeom prst="rect">
            <a:avLst/>
          </a:prstGeom>
          <a:noFill/>
        </p:spPr>
        <p:txBody>
          <a:bodyPr wrap="square" lIns="0" rIns="0" tIns="0" bIns="0">
            <a:spAutoFit/>
          </a:bodyPr>
          <a:lstStyle/>
          <a:p>
            <a:pPr>
              <a:spcAft>
                <a:spcPts val="800"/>
              </a:spcAft>
              <a:defRPr sz="2100" b="0">
                <a:solidFill>
                  <a:srgbClr val="243746"/>
                </a:solidFill>
                <a:latin typeface="Arial"/>
              </a:defRPr>
            </a:pPr>
            <a:r>
              <a:t>Postn-associated</a:t>
            </a:r>
          </a:p>
          <a:p>
            <a:pPr>
              <a:spcAft>
                <a:spcPts val="800"/>
              </a:spcAft>
              <a:defRPr sz="2100" b="0">
                <a:solidFill>
                  <a:srgbClr val="243746"/>
                </a:solidFill>
                <a:latin typeface="Arial"/>
              </a:defRPr>
            </a:pPr>
            <a:r>
              <a:t>Gfpt2/Pi16-associated</a:t>
            </a:r>
          </a:p>
          <a:p>
            <a:pPr>
              <a:spcAft>
                <a:spcPts val="800"/>
              </a:spcAft>
              <a:defRPr sz="2100" b="0">
                <a:solidFill>
                  <a:srgbClr val="243746"/>
                </a:solidFill>
                <a:latin typeface="Arial"/>
              </a:defRPr>
            </a:pPr>
            <a:r>
              <a:t>Col8a1-associated</a:t>
            </a:r>
          </a:p>
          <a:p>
            <a:pPr>
              <a:spcAft>
                <a:spcPts val="800"/>
              </a:spcAft>
              <a:defRPr sz="2100" b="0">
                <a:solidFill>
                  <a:srgbClr val="243746"/>
                </a:solidFill>
                <a:latin typeface="Arial"/>
              </a:defRPr>
            </a:pPr>
            <a:r>
              <a:t>Other matrix / adhesion families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MAP CM MATURATION</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Exploratory follow-up</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The 21-gene landscape changes with age</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measured_21gene_panel.tsv; stage_score_summaries.tsv</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10</a:t>
            </a:r>
          </a:p>
        </p:txBody>
      </p:sp>
      <p:pic>
        <p:nvPicPr>
          <p:cNvPr id="9" name="Picture 8" descr="CM21_four_stage_maps.png"/>
          <p:cNvPicPr>
            <a:picLocks noChangeAspect="1"/>
          </p:cNvPicPr>
          <p:nvPr/>
        </p:nvPicPr>
        <p:blipFill>
          <a:blip r:embed="rId2"/>
          <a:stretch>
            <a:fillRect/>
          </a:stretch>
        </p:blipFill>
        <p:spPr>
          <a:xfrm>
            <a:off x="502920" y="2006149"/>
            <a:ext cx="11183112" cy="3257180"/>
          </a:xfrm>
          <a:prstGeom prst="rect">
            <a:avLst/>
          </a:prstGeom>
        </p:spPr>
      </p:pic>
      <p:sp>
        <p:nvSpPr>
          <p:cNvPr id="10" name="Rectangle 9"/>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The same measured 21-gene module is used across ages; the shared color scale shows the index.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MAP CM MATURATION</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Exploratory follow-up</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CMs in the same section have different maturation scores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P7_CM21_extension_values.tsv.gz</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11</a:t>
            </a:r>
          </a:p>
        </p:txBody>
      </p:sp>
      <p:pic>
        <p:nvPicPr>
          <p:cNvPr id="9" name="Picture 8" descr="P7_CM21_capillary_map.png"/>
          <p:cNvPicPr>
            <a:picLocks noChangeAspect="1"/>
          </p:cNvPicPr>
          <p:nvPr/>
        </p:nvPicPr>
        <p:blipFill>
          <a:blip r:embed="rId2"/>
          <a:stretch>
            <a:fillRect/>
          </a:stretch>
        </p:blipFill>
        <p:spPr>
          <a:xfrm>
            <a:off x="1667369" y="1508760"/>
            <a:ext cx="4346220" cy="4315968"/>
          </a:xfrm>
          <a:prstGeom prst="rect">
            <a:avLst/>
          </a:prstGeom>
        </p:spPr>
      </p:pic>
      <p:sp>
        <p:nvSpPr>
          <p:cNvPr id="10" name="Rounded Rectangle 9"/>
          <p:cNvSpPr/>
          <p:nvPr/>
        </p:nvSpPr>
        <p:spPr>
          <a:xfrm>
            <a:off x="7406640" y="1828800"/>
            <a:ext cx="4206240" cy="352044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40" y="1828800"/>
            <a:ext cx="59436" cy="352044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7808" y="2011680"/>
            <a:ext cx="3840479"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Variation within one age</a:t>
            </a:r>
          </a:p>
        </p:txBody>
      </p:sp>
      <p:sp>
        <p:nvSpPr>
          <p:cNvPr id="13" name="TextBox 12"/>
          <p:cNvSpPr txBox="1"/>
          <p:nvPr/>
        </p:nvSpPr>
        <p:spPr>
          <a:xfrm>
            <a:off x="7607808" y="2788920"/>
            <a:ext cx="3822191" cy="2423160"/>
          </a:xfrm>
          <a:prstGeom prst="rect">
            <a:avLst/>
          </a:prstGeom>
          <a:noFill/>
        </p:spPr>
        <p:txBody>
          <a:bodyPr wrap="square" lIns="0" rIns="0" tIns="0" bIns="0">
            <a:spAutoFit/>
          </a:bodyPr>
          <a:lstStyle/>
          <a:p>
            <a:pPr>
              <a:spcAft>
                <a:spcPts val="800"/>
              </a:spcAft>
              <a:defRPr sz="2200" b="0">
                <a:solidFill>
                  <a:srgbClr val="243746"/>
                </a:solidFill>
                <a:latin typeface="Arial"/>
              </a:defRPr>
            </a:pPr>
            <a:r>
              <a:t>P7 lower and higher</a:t>
            </a:r>
          </a:p>
          <a:p>
            <a:pPr>
              <a:spcAft>
                <a:spcPts val="800"/>
              </a:spcAft>
              <a:defRPr sz="2200" b="0">
                <a:solidFill>
                  <a:srgbClr val="243746"/>
                </a:solidFill>
                <a:latin typeface="Arial"/>
              </a:defRPr>
            </a:pPr>
            <a:r>
              <a:t>score quartiles</a:t>
            </a:r>
          </a:p>
          <a:p>
            <a:pPr>
              <a:spcAft>
                <a:spcPts val="800"/>
              </a:spcAft>
              <a:defRPr sz="2200" b="0">
                <a:solidFill>
                  <a:srgbClr val="243746"/>
                </a:solidFill>
                <a:latin typeface="Arial"/>
              </a:defRPr>
            </a:pPr>
          </a:p>
          <a:p>
            <a:pPr>
              <a:spcAft>
                <a:spcPts val="800"/>
              </a:spcAft>
              <a:defRPr sz="2200" b="0">
                <a:solidFill>
                  <a:srgbClr val="243746"/>
                </a:solidFill>
                <a:latin typeface="Arial"/>
              </a:defRPr>
            </a:pPr>
            <a:r>
              <a:t>Relative transcriptional states</a:t>
            </a:r>
          </a:p>
          <a:p>
            <a:pPr>
              <a:spcAft>
                <a:spcPts val="800"/>
              </a:spcAft>
              <a:defRPr sz="2200" b="0">
                <a:solidFill>
                  <a:srgbClr val="243746"/>
                </a:solidFill>
                <a:latin typeface="Arial"/>
              </a:defRPr>
            </a:pPr>
            <a:r>
              <a:t>within the same section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MAP CM MATURATION</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Robustness analysis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The score is stable to individual-gene omission</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score_stability.tsv; source_label_sensitivity.tsv</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12</a:t>
            </a:r>
          </a:p>
        </p:txBody>
      </p:sp>
      <p:pic>
        <p:nvPicPr>
          <p:cNvPr id="9" name="Picture 8" descr="score_gene_and_control_stability.png"/>
          <p:cNvPicPr>
            <a:picLocks noChangeAspect="1"/>
          </p:cNvPicPr>
          <p:nvPr/>
        </p:nvPicPr>
        <p:blipFill>
          <a:blip r:embed="rId2"/>
          <a:stretch>
            <a:fillRect/>
          </a:stretch>
        </p:blipFill>
        <p:spPr>
          <a:xfrm>
            <a:off x="2037518" y="1737359"/>
            <a:ext cx="8132202" cy="3611880"/>
          </a:xfrm>
          <a:prstGeom prst="rect">
            <a:avLst/>
          </a:prstGeom>
        </p:spPr>
      </p:pic>
      <p:sp>
        <p:nvSpPr>
          <p:cNvPr id="10" name="Rectangle 9"/>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Stable to individual genes and control draws; transcript ownership and source labels remain uncertain.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VASCULAR CONTEXT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literature</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Coronary growth is regional and begins before birth</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Lu et al. Nature Cell Biology 23, 967–977 (2021); doi:10.1038/s41556-021-00747-1; Figure 3 and Results</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13</a:t>
            </a:r>
          </a:p>
        </p:txBody>
      </p:sp>
      <p:pic>
        <p:nvPicPr>
          <p:cNvPr id="9" name="Picture 8" descr="Lu2021_coronary_expansion.png"/>
          <p:cNvPicPr>
            <a:picLocks noChangeAspect="1"/>
          </p:cNvPicPr>
          <p:nvPr/>
        </p:nvPicPr>
        <p:blipFill>
          <a:blip r:embed="rId2"/>
          <a:stretch>
            <a:fillRect/>
          </a:stretch>
        </p:blipFill>
        <p:spPr>
          <a:xfrm>
            <a:off x="1526384" y="1645920"/>
            <a:ext cx="5771190" cy="3566160"/>
          </a:xfrm>
          <a:prstGeom prst="rect">
            <a:avLst/>
          </a:prstGeom>
        </p:spPr>
      </p:pic>
      <p:pic>
        <p:nvPicPr>
          <p:cNvPr id="10" name="Picture 9" descr="Lu2021_inner_outer_density.png"/>
          <p:cNvPicPr>
            <a:picLocks noChangeAspect="1"/>
          </p:cNvPicPr>
          <p:nvPr/>
        </p:nvPicPr>
        <p:blipFill>
          <a:blip r:embed="rId3"/>
          <a:stretch>
            <a:fillRect/>
          </a:stretch>
        </p:blipFill>
        <p:spPr>
          <a:xfrm>
            <a:off x="8412480" y="1904012"/>
            <a:ext cx="3154680" cy="2135575"/>
          </a:xfrm>
          <a:prstGeom prst="rect">
            <a:avLst/>
          </a:prstGeom>
        </p:spPr>
      </p:pic>
      <p:sp>
        <p:nvSpPr>
          <p:cNvPr id="11" name="TextBox 10"/>
          <p:cNvSpPr txBox="1"/>
          <p:nvPr/>
        </p:nvSpPr>
        <p:spPr>
          <a:xfrm>
            <a:off x="8366760" y="4206240"/>
            <a:ext cx="3200400" cy="1371600"/>
          </a:xfrm>
          <a:prstGeom prst="rect">
            <a:avLst/>
          </a:prstGeom>
          <a:noFill/>
        </p:spPr>
        <p:txBody>
          <a:bodyPr wrap="square" lIns="0" rIns="0" tIns="0" bIns="0">
            <a:spAutoFit/>
          </a:bodyPr>
          <a:lstStyle/>
          <a:p>
            <a:pPr>
              <a:spcAft>
                <a:spcPts val="800"/>
              </a:spcAft>
              <a:defRPr sz="2000" b="1">
                <a:solidFill>
                  <a:srgbClr val="208B8C"/>
                </a:solidFill>
                <a:latin typeface="Arial"/>
              </a:defRPr>
            </a:pPr>
            <a:r>
              <a:t>Inner-wall vessel density</a:t>
            </a:r>
          </a:p>
          <a:p>
            <a:pPr>
              <a:spcAft>
                <a:spcPts val="800"/>
              </a:spcAft>
              <a:defRPr sz="2000" b="1">
                <a:solidFill>
                  <a:srgbClr val="208B8C"/>
                </a:solidFill>
                <a:latin typeface="Arial"/>
              </a:defRPr>
            </a:pPr>
            <a:r>
              <a:t>approaches outer-wall</a:t>
            </a:r>
          </a:p>
          <a:p>
            <a:pPr>
              <a:spcAft>
                <a:spcPts val="800"/>
              </a:spcAft>
              <a:defRPr sz="2000" b="1">
                <a:solidFill>
                  <a:srgbClr val="208B8C"/>
                </a:solidFill>
                <a:latin typeface="Arial"/>
              </a:defRPr>
            </a:pPr>
            <a:r>
              <a:t>density by P7</a:t>
            </a:r>
          </a:p>
        </p:txBody>
      </p:sp>
      <p:sp>
        <p:nvSpPr>
          <p:cNvPr id="12" name="Rectangle 11"/>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Pre-existing coronary vessels expand into growing inner myocardium; the process begins before birth.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VASCULAR CONTEXT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Developmental interpretation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Vascular expansion and CM maturation can overlap</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Lu et al. Nature Cell Biology 23, 967–977 (2021); doi:10.1038/s41556-021-00747-1; Wang et al., Nature Cardiovascular Research (2026)</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14</a:t>
            </a:r>
          </a:p>
        </p:txBody>
      </p:sp>
      <p:sp>
        <p:nvSpPr>
          <p:cNvPr id="9" name="Rounded Rectangle 8"/>
          <p:cNvSpPr/>
          <p:nvPr/>
        </p:nvSpPr>
        <p:spPr>
          <a:xfrm>
            <a:off x="594360" y="1828800"/>
            <a:ext cx="3520440" cy="329184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828800"/>
            <a:ext cx="59436" cy="329184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1168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Late fetal → P0</a:t>
            </a:r>
          </a:p>
        </p:txBody>
      </p:sp>
      <p:sp>
        <p:nvSpPr>
          <p:cNvPr id="12" name="TextBox 11"/>
          <p:cNvSpPr txBox="1"/>
          <p:nvPr/>
        </p:nvSpPr>
        <p:spPr>
          <a:xfrm>
            <a:off x="795528" y="2788920"/>
            <a:ext cx="3136392" cy="2194560"/>
          </a:xfrm>
          <a:prstGeom prst="rect">
            <a:avLst/>
          </a:prstGeom>
          <a:noFill/>
        </p:spPr>
        <p:txBody>
          <a:bodyPr wrap="square" lIns="0" rIns="0" tIns="0" bIns="0">
            <a:spAutoFit/>
          </a:bodyPr>
          <a:lstStyle/>
          <a:p>
            <a:pPr>
              <a:spcAft>
                <a:spcPts val="800"/>
              </a:spcAft>
              <a:defRPr sz="2300" b="0">
                <a:solidFill>
                  <a:srgbClr val="243746"/>
                </a:solidFill>
                <a:latin typeface="Arial"/>
              </a:defRPr>
            </a:pPr>
            <a:r>
              <a:t>Regional coronary</a:t>
            </a:r>
          </a:p>
          <a:p>
            <a:pPr>
              <a:spcAft>
                <a:spcPts val="800"/>
              </a:spcAft>
              <a:defRPr sz="2300" b="0">
                <a:solidFill>
                  <a:srgbClr val="243746"/>
                </a:solidFill>
                <a:latin typeface="Arial"/>
              </a:defRPr>
            </a:pPr>
            <a:r>
              <a:t>ingrowth is underway</a:t>
            </a:r>
          </a:p>
        </p:txBody>
      </p:sp>
      <p:cxnSp>
        <p:nvCxnSpPr>
          <p:cNvPr id="13" name="Connector 12"/>
          <p:cNvCxnSpPr/>
          <p:nvPr/>
        </p:nvCxnSpPr>
        <p:spPr>
          <a:xfrm>
            <a:off x="4169664" y="3474720"/>
            <a:ext cx="173736" cy="0"/>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89120" y="1828800"/>
            <a:ext cx="3520440" cy="329184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828800"/>
            <a:ext cx="59436" cy="329184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201168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P0 → P7</a:t>
            </a:r>
          </a:p>
        </p:txBody>
      </p:sp>
      <p:sp>
        <p:nvSpPr>
          <p:cNvPr id="17" name="TextBox 16"/>
          <p:cNvSpPr txBox="1"/>
          <p:nvPr/>
        </p:nvSpPr>
        <p:spPr>
          <a:xfrm>
            <a:off x="4590288" y="2788920"/>
            <a:ext cx="3136392" cy="2194560"/>
          </a:xfrm>
          <a:prstGeom prst="rect">
            <a:avLst/>
          </a:prstGeom>
          <a:noFill/>
        </p:spPr>
        <p:txBody>
          <a:bodyPr wrap="square" lIns="0" rIns="0" tIns="0" bIns="0">
            <a:spAutoFit/>
          </a:bodyPr>
          <a:lstStyle/>
          <a:p>
            <a:pPr>
              <a:spcAft>
                <a:spcPts val="800"/>
              </a:spcAft>
              <a:defRPr sz="2300" b="0">
                <a:solidFill>
                  <a:srgbClr val="243746"/>
                </a:solidFill>
                <a:latin typeface="Arial"/>
              </a:defRPr>
            </a:pPr>
            <a:r>
              <a:t>Vascular expansion</a:t>
            </a:r>
          </a:p>
          <a:p>
            <a:pPr>
              <a:spcAft>
                <a:spcPts val="800"/>
              </a:spcAft>
              <a:defRPr sz="2300" b="0">
                <a:solidFill>
                  <a:srgbClr val="243746"/>
                </a:solidFill>
                <a:latin typeface="Arial"/>
              </a:defRPr>
            </a:pPr>
            <a:r>
              <a:t>and muscle growth overlap</a:t>
            </a:r>
          </a:p>
        </p:txBody>
      </p:sp>
      <p:cxnSp>
        <p:nvCxnSpPr>
          <p:cNvPr id="18" name="Connector 17"/>
          <p:cNvCxnSpPr/>
          <p:nvPr/>
        </p:nvCxnSpPr>
        <p:spPr>
          <a:xfrm>
            <a:off x="7964424" y="3474720"/>
            <a:ext cx="173736" cy="0"/>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183880" y="1828800"/>
            <a:ext cx="3520440" cy="329184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83880" y="1828800"/>
            <a:ext cx="59436" cy="3291840"/>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5048" y="201168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P7 → P21</a:t>
            </a:r>
          </a:p>
        </p:txBody>
      </p:sp>
      <p:sp>
        <p:nvSpPr>
          <p:cNvPr id="22" name="TextBox 21"/>
          <p:cNvSpPr txBox="1"/>
          <p:nvPr/>
        </p:nvSpPr>
        <p:spPr>
          <a:xfrm>
            <a:off x="8385048" y="2788920"/>
            <a:ext cx="3136392" cy="2194560"/>
          </a:xfrm>
          <a:prstGeom prst="rect">
            <a:avLst/>
          </a:prstGeom>
          <a:noFill/>
        </p:spPr>
        <p:txBody>
          <a:bodyPr wrap="square" lIns="0" rIns="0" tIns="0" bIns="0">
            <a:spAutoFit/>
          </a:bodyPr>
          <a:lstStyle/>
          <a:p>
            <a:pPr>
              <a:spcAft>
                <a:spcPts val="800"/>
              </a:spcAft>
              <a:defRPr sz="2300" b="0">
                <a:solidFill>
                  <a:srgbClr val="243746"/>
                </a:solidFill>
                <a:latin typeface="Arial"/>
              </a:defRPr>
            </a:pPr>
            <a:r>
              <a:t>CM specialization continues</a:t>
            </a:r>
          </a:p>
          <a:p>
            <a:pPr>
              <a:spcAft>
                <a:spcPts val="800"/>
              </a:spcAft>
              <a:defRPr sz="2300" b="0">
                <a:solidFill>
                  <a:srgbClr val="243746"/>
                </a:solidFill>
                <a:latin typeface="Arial"/>
              </a:defRPr>
            </a:pPr>
            <a:r>
              <a:t>as vascular context changes</a:t>
            </a:r>
          </a:p>
        </p:txBody>
      </p:sp>
      <p:sp>
        <p:nvSpPr>
          <p:cNvPr id="23" name="Rectangle 22"/>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Schematic developmental framework: vessel growth is not a direct measurement of vascular delivery.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VASCULAR CONTEXT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Exploratory association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At P7, higher-scoring CMs are closer to capillary ECs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raw_vascular_comparisons.tsv; primary_vascular_results.tsv</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15</a:t>
            </a:r>
          </a:p>
        </p:txBody>
      </p:sp>
      <p:pic>
        <p:nvPicPr>
          <p:cNvPr id="9" name="Picture 8" descr="P7_CM21_capillary_map.png"/>
          <p:cNvPicPr>
            <a:picLocks noChangeAspect="1"/>
          </p:cNvPicPr>
          <p:nvPr/>
        </p:nvPicPr>
        <p:blipFill>
          <a:blip r:embed="rId2"/>
          <a:stretch>
            <a:fillRect/>
          </a:stretch>
        </p:blipFill>
        <p:spPr>
          <a:xfrm>
            <a:off x="1402258" y="1508760"/>
            <a:ext cx="4327803" cy="4297680"/>
          </a:xfrm>
          <a:prstGeom prst="rect">
            <a:avLst/>
          </a:prstGeom>
        </p:spPr>
      </p:pic>
      <p:pic>
        <p:nvPicPr>
          <p:cNvPr id="10" name="Picture 9" descr="P7_high_low_capillary_distance.png"/>
          <p:cNvPicPr>
            <a:picLocks noChangeAspect="1"/>
          </p:cNvPicPr>
          <p:nvPr/>
        </p:nvPicPr>
        <p:blipFill>
          <a:blip r:embed="rId3"/>
          <a:stretch>
            <a:fillRect/>
          </a:stretch>
        </p:blipFill>
        <p:spPr>
          <a:xfrm>
            <a:off x="6984967" y="1645920"/>
            <a:ext cx="4363785" cy="3794760"/>
          </a:xfrm>
          <a:prstGeom prst="rect">
            <a:avLst/>
          </a:prstGeom>
        </p:spPr>
      </p:pic>
      <p:sp>
        <p:nvSpPr>
          <p:cNvPr id="11" name="Rectangle 10"/>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P7: positive individual-CM and locally adjusted associations; small effects in one observed section.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VASCULAR CONTEXT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Exploratory geometry comparisons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Nearness and boundary apposition give complementary evidence</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primary_vascular_results.tsv; source_label_sensitivity.tsv</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16</a:t>
            </a:r>
          </a:p>
        </p:txBody>
      </p:sp>
      <p:pic>
        <p:nvPicPr>
          <p:cNvPr id="9" name="Picture 8" descr="capillary_three_metrics.png"/>
          <p:cNvPicPr>
            <a:picLocks noChangeAspect="1"/>
          </p:cNvPicPr>
          <p:nvPr/>
        </p:nvPicPr>
        <p:blipFill>
          <a:blip r:embed="rId2"/>
          <a:stretch>
            <a:fillRect/>
          </a:stretch>
        </p:blipFill>
        <p:spPr>
          <a:xfrm>
            <a:off x="918254" y="1691640"/>
            <a:ext cx="10370731" cy="3886200"/>
          </a:xfrm>
          <a:prstGeom prst="rect">
            <a:avLst/>
          </a:prstGeom>
        </p:spPr>
      </p:pic>
      <p:sp>
        <p:nvSpPr>
          <p:cNvPr id="10" name="Rectangle 9"/>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P7: all three metrics pass correction. P14: nearness and apposition pass; annotation sensitivity remains.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VASCULAR CONTEXT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Analysis design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Local comparisons reduce a shared-anatomy explanation</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analysis_settings.json; spatial_models.tsv</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17</a:t>
            </a:r>
          </a:p>
        </p:txBody>
      </p:sp>
      <p:sp>
        <p:nvSpPr>
          <p:cNvPr id="9" name="Rounded Rectangle 8"/>
          <p:cNvSpPr/>
          <p:nvPr/>
        </p:nvSpPr>
        <p:spPr>
          <a:xfrm>
            <a:off x="594360" y="1828800"/>
            <a:ext cx="352044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828800"/>
            <a:ext cx="59436" cy="347472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1168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Comparable CMs</a:t>
            </a:r>
          </a:p>
        </p:txBody>
      </p:sp>
      <p:sp>
        <p:nvSpPr>
          <p:cNvPr id="12" name="TextBox 11"/>
          <p:cNvSpPr txBox="1"/>
          <p:nvPr/>
        </p:nvSpPr>
        <p:spPr>
          <a:xfrm>
            <a:off x="795528" y="2788920"/>
            <a:ext cx="3136392" cy="2377439"/>
          </a:xfrm>
          <a:prstGeom prst="rect">
            <a:avLst/>
          </a:prstGeom>
          <a:noFill/>
        </p:spPr>
        <p:txBody>
          <a:bodyPr wrap="square" lIns="0" rIns="0" tIns="0" bIns="0">
            <a:spAutoFit/>
          </a:bodyPr>
          <a:lstStyle/>
          <a:p>
            <a:pPr>
              <a:spcAft>
                <a:spcPts val="800"/>
              </a:spcAft>
              <a:defRPr sz="2200" b="0">
                <a:solidFill>
                  <a:srgbClr val="243746"/>
                </a:solidFill>
                <a:latin typeface="Arial"/>
              </a:defRPr>
            </a:pPr>
            <a:r>
              <a:t>Same stage</a:t>
            </a:r>
          </a:p>
          <a:p>
            <a:pPr>
              <a:spcAft>
                <a:spcPts val="800"/>
              </a:spcAft>
              <a:defRPr sz="2200" b="0">
                <a:solidFill>
                  <a:srgbClr val="243746"/>
                </a:solidFill>
                <a:latin typeface="Arial"/>
              </a:defRPr>
            </a:pPr>
            <a:r>
              <a:t>Same available CM subtype</a:t>
            </a:r>
          </a:p>
        </p:txBody>
      </p:sp>
      <p:sp>
        <p:nvSpPr>
          <p:cNvPr id="13" name="Rounded Rectangle 12"/>
          <p:cNvSpPr/>
          <p:nvPr/>
        </p:nvSpPr>
        <p:spPr>
          <a:xfrm>
            <a:off x="4389120" y="1828800"/>
            <a:ext cx="352044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828800"/>
            <a:ext cx="59436" cy="347472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01168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Comparable local tissue</a:t>
            </a:r>
          </a:p>
        </p:txBody>
      </p:sp>
      <p:sp>
        <p:nvSpPr>
          <p:cNvPr id="16" name="TextBox 15"/>
          <p:cNvSpPr txBox="1"/>
          <p:nvPr/>
        </p:nvSpPr>
        <p:spPr>
          <a:xfrm>
            <a:off x="4590288" y="2788920"/>
            <a:ext cx="3136392" cy="2377439"/>
          </a:xfrm>
          <a:prstGeom prst="rect">
            <a:avLst/>
          </a:prstGeom>
          <a:noFill/>
        </p:spPr>
        <p:txBody>
          <a:bodyPr wrap="square" lIns="0" rIns="0" tIns="0" bIns="0">
            <a:spAutoFit/>
          </a:bodyPr>
          <a:lstStyle/>
          <a:p>
            <a:pPr>
              <a:spcAft>
                <a:spcPts val="800"/>
              </a:spcAft>
              <a:defRPr sz="2200" b="0">
                <a:solidFill>
                  <a:srgbClr val="243746"/>
                </a:solidFill>
                <a:latin typeface="Arial"/>
              </a:defRPr>
            </a:pPr>
            <a:r>
              <a:t>Within nearby regions</a:t>
            </a:r>
          </a:p>
          <a:p>
            <a:pPr>
              <a:spcAft>
                <a:spcPts val="800"/>
              </a:spcAft>
              <a:defRPr sz="2200" b="0">
                <a:solidFill>
                  <a:srgbClr val="243746"/>
                </a:solidFill>
                <a:latin typeface="Arial"/>
              </a:defRPr>
            </a:pPr>
            <a:r>
              <a:t>No anatomical exclusion</a:t>
            </a:r>
          </a:p>
        </p:txBody>
      </p:sp>
      <p:sp>
        <p:nvSpPr>
          <p:cNvPr id="17" name="Rounded Rectangle 16"/>
          <p:cNvSpPr/>
          <p:nvPr/>
        </p:nvSpPr>
        <p:spPr>
          <a:xfrm>
            <a:off x="8183880" y="1828800"/>
            <a:ext cx="352044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80" y="1828800"/>
            <a:ext cx="59436" cy="3474720"/>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5048" y="201168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Technical context</a:t>
            </a:r>
          </a:p>
        </p:txBody>
      </p:sp>
      <p:sp>
        <p:nvSpPr>
          <p:cNvPr id="20" name="TextBox 19"/>
          <p:cNvSpPr txBox="1"/>
          <p:nvPr/>
        </p:nvSpPr>
        <p:spPr>
          <a:xfrm>
            <a:off x="8385048" y="2788920"/>
            <a:ext cx="3136392" cy="2377439"/>
          </a:xfrm>
          <a:prstGeom prst="rect">
            <a:avLst/>
          </a:prstGeom>
          <a:noFill/>
        </p:spPr>
        <p:txBody>
          <a:bodyPr wrap="square" lIns="0" rIns="0" tIns="0" bIns="0">
            <a:spAutoFit/>
          </a:bodyPr>
          <a:lstStyle/>
          <a:p>
            <a:pPr>
              <a:spcAft>
                <a:spcPts val="800"/>
              </a:spcAft>
              <a:defRPr sz="2200" b="0">
                <a:solidFill>
                  <a:srgbClr val="243746"/>
                </a:solidFill>
                <a:latin typeface="Arial"/>
              </a:defRPr>
            </a:pPr>
            <a:r>
              <a:t>RNA capture and cell size</a:t>
            </a:r>
          </a:p>
          <a:p>
            <a:pPr>
              <a:spcAft>
                <a:spcPts val="800"/>
              </a:spcAft>
              <a:defRPr sz="2200" b="0">
                <a:solidFill>
                  <a:srgbClr val="243746"/>
                </a:solidFill>
                <a:latin typeface="Arial"/>
              </a:defRPr>
            </a:pPr>
            <a:r>
              <a:t>Nucleus-free CMs retained</a:t>
            </a:r>
          </a:p>
        </p:txBody>
      </p:sp>
      <p:sp>
        <p:nvSpPr>
          <p:cNvPr id="21" name="Rectangle 20"/>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These comparisons reduce regional confounding; exact author anatomical masks remain unavailable.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MATRIX CONTEXT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Reviewed snRNA-seq reference</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Fibroblast families change as the ventricle develops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fibroblast_subtype_catalog/reviewed_family_nucleus_counts.tsv; Hortells et al. PNAS (2020); doi:10.1073/pnas.2009119117; PMID:32817558</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18</a:t>
            </a:r>
          </a:p>
        </p:txBody>
      </p:sp>
      <p:pic>
        <p:nvPicPr>
          <p:cNvPr id="9" name="Picture 8" descr="fibroblast_reference_families.png"/>
          <p:cNvPicPr>
            <a:picLocks noChangeAspect="1"/>
          </p:cNvPicPr>
          <p:nvPr/>
        </p:nvPicPr>
        <p:blipFill>
          <a:blip r:embed="rId2"/>
          <a:stretch>
            <a:fillRect/>
          </a:stretch>
        </p:blipFill>
        <p:spPr>
          <a:xfrm>
            <a:off x="949271" y="1645920"/>
            <a:ext cx="6696817" cy="3977639"/>
          </a:xfrm>
          <a:prstGeom prst="rect">
            <a:avLst/>
          </a:prstGeom>
        </p:spPr>
      </p:pic>
      <p:sp>
        <p:nvSpPr>
          <p:cNvPr id="10" name="TextBox 9"/>
          <p:cNvSpPr txBox="1"/>
          <p:nvPr/>
        </p:nvSpPr>
        <p:spPr>
          <a:xfrm>
            <a:off x="8321040" y="2011680"/>
            <a:ext cx="3246120" cy="2560320"/>
          </a:xfrm>
          <a:prstGeom prst="rect">
            <a:avLst/>
          </a:prstGeom>
          <a:noFill/>
        </p:spPr>
        <p:txBody>
          <a:bodyPr wrap="square" lIns="0" rIns="0" tIns="0" bIns="0">
            <a:spAutoFit/>
          </a:bodyPr>
          <a:lstStyle/>
          <a:p>
            <a:pPr>
              <a:spcAft>
                <a:spcPts val="800"/>
              </a:spcAft>
              <a:defRPr sz="2400" b="1">
                <a:solidFill>
                  <a:srgbClr val="173A53"/>
                </a:solidFill>
                <a:latin typeface="Arial"/>
              </a:defRPr>
            </a:pPr>
            <a:r>
              <a:t>Early developmental</a:t>
            </a:r>
          </a:p>
          <a:p>
            <a:pPr>
              <a:spcAft>
                <a:spcPts val="800"/>
              </a:spcAft>
              <a:defRPr sz="2400" b="1">
                <a:solidFill>
                  <a:srgbClr val="173A53"/>
                </a:solidFill>
                <a:latin typeface="Arial"/>
              </a:defRPr>
            </a:pPr>
            <a:r>
              <a:t>matrix programs</a:t>
            </a:r>
          </a:p>
          <a:p>
            <a:pPr>
              <a:spcAft>
                <a:spcPts val="800"/>
              </a:spcAft>
              <a:defRPr sz="2400" b="1">
                <a:solidFill>
                  <a:srgbClr val="173A53"/>
                </a:solidFill>
                <a:latin typeface="Arial"/>
              </a:defRPr>
            </a:pPr>
          </a:p>
          <a:p>
            <a:pPr>
              <a:spcAft>
                <a:spcPts val="800"/>
              </a:spcAft>
              <a:defRPr sz="2400" b="1">
                <a:solidFill>
                  <a:srgbClr val="173A53"/>
                </a:solidFill>
                <a:latin typeface="Arial"/>
              </a:defRPr>
            </a:pPr>
            <a:r>
              <a:t>Later matrix-associated</a:t>
            </a:r>
          </a:p>
          <a:p>
            <a:pPr>
              <a:spcAft>
                <a:spcPts val="800"/>
              </a:spcAft>
              <a:defRPr sz="2400" b="1">
                <a:solidFill>
                  <a:srgbClr val="173A53"/>
                </a:solidFill>
                <a:latin typeface="Arial"/>
              </a:defRPr>
            </a:pPr>
            <a:r>
              <a:t>specialization</a:t>
            </a:r>
          </a:p>
        </p:txBody>
      </p:sp>
      <p:sp>
        <p:nvSpPr>
          <p:cNvPr id="11" name="Rectangle 10"/>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Reference-nucleus shares are descriptive; changing family labels do not establish cell fate or disappearance.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MATRIX CONTEXT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RNA-supported specialization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Late fibroblast families emphasize different matrix programs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fibroblast_states/RNA_matrix_direct_family_pairs.tsv; P14 corrected comparisons</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19</a:t>
            </a:r>
          </a:p>
        </p:txBody>
      </p:sp>
      <p:pic>
        <p:nvPicPr>
          <p:cNvPr id="9" name="Picture 8" descr="P14_fibroblast_matrix_comparison.png"/>
          <p:cNvPicPr>
            <a:picLocks noChangeAspect="1"/>
          </p:cNvPicPr>
          <p:nvPr/>
        </p:nvPicPr>
        <p:blipFill>
          <a:blip r:embed="rId2"/>
          <a:stretch>
            <a:fillRect/>
          </a:stretch>
        </p:blipFill>
        <p:spPr>
          <a:xfrm>
            <a:off x="935181" y="1737360"/>
            <a:ext cx="7273636" cy="3840480"/>
          </a:xfrm>
          <a:prstGeom prst="rect">
            <a:avLst/>
          </a:prstGeom>
        </p:spPr>
      </p:pic>
      <p:sp>
        <p:nvSpPr>
          <p:cNvPr id="10" name="TextBox 9"/>
          <p:cNvSpPr txBox="1"/>
          <p:nvPr/>
        </p:nvSpPr>
        <p:spPr>
          <a:xfrm>
            <a:off x="8732520" y="1965960"/>
            <a:ext cx="2788920" cy="1371600"/>
          </a:xfrm>
          <a:prstGeom prst="rect">
            <a:avLst/>
          </a:prstGeom>
          <a:noFill/>
        </p:spPr>
        <p:txBody>
          <a:bodyPr wrap="square" lIns="0" rIns="0" tIns="0" bIns="0">
            <a:spAutoFit/>
          </a:bodyPr>
          <a:lstStyle/>
          <a:p>
            <a:pPr>
              <a:spcAft>
                <a:spcPts val="800"/>
              </a:spcAft>
              <a:defRPr sz="2100" b="1">
                <a:solidFill>
                  <a:srgbClr val="7758A4"/>
                </a:solidFill>
                <a:latin typeface="Arial"/>
              </a:defRPr>
            </a:pPr>
            <a:r>
              <a:t>Col8a1 family</a:t>
            </a:r>
          </a:p>
          <a:p>
            <a:pPr>
              <a:spcAft>
                <a:spcPts val="800"/>
              </a:spcAft>
              <a:defRPr sz="2100" b="1">
                <a:solidFill>
                  <a:srgbClr val="7758A4"/>
                </a:solidFill>
                <a:latin typeface="Arial"/>
              </a:defRPr>
            </a:pPr>
            <a:r>
              <a:t>Basement-membrane</a:t>
            </a:r>
          </a:p>
          <a:p>
            <a:pPr>
              <a:spcAft>
                <a:spcPts val="800"/>
              </a:spcAft>
              <a:defRPr sz="2100" b="1">
                <a:solidFill>
                  <a:srgbClr val="7758A4"/>
                </a:solidFill>
                <a:latin typeface="Arial"/>
              </a:defRPr>
            </a:pPr>
            <a:r>
              <a:t>RNA relatively higher</a:t>
            </a:r>
          </a:p>
        </p:txBody>
      </p:sp>
      <p:sp>
        <p:nvSpPr>
          <p:cNvPr id="11" name="TextBox 10"/>
          <p:cNvSpPr txBox="1"/>
          <p:nvPr/>
        </p:nvSpPr>
        <p:spPr>
          <a:xfrm>
            <a:off x="8732520" y="3703320"/>
            <a:ext cx="2788920" cy="1371600"/>
          </a:xfrm>
          <a:prstGeom prst="rect">
            <a:avLst/>
          </a:prstGeom>
          <a:noFill/>
        </p:spPr>
        <p:txBody>
          <a:bodyPr wrap="square" lIns="0" rIns="0" tIns="0" bIns="0">
            <a:spAutoFit/>
          </a:bodyPr>
          <a:lstStyle/>
          <a:p>
            <a:pPr>
              <a:spcAft>
                <a:spcPts val="800"/>
              </a:spcAft>
              <a:defRPr sz="2100" b="1">
                <a:solidFill>
                  <a:srgbClr val="208B8C"/>
                </a:solidFill>
                <a:latin typeface="Arial"/>
              </a:defRPr>
            </a:pPr>
            <a:r>
              <a:t>Gfpt2/Pi16 family</a:t>
            </a:r>
          </a:p>
          <a:p>
            <a:pPr>
              <a:spcAft>
                <a:spcPts val="800"/>
              </a:spcAft>
              <a:defRPr sz="2100" b="1">
                <a:solidFill>
                  <a:srgbClr val="208B8C"/>
                </a:solidFill>
                <a:latin typeface="Arial"/>
              </a:defRPr>
            </a:pPr>
            <a:r>
              <a:t>Fibronectin / elastic</a:t>
            </a:r>
          </a:p>
          <a:p>
            <a:pPr>
              <a:spcAft>
                <a:spcPts val="800"/>
              </a:spcAft>
              <a:defRPr sz="2100" b="1">
                <a:solidFill>
                  <a:srgbClr val="208B8C"/>
                </a:solidFill>
                <a:latin typeface="Arial"/>
              </a:defRPr>
            </a:pPr>
            <a:r>
              <a:t>programs relatively higher</a:t>
            </a:r>
          </a:p>
        </p:txBody>
      </p:sp>
      <p:sp>
        <p:nvSpPr>
          <p:cNvPr id="12" name="Rectangle 11"/>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P14 paired libraries: RNA specialization suggests matrix roles; deposited matrix and mechanics are unmeasured.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MATRIX CONTEXT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Candidate spatial assignments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Fibroblast families occupy different spatial territories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fibroblast_multimethod_identity/P14 and P21 recommended_candidate layers</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20</a:t>
            </a:r>
          </a:p>
        </p:txBody>
      </p:sp>
      <p:pic>
        <p:nvPicPr>
          <p:cNvPr id="9" name="Picture 8" descr="late_fibroblast_spatial_maps.png"/>
          <p:cNvPicPr>
            <a:picLocks noChangeAspect="1"/>
          </p:cNvPicPr>
          <p:nvPr/>
        </p:nvPicPr>
        <p:blipFill>
          <a:blip r:embed="rId2"/>
          <a:stretch>
            <a:fillRect/>
          </a:stretch>
        </p:blipFill>
        <p:spPr>
          <a:xfrm>
            <a:off x="2511083" y="1600200"/>
            <a:ext cx="7185073" cy="4114800"/>
          </a:xfrm>
          <a:prstGeom prst="rect">
            <a:avLst/>
          </a:prstGeom>
        </p:spPr>
      </p:pic>
      <p:sp>
        <p:nvSpPr>
          <p:cNvPr id="10" name="Rectangle 9"/>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Candidate labels; unresolved profiles remain visible. P21 Gfpt2 placement is particularly incomplete.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MATRIX CONTEXT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Exploratory 21-gene associations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The maturation relationship depends on the neighboring subtype</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primary_nonCM_results.tsv; nonCM_score_and_segmentation_robustness.tsv</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21</a:t>
            </a:r>
          </a:p>
        </p:txBody>
      </p:sp>
      <p:pic>
        <p:nvPicPr>
          <p:cNvPr id="9" name="Picture 8" descr="selected_nonCM_subtype_associations.png"/>
          <p:cNvPicPr>
            <a:picLocks noChangeAspect="1"/>
          </p:cNvPicPr>
          <p:nvPr/>
        </p:nvPicPr>
        <p:blipFill>
          <a:blip r:embed="rId2"/>
          <a:stretch>
            <a:fillRect/>
          </a:stretch>
        </p:blipFill>
        <p:spPr>
          <a:xfrm>
            <a:off x="956395" y="1691640"/>
            <a:ext cx="10294449" cy="3886200"/>
          </a:xfrm>
          <a:prstGeom prst="rect">
            <a:avLst/>
          </a:prstGeom>
        </p:spPr>
      </p:pic>
      <p:sp>
        <p:nvSpPr>
          <p:cNvPr id="10" name="Rectangle 9"/>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Whole-cell (blue) and boundary-supported RNA (gold): associations do not establish promotion or inhibition.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THE MATRIX CONTEXT</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Exploratory test; inconclusive interaction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A vascular–matrix interaction remains a hypothesis to test</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primary_fibroblast_context_results.tsv</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22</a:t>
            </a:r>
          </a:p>
        </p:txBody>
      </p:sp>
      <p:pic>
        <p:nvPicPr>
          <p:cNvPr id="9" name="Picture 8" descr="fibroblast_capillary_interactions.png"/>
          <p:cNvPicPr>
            <a:picLocks noChangeAspect="1"/>
          </p:cNvPicPr>
          <p:nvPr/>
        </p:nvPicPr>
        <p:blipFill>
          <a:blip r:embed="rId2"/>
          <a:stretch>
            <a:fillRect/>
          </a:stretch>
        </p:blipFill>
        <p:spPr>
          <a:xfrm>
            <a:off x="782770" y="1737360"/>
            <a:ext cx="7121258" cy="3977639"/>
          </a:xfrm>
          <a:prstGeom prst="rect">
            <a:avLst/>
          </a:prstGeom>
        </p:spPr>
      </p:pic>
      <p:sp>
        <p:nvSpPr>
          <p:cNvPr id="10" name="Rounded Rectangle 9"/>
          <p:cNvSpPr/>
          <p:nvPr/>
        </p:nvSpPr>
        <p:spPr>
          <a:xfrm>
            <a:off x="8412480" y="1965960"/>
            <a:ext cx="3154680" cy="33375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412480" y="1965960"/>
            <a:ext cx="59436" cy="3337560"/>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13648" y="2148840"/>
            <a:ext cx="278892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No corrected interaction</a:t>
            </a:r>
          </a:p>
        </p:txBody>
      </p:sp>
      <p:sp>
        <p:nvSpPr>
          <p:cNvPr id="13" name="TextBox 12"/>
          <p:cNvSpPr txBox="1"/>
          <p:nvPr/>
        </p:nvSpPr>
        <p:spPr>
          <a:xfrm>
            <a:off x="8613648" y="2926080"/>
            <a:ext cx="2770632" cy="2240280"/>
          </a:xfrm>
          <a:prstGeom prst="rect">
            <a:avLst/>
          </a:prstGeom>
          <a:noFill/>
        </p:spPr>
        <p:txBody>
          <a:bodyPr wrap="square" lIns="0" rIns="0" tIns="0" bIns="0">
            <a:spAutoFit/>
          </a:bodyPr>
          <a:lstStyle/>
          <a:p>
            <a:pPr>
              <a:spcAft>
                <a:spcPts val="800"/>
              </a:spcAft>
              <a:defRPr sz="2100" b="0">
                <a:solidFill>
                  <a:srgbClr val="243746"/>
                </a:solidFill>
                <a:latin typeface="Arial"/>
              </a:defRPr>
            </a:pPr>
            <a:r>
              <a:t>12 assessable tests</a:t>
            </a:r>
          </a:p>
          <a:p>
            <a:pPr>
              <a:spcAft>
                <a:spcPts val="800"/>
              </a:spcAft>
              <a:defRPr sz="2100" b="0">
                <a:solidFill>
                  <a:srgbClr val="243746"/>
                </a:solidFill>
                <a:latin typeface="Arial"/>
              </a:defRPr>
            </a:pPr>
          </a:p>
          <a:p>
            <a:pPr>
              <a:spcAft>
                <a:spcPts val="800"/>
              </a:spcAft>
              <a:defRPr sz="2100" b="0">
                <a:solidFill>
                  <a:srgbClr val="243746"/>
                </a:solidFill>
                <a:latin typeface="Arial"/>
              </a:defRPr>
            </a:pPr>
            <a:r>
              <a:t>A combined vascular–matrix</a:t>
            </a:r>
          </a:p>
          <a:p>
            <a:pPr>
              <a:spcAft>
                <a:spcPts val="800"/>
              </a:spcAft>
              <a:defRPr sz="2100" b="0">
                <a:solidFill>
                  <a:srgbClr val="243746"/>
                </a:solidFill>
                <a:latin typeface="Arial"/>
              </a:defRPr>
            </a:pPr>
            <a:r>
              <a:t>effect remains unresolved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FROM MAPS TO REGULATORS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inference framework</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Spatial observations nominate signals for functional testing</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supplied slide 7; COMMOT, SCENIC and SigNET analyses</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23</a:t>
            </a:r>
          </a:p>
        </p:txBody>
      </p:sp>
      <p:pic>
        <p:nvPicPr>
          <p:cNvPr id="9" name="Picture 8" descr="signals_original.png"/>
          <p:cNvPicPr>
            <a:picLocks noChangeAspect="1"/>
          </p:cNvPicPr>
          <p:nvPr/>
        </p:nvPicPr>
        <p:blipFill>
          <a:blip r:embed="rId2"/>
          <a:stretch>
            <a:fillRect/>
          </a:stretch>
        </p:blipFill>
        <p:spPr>
          <a:xfrm>
            <a:off x="1097490" y="1645920"/>
            <a:ext cx="6400379" cy="4069080"/>
          </a:xfrm>
          <a:prstGeom prst="rect">
            <a:avLst/>
          </a:prstGeom>
        </p:spPr>
      </p:pic>
      <p:sp>
        <p:nvSpPr>
          <p:cNvPr id="10" name="Rounded Rectangle 9"/>
          <p:cNvSpPr/>
          <p:nvPr/>
        </p:nvSpPr>
        <p:spPr>
          <a:xfrm>
            <a:off x="8275320" y="1783080"/>
            <a:ext cx="3337560" cy="37947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75320" y="1783080"/>
            <a:ext cx="59436" cy="379476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76488" y="1965960"/>
            <a:ext cx="29718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What the model asks</a:t>
            </a:r>
          </a:p>
        </p:txBody>
      </p:sp>
      <p:sp>
        <p:nvSpPr>
          <p:cNvPr id="13" name="TextBox 12"/>
          <p:cNvSpPr txBox="1"/>
          <p:nvPr/>
        </p:nvSpPr>
        <p:spPr>
          <a:xfrm>
            <a:off x="8476488" y="2743200"/>
            <a:ext cx="2953512" cy="2697480"/>
          </a:xfrm>
          <a:prstGeom prst="rect">
            <a:avLst/>
          </a:prstGeom>
          <a:noFill/>
        </p:spPr>
        <p:txBody>
          <a:bodyPr wrap="square" lIns="0" rIns="0" tIns="0" bIns="0">
            <a:spAutoFit/>
          </a:bodyPr>
          <a:lstStyle/>
          <a:p>
            <a:pPr>
              <a:spcAft>
                <a:spcPts val="800"/>
              </a:spcAft>
              <a:defRPr sz="2100" b="0">
                <a:solidFill>
                  <a:srgbClr val="243746"/>
                </a:solidFill>
                <a:latin typeface="Arial"/>
              </a:defRPr>
            </a:pPr>
            <a:r>
              <a:t>Who can send?</a:t>
            </a:r>
          </a:p>
          <a:p>
            <a:pPr>
              <a:spcAft>
                <a:spcPts val="800"/>
              </a:spcAft>
              <a:defRPr sz="2100" b="0">
                <a:solidFill>
                  <a:srgbClr val="243746"/>
                </a:solidFill>
                <a:latin typeface="Arial"/>
              </a:defRPr>
            </a:pPr>
            <a:r>
              <a:t>Who can receive?</a:t>
            </a:r>
          </a:p>
          <a:p>
            <a:pPr>
              <a:spcAft>
                <a:spcPts val="800"/>
              </a:spcAft>
              <a:defRPr sz="2100" b="0">
                <a:solidFill>
                  <a:srgbClr val="243746"/>
                </a:solidFill>
                <a:latin typeface="Arial"/>
              </a:defRPr>
            </a:pPr>
            <a:r>
              <a:t>Are they nearby?</a:t>
            </a:r>
          </a:p>
          <a:p>
            <a:pPr>
              <a:spcAft>
                <a:spcPts val="800"/>
              </a:spcAft>
              <a:defRPr sz="2100" b="0">
                <a:solidFill>
                  <a:srgbClr val="243746"/>
                </a:solidFill>
                <a:latin typeface="Arial"/>
              </a:defRPr>
            </a:pPr>
          </a:p>
          <a:p>
            <a:pPr>
              <a:spcAft>
                <a:spcPts val="800"/>
              </a:spcAft>
              <a:defRPr sz="2100" b="0">
                <a:solidFill>
                  <a:srgbClr val="243746"/>
                </a:solidFill>
                <a:latin typeface="Arial"/>
              </a:defRPr>
            </a:pPr>
            <a:r>
              <a:t>Which CM response</a:t>
            </a:r>
          </a:p>
          <a:p>
            <a:pPr>
              <a:spcAft>
                <a:spcPts val="800"/>
              </a:spcAft>
              <a:defRPr sz="2100" b="0">
                <a:solidFill>
                  <a:srgbClr val="243746"/>
                </a:solidFill>
                <a:latin typeface="Arial"/>
              </a:defRPr>
            </a:pPr>
            <a:r>
              <a:t>covaries with the signal?</a:t>
            </a:r>
          </a:p>
        </p:txBody>
      </p:sp>
      <p:sp>
        <p:nvSpPr>
          <p:cNvPr id="14" name="Rectangle 13"/>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Spatial and regulatory models nominate experiments; intervention tests a different level of evidence.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FROM MAPS TO REGULATORS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observations + working mechanism</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A contact-associated candidate links the niche to CM regulation</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Fig.4 and Extended Data Fig.7</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24</a:t>
            </a:r>
          </a:p>
        </p:txBody>
      </p:sp>
      <p:sp>
        <p:nvSpPr>
          <p:cNvPr id="9" name="Rounded Rectangle 8"/>
          <p:cNvSpPr/>
          <p:nvPr/>
        </p:nvSpPr>
        <p:spPr>
          <a:xfrm>
            <a:off x="594360" y="1737360"/>
            <a:ext cx="3520440" cy="3611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737360"/>
            <a:ext cx="59436" cy="361188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92024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Spatial evidence</a:t>
            </a:r>
          </a:p>
        </p:txBody>
      </p:sp>
      <p:sp>
        <p:nvSpPr>
          <p:cNvPr id="12" name="TextBox 11"/>
          <p:cNvSpPr txBox="1"/>
          <p:nvPr/>
        </p:nvSpPr>
        <p:spPr>
          <a:xfrm>
            <a:off x="795528" y="2697480"/>
            <a:ext cx="3136392" cy="2514600"/>
          </a:xfrm>
          <a:prstGeom prst="rect">
            <a:avLst/>
          </a:prstGeom>
          <a:noFill/>
        </p:spPr>
        <p:txBody>
          <a:bodyPr wrap="square" lIns="0" rIns="0" tIns="0" bIns="0">
            <a:spAutoFit/>
          </a:bodyPr>
          <a:lstStyle/>
          <a:p>
            <a:pPr>
              <a:spcAft>
                <a:spcPts val="800"/>
              </a:spcAft>
              <a:defRPr sz="2200" b="0">
                <a:solidFill>
                  <a:srgbClr val="243746"/>
                </a:solidFill>
                <a:latin typeface="Arial"/>
              </a:defRPr>
            </a:pPr>
            <a:r>
              <a:t>PTPRM-compatible</a:t>
            </a:r>
          </a:p>
          <a:p>
            <a:pPr>
              <a:spcAft>
                <a:spcPts val="800"/>
              </a:spcAft>
              <a:defRPr sz="2200" b="0">
                <a:solidFill>
                  <a:srgbClr val="243746"/>
                </a:solidFill>
                <a:latin typeface="Arial"/>
              </a:defRPr>
            </a:pPr>
            <a:r>
              <a:t>EC–CM interfaces</a:t>
            </a:r>
          </a:p>
          <a:p>
            <a:pPr>
              <a:spcAft>
                <a:spcPts val="800"/>
              </a:spcAft>
              <a:defRPr sz="2200" b="0">
                <a:solidFill>
                  <a:srgbClr val="243746"/>
                </a:solidFill>
                <a:latin typeface="Arial"/>
              </a:defRPr>
            </a:pPr>
          </a:p>
          <a:p>
            <a:pPr>
              <a:spcAft>
                <a:spcPts val="800"/>
              </a:spcAft>
              <a:defRPr sz="2200" b="0">
                <a:solidFill>
                  <a:srgbClr val="243746"/>
                </a:solidFill>
                <a:latin typeface="Arial"/>
              </a:defRPr>
            </a:pPr>
            <a:r>
              <a:t>Protein detected at</a:t>
            </a:r>
          </a:p>
          <a:p>
            <a:pPr>
              <a:spcAft>
                <a:spcPts val="800"/>
              </a:spcAft>
              <a:defRPr sz="2200" b="0">
                <a:solidFill>
                  <a:srgbClr val="243746"/>
                </a:solidFill>
                <a:latin typeface="Arial"/>
              </a:defRPr>
            </a:pPr>
            <a:r>
              <a:t>boundaries</a:t>
            </a:r>
          </a:p>
        </p:txBody>
      </p:sp>
      <p:sp>
        <p:nvSpPr>
          <p:cNvPr id="13" name="Rounded Rectangle 12"/>
          <p:cNvSpPr/>
          <p:nvPr/>
        </p:nvSpPr>
        <p:spPr>
          <a:xfrm>
            <a:off x="4370832" y="1737360"/>
            <a:ext cx="3520440" cy="3611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1737360"/>
            <a:ext cx="59436" cy="361188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92024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Perturbation evidence</a:t>
            </a:r>
          </a:p>
        </p:txBody>
      </p:sp>
      <p:sp>
        <p:nvSpPr>
          <p:cNvPr id="16" name="TextBox 15"/>
          <p:cNvSpPr txBox="1"/>
          <p:nvPr/>
        </p:nvSpPr>
        <p:spPr>
          <a:xfrm>
            <a:off x="4572000" y="2697480"/>
            <a:ext cx="3136392" cy="2514600"/>
          </a:xfrm>
          <a:prstGeom prst="rect">
            <a:avLst/>
          </a:prstGeom>
          <a:noFill/>
        </p:spPr>
        <p:txBody>
          <a:bodyPr wrap="square" lIns="0" rIns="0" tIns="0" bIns="0">
            <a:spAutoFit/>
          </a:bodyPr>
          <a:lstStyle/>
          <a:p>
            <a:pPr>
              <a:spcAft>
                <a:spcPts val="800"/>
              </a:spcAft>
              <a:defRPr sz="2200" b="0">
                <a:solidFill>
                  <a:srgbClr val="243746"/>
                </a:solidFill>
                <a:latin typeface="Arial"/>
              </a:defRPr>
            </a:pPr>
            <a:r>
              <a:t>Ptprm perturbation</a:t>
            </a:r>
          </a:p>
          <a:p>
            <a:pPr>
              <a:spcAft>
                <a:spcPts val="800"/>
              </a:spcAft>
              <a:defRPr sz="2200" b="0">
                <a:solidFill>
                  <a:srgbClr val="243746"/>
                </a:solidFill>
                <a:latin typeface="Arial"/>
              </a:defRPr>
            </a:pPr>
            <a:r>
              <a:t>changes cell-cycle and</a:t>
            </a:r>
          </a:p>
          <a:p>
            <a:pPr>
              <a:spcAft>
                <a:spcPts val="800"/>
              </a:spcAft>
              <a:defRPr sz="2200" b="0">
                <a:solidFill>
                  <a:srgbClr val="243746"/>
                </a:solidFill>
                <a:latin typeface="Arial"/>
              </a:defRPr>
            </a:pPr>
            <a:r>
              <a:t>maturation-associated RNA</a:t>
            </a:r>
          </a:p>
          <a:p>
            <a:pPr>
              <a:spcAft>
                <a:spcPts val="800"/>
              </a:spcAft>
              <a:defRPr sz="2200" b="0">
                <a:solidFill>
                  <a:srgbClr val="243746"/>
                </a:solidFill>
                <a:latin typeface="Arial"/>
              </a:defRPr>
            </a:pPr>
            <a:r>
              <a:t>at P8</a:t>
            </a:r>
          </a:p>
        </p:txBody>
      </p:sp>
      <p:sp>
        <p:nvSpPr>
          <p:cNvPr id="17" name="Rounded Rectangle 16"/>
          <p:cNvSpPr/>
          <p:nvPr/>
        </p:nvSpPr>
        <p:spPr>
          <a:xfrm>
            <a:off x="8147304" y="1737360"/>
            <a:ext cx="3520440" cy="3611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47304" y="1737360"/>
            <a:ext cx="59436" cy="3611880"/>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2" y="192024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Working link</a:t>
            </a:r>
          </a:p>
        </p:txBody>
      </p:sp>
      <p:sp>
        <p:nvSpPr>
          <p:cNvPr id="20" name="TextBox 19"/>
          <p:cNvSpPr txBox="1"/>
          <p:nvPr/>
        </p:nvSpPr>
        <p:spPr>
          <a:xfrm>
            <a:off x="8348472" y="2697480"/>
            <a:ext cx="3136392" cy="2514600"/>
          </a:xfrm>
          <a:prstGeom prst="rect">
            <a:avLst/>
          </a:prstGeom>
          <a:noFill/>
        </p:spPr>
        <p:txBody>
          <a:bodyPr wrap="square" lIns="0" rIns="0" tIns="0" bIns="0">
            <a:spAutoFit/>
          </a:bodyPr>
          <a:lstStyle/>
          <a:p>
            <a:pPr>
              <a:spcAft>
                <a:spcPts val="800"/>
              </a:spcAft>
              <a:defRPr sz="2100" b="0">
                <a:solidFill>
                  <a:srgbClr val="243746"/>
                </a:solidFill>
                <a:latin typeface="Arial"/>
              </a:defRPr>
            </a:pPr>
            <a:r>
              <a:t>MEIS1-associated</a:t>
            </a:r>
          </a:p>
          <a:p>
            <a:pPr>
              <a:spcAft>
                <a:spcPts val="800"/>
              </a:spcAft>
              <a:defRPr sz="2100" b="0">
                <a:solidFill>
                  <a:srgbClr val="243746"/>
                </a:solidFill>
                <a:latin typeface="Arial"/>
              </a:defRPr>
            </a:pPr>
            <a:r>
              <a:t>cell-cycle exit</a:t>
            </a:r>
          </a:p>
          <a:p>
            <a:pPr>
              <a:spcAft>
                <a:spcPts val="800"/>
              </a:spcAft>
              <a:defRPr sz="2100" b="0">
                <a:solidFill>
                  <a:srgbClr val="243746"/>
                </a:solidFill>
                <a:latin typeface="Arial"/>
              </a:defRPr>
            </a:pPr>
          </a:p>
          <a:p>
            <a:pPr>
              <a:spcAft>
                <a:spcPts val="800"/>
              </a:spcAft>
              <a:defRPr sz="2100" b="0">
                <a:solidFill>
                  <a:srgbClr val="243746"/>
                </a:solidFill>
                <a:latin typeface="Arial"/>
              </a:defRPr>
            </a:pPr>
            <a:r>
              <a:t>Sender-specific mechanism</a:t>
            </a:r>
          </a:p>
          <a:p>
            <a:pPr>
              <a:spcAft>
                <a:spcPts val="800"/>
              </a:spcAft>
              <a:defRPr sz="2100" b="0">
                <a:solidFill>
                  <a:srgbClr val="243746"/>
                </a:solidFill>
                <a:latin typeface="Arial"/>
              </a:defRPr>
            </a:pPr>
            <a:r>
              <a:t>and mediation remain open</a:t>
            </a:r>
          </a:p>
        </p:txBody>
      </p:sp>
      <p:sp>
        <p:nvSpPr>
          <p:cNvPr id="21" name="Rectangle 20"/>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A contact-associated candidate is supported; a complete EC → CM → mediator causal chain is not established.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FROM MAPS TO REGULATORS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regulon inference</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Intrinsic regulatory networks provide another set of candidates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Fig.5d; original supplied slide 9</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25</a:t>
            </a:r>
          </a:p>
        </p:txBody>
      </p:sp>
      <p:pic>
        <p:nvPicPr>
          <p:cNvPr id="9" name="Picture 8" descr="regulons_original.png"/>
          <p:cNvPicPr>
            <a:picLocks noChangeAspect="1"/>
          </p:cNvPicPr>
          <p:nvPr/>
        </p:nvPicPr>
        <p:blipFill>
          <a:blip r:embed="rId2"/>
          <a:stretch>
            <a:fillRect/>
          </a:stretch>
        </p:blipFill>
        <p:spPr>
          <a:xfrm>
            <a:off x="1293634" y="1600200"/>
            <a:ext cx="4362170" cy="4114800"/>
          </a:xfrm>
          <a:prstGeom prst="rect">
            <a:avLst/>
          </a:prstGeom>
        </p:spPr>
      </p:pic>
      <p:sp>
        <p:nvSpPr>
          <p:cNvPr id="10" name="Rounded Rectangle 9"/>
          <p:cNvSpPr/>
          <p:nvPr/>
        </p:nvSpPr>
        <p:spPr>
          <a:xfrm>
            <a:off x="6812280" y="1874519"/>
            <a:ext cx="4617720" cy="14173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31152" y="1984248"/>
            <a:ext cx="4379976" cy="621792"/>
          </a:xfrm>
          <a:prstGeom prst="rect">
            <a:avLst/>
          </a:prstGeom>
          <a:noFill/>
        </p:spPr>
        <p:txBody>
          <a:bodyPr wrap="square" lIns="0" rIns="0" tIns="0" bIns="0">
            <a:spAutoFit/>
          </a:bodyPr>
          <a:lstStyle/>
          <a:p>
            <a:pPr algn="ctr">
              <a:spcAft>
                <a:spcPts val="800"/>
              </a:spcAft>
              <a:defRPr sz="4000" b="1">
                <a:solidFill>
                  <a:srgbClr val="4B9CD3"/>
                </a:solidFill>
                <a:latin typeface="Arial"/>
              </a:defRPr>
            </a:pPr>
            <a:r>
              <a:t>32</a:t>
            </a:r>
          </a:p>
        </p:txBody>
      </p:sp>
      <p:sp>
        <p:nvSpPr>
          <p:cNvPr id="12" name="TextBox 11"/>
          <p:cNvSpPr txBox="1"/>
          <p:nvPr/>
        </p:nvSpPr>
        <p:spPr>
          <a:xfrm>
            <a:off x="6949440" y="2697479"/>
            <a:ext cx="4343400" cy="502920"/>
          </a:xfrm>
          <a:prstGeom prst="rect">
            <a:avLst/>
          </a:prstGeom>
          <a:noFill/>
        </p:spPr>
        <p:txBody>
          <a:bodyPr wrap="square" lIns="0" rIns="0" tIns="0" bIns="0">
            <a:spAutoFit/>
          </a:bodyPr>
          <a:lstStyle/>
          <a:p>
            <a:pPr algn="ctr">
              <a:spcAft>
                <a:spcPts val="800"/>
              </a:spcAft>
              <a:defRPr sz="1700" b="0">
                <a:solidFill>
                  <a:srgbClr val="243746"/>
                </a:solidFill>
                <a:latin typeface="Arial"/>
              </a:defRPr>
            </a:pPr>
            <a:r>
              <a:t>CM-specific regulons</a:t>
            </a:r>
          </a:p>
        </p:txBody>
      </p:sp>
      <p:sp>
        <p:nvSpPr>
          <p:cNvPr id="13" name="Rounded Rectangle 12"/>
          <p:cNvSpPr/>
          <p:nvPr/>
        </p:nvSpPr>
        <p:spPr>
          <a:xfrm>
            <a:off x="6812280" y="3538728"/>
            <a:ext cx="2148840" cy="14173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31152" y="3648456"/>
            <a:ext cx="1911095" cy="621792"/>
          </a:xfrm>
          <a:prstGeom prst="rect">
            <a:avLst/>
          </a:prstGeom>
          <a:noFill/>
        </p:spPr>
        <p:txBody>
          <a:bodyPr wrap="square" lIns="0" rIns="0" tIns="0" bIns="0">
            <a:spAutoFit/>
          </a:bodyPr>
          <a:lstStyle/>
          <a:p>
            <a:pPr algn="ctr">
              <a:spcAft>
                <a:spcPts val="800"/>
              </a:spcAft>
              <a:defRPr sz="4000" b="1">
                <a:solidFill>
                  <a:srgbClr val="208B8C"/>
                </a:solidFill>
                <a:latin typeface="Arial"/>
              </a:defRPr>
            </a:pPr>
            <a:r>
              <a:t>7</a:t>
            </a:r>
          </a:p>
        </p:txBody>
      </p:sp>
      <p:sp>
        <p:nvSpPr>
          <p:cNvPr id="15" name="TextBox 14"/>
          <p:cNvSpPr txBox="1"/>
          <p:nvPr/>
        </p:nvSpPr>
        <p:spPr>
          <a:xfrm>
            <a:off x="6949440" y="4361688"/>
            <a:ext cx="1874520" cy="502920"/>
          </a:xfrm>
          <a:prstGeom prst="rect">
            <a:avLst/>
          </a:prstGeom>
          <a:noFill/>
        </p:spPr>
        <p:txBody>
          <a:bodyPr wrap="square" lIns="0" rIns="0" tIns="0" bIns="0">
            <a:spAutoFit/>
          </a:bodyPr>
          <a:lstStyle/>
          <a:p>
            <a:pPr algn="ctr">
              <a:spcAft>
                <a:spcPts val="800"/>
              </a:spcAft>
              <a:defRPr sz="1700" b="0">
                <a:solidFill>
                  <a:srgbClr val="243746"/>
                </a:solidFill>
                <a:latin typeface="Arial"/>
              </a:defRPr>
            </a:pPr>
            <a:r>
              <a:t>Previously linked</a:t>
            </a:r>
          </a:p>
        </p:txBody>
      </p:sp>
      <p:sp>
        <p:nvSpPr>
          <p:cNvPr id="16" name="Rounded Rectangle 15"/>
          <p:cNvSpPr/>
          <p:nvPr/>
        </p:nvSpPr>
        <p:spPr>
          <a:xfrm>
            <a:off x="9281160" y="3538728"/>
            <a:ext cx="2148840" cy="14173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00032" y="3648456"/>
            <a:ext cx="1911095" cy="621792"/>
          </a:xfrm>
          <a:prstGeom prst="rect">
            <a:avLst/>
          </a:prstGeom>
          <a:noFill/>
        </p:spPr>
        <p:txBody>
          <a:bodyPr wrap="square" lIns="0" rIns="0" tIns="0" bIns="0">
            <a:spAutoFit/>
          </a:bodyPr>
          <a:lstStyle/>
          <a:p>
            <a:pPr algn="ctr">
              <a:spcAft>
                <a:spcPts val="800"/>
              </a:spcAft>
              <a:defRPr sz="4000" b="1">
                <a:solidFill>
                  <a:srgbClr val="CA8D36"/>
                </a:solidFill>
                <a:latin typeface="Arial"/>
              </a:defRPr>
            </a:pPr>
            <a:r>
              <a:t>25</a:t>
            </a:r>
          </a:p>
        </p:txBody>
      </p:sp>
      <p:sp>
        <p:nvSpPr>
          <p:cNvPr id="18" name="TextBox 17"/>
          <p:cNvSpPr txBox="1"/>
          <p:nvPr/>
        </p:nvSpPr>
        <p:spPr>
          <a:xfrm>
            <a:off x="9418320" y="4361688"/>
            <a:ext cx="1874520" cy="502920"/>
          </a:xfrm>
          <a:prstGeom prst="rect">
            <a:avLst/>
          </a:prstGeom>
          <a:noFill/>
        </p:spPr>
        <p:txBody>
          <a:bodyPr wrap="square" lIns="0" rIns="0" tIns="0" bIns="0">
            <a:spAutoFit/>
          </a:bodyPr>
          <a:lstStyle/>
          <a:p>
            <a:pPr algn="ctr">
              <a:spcAft>
                <a:spcPts val="800"/>
              </a:spcAft>
              <a:defRPr sz="1700" b="0">
                <a:solidFill>
                  <a:srgbClr val="243746"/>
                </a:solidFill>
                <a:latin typeface="Arial"/>
              </a:defRPr>
            </a:pPr>
            <a:r>
              <a:t>Candidates</a:t>
            </a:r>
          </a:p>
        </p:txBody>
      </p:sp>
      <p:sp>
        <p:nvSpPr>
          <p:cNvPr id="19" name="Rectangle 18"/>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Temporal regulon inference generates a testable candidate set, not a validated binding network.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FUNCTIONAL GENOMICS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study design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The next step is to test candidates in the intact heart</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Fig.6; 37 intracellular and 13 intercellular candidate targets</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26</a:t>
            </a:r>
          </a:p>
        </p:txBody>
      </p:sp>
      <p:sp>
        <p:nvSpPr>
          <p:cNvPr id="9" name="Rounded Rectangle 8"/>
          <p:cNvSpPr/>
          <p:nvPr/>
        </p:nvSpPr>
        <p:spPr>
          <a:xfrm>
            <a:off x="594360" y="1783080"/>
            <a:ext cx="4114800" cy="35661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783080"/>
            <a:ext cx="59436" cy="356616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965960"/>
            <a:ext cx="3749039"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Atlas-nominated candidates</a:t>
            </a:r>
          </a:p>
        </p:txBody>
      </p:sp>
      <p:sp>
        <p:nvSpPr>
          <p:cNvPr id="12" name="TextBox 11"/>
          <p:cNvSpPr txBox="1"/>
          <p:nvPr/>
        </p:nvSpPr>
        <p:spPr>
          <a:xfrm>
            <a:off x="795528" y="2743200"/>
            <a:ext cx="3730752" cy="2468880"/>
          </a:xfrm>
          <a:prstGeom prst="rect">
            <a:avLst/>
          </a:prstGeom>
          <a:noFill/>
        </p:spPr>
        <p:txBody>
          <a:bodyPr wrap="square" lIns="0" rIns="0" tIns="0" bIns="0">
            <a:spAutoFit/>
          </a:bodyPr>
          <a:lstStyle/>
          <a:p>
            <a:pPr>
              <a:spcAft>
                <a:spcPts val="800"/>
              </a:spcAft>
              <a:defRPr sz="2400" b="0">
                <a:solidFill>
                  <a:srgbClr val="243746"/>
                </a:solidFill>
                <a:latin typeface="Arial"/>
              </a:defRPr>
            </a:pPr>
            <a:r>
              <a:t>Intrinsic transcriptional</a:t>
            </a:r>
          </a:p>
          <a:p>
            <a:pPr>
              <a:spcAft>
                <a:spcPts val="800"/>
              </a:spcAft>
              <a:defRPr sz="2400" b="0">
                <a:solidFill>
                  <a:srgbClr val="243746"/>
                </a:solidFill>
                <a:latin typeface="Arial"/>
              </a:defRPr>
            </a:pPr>
            <a:r>
              <a:t>regulators</a:t>
            </a:r>
          </a:p>
          <a:p>
            <a:pPr>
              <a:spcAft>
                <a:spcPts val="800"/>
              </a:spcAft>
              <a:defRPr sz="2400" b="0">
                <a:solidFill>
                  <a:srgbClr val="243746"/>
                </a:solidFill>
                <a:latin typeface="Arial"/>
              </a:defRPr>
            </a:pPr>
          </a:p>
          <a:p>
            <a:pPr>
              <a:spcAft>
                <a:spcPts val="800"/>
              </a:spcAft>
              <a:defRPr sz="2400" b="0">
                <a:solidFill>
                  <a:srgbClr val="243746"/>
                </a:solidFill>
                <a:latin typeface="Arial"/>
              </a:defRPr>
            </a:pPr>
            <a:r>
              <a:t>Intercellular signaling</a:t>
            </a:r>
          </a:p>
          <a:p>
            <a:pPr>
              <a:spcAft>
                <a:spcPts val="800"/>
              </a:spcAft>
              <a:defRPr sz="2400" b="0">
                <a:solidFill>
                  <a:srgbClr val="243746"/>
                </a:solidFill>
                <a:latin typeface="Arial"/>
              </a:defRPr>
            </a:pPr>
            <a:r>
              <a:t>components</a:t>
            </a:r>
          </a:p>
        </p:txBody>
      </p:sp>
      <p:cxnSp>
        <p:nvCxnSpPr>
          <p:cNvPr id="13" name="Connector 12"/>
          <p:cNvCxnSpPr/>
          <p:nvPr/>
        </p:nvCxnSpPr>
        <p:spPr>
          <a:xfrm>
            <a:off x="4956048" y="3566160"/>
            <a:ext cx="1572768" cy="0"/>
          </a:xfrm>
          <a:prstGeom prst="line">
            <a:avLst/>
          </a:prstGeom>
          <a:ln w="25400">
            <a:solidFill>
              <a:srgbClr val="208B8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812280" y="1783080"/>
            <a:ext cx="4754880" cy="35661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12280" y="1783080"/>
            <a:ext cx="59436" cy="3566160"/>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13448" y="1965960"/>
            <a:ext cx="438912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One scalable in vivo test</a:t>
            </a:r>
          </a:p>
        </p:txBody>
      </p:sp>
      <p:sp>
        <p:nvSpPr>
          <p:cNvPr id="17" name="TextBox 16"/>
          <p:cNvSpPr txBox="1"/>
          <p:nvPr/>
        </p:nvSpPr>
        <p:spPr>
          <a:xfrm>
            <a:off x="7013448" y="2743200"/>
            <a:ext cx="4370832" cy="2468880"/>
          </a:xfrm>
          <a:prstGeom prst="rect">
            <a:avLst/>
          </a:prstGeom>
          <a:noFill/>
        </p:spPr>
        <p:txBody>
          <a:bodyPr wrap="square" lIns="0" rIns="0" tIns="0" bIns="0">
            <a:spAutoFit/>
          </a:bodyPr>
          <a:lstStyle/>
          <a:p>
            <a:pPr>
              <a:spcAft>
                <a:spcPts val="800"/>
              </a:spcAft>
              <a:defRPr sz="2400" b="0">
                <a:solidFill>
                  <a:srgbClr val="243746"/>
                </a:solidFill>
                <a:latin typeface="Arial"/>
              </a:defRPr>
            </a:pPr>
            <a:r>
              <a:t>Perturb candidates</a:t>
            </a:r>
          </a:p>
          <a:p>
            <a:pPr>
              <a:spcAft>
                <a:spcPts val="800"/>
              </a:spcAft>
              <a:defRPr sz="2400" b="0">
                <a:solidFill>
                  <a:srgbClr val="243746"/>
                </a:solidFill>
                <a:latin typeface="Arial"/>
              </a:defRPr>
            </a:pPr>
            <a:r>
              <a:t>in the postnatal heart</a:t>
            </a:r>
          </a:p>
          <a:p>
            <a:pPr>
              <a:spcAft>
                <a:spcPts val="800"/>
              </a:spcAft>
              <a:defRPr sz="2400" b="0">
                <a:solidFill>
                  <a:srgbClr val="243746"/>
                </a:solidFill>
                <a:latin typeface="Arial"/>
              </a:defRPr>
            </a:pPr>
          </a:p>
          <a:p>
            <a:pPr>
              <a:spcAft>
                <a:spcPts val="800"/>
              </a:spcAft>
              <a:defRPr sz="2400" b="0">
                <a:solidFill>
                  <a:srgbClr val="243746"/>
                </a:solidFill>
                <a:latin typeface="Arial"/>
              </a:defRPr>
            </a:pPr>
            <a:r>
              <a:t>Read the RNA phenotype</a:t>
            </a:r>
          </a:p>
          <a:p>
            <a:pPr>
              <a:spcAft>
                <a:spcPts val="800"/>
              </a:spcAft>
              <a:defRPr sz="2400" b="0">
                <a:solidFill>
                  <a:srgbClr val="243746"/>
                </a:solidFill>
                <a:latin typeface="Arial"/>
              </a:defRPr>
            </a:pPr>
            <a:r>
              <a:t>from identified CM nuclei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FUNCTIONAL GENOMICS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platform</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PIP-seq connects an in vivo perturbation to its RNA phenotype</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Fig.6a–c; PIP-seq Methods</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27</a:t>
            </a:r>
          </a:p>
        </p:txBody>
      </p:sp>
      <p:sp>
        <p:nvSpPr>
          <p:cNvPr id="9" name="Rounded Rectangle 8"/>
          <p:cNvSpPr/>
          <p:nvPr/>
        </p:nvSpPr>
        <p:spPr>
          <a:xfrm>
            <a:off x="594360" y="1874519"/>
            <a:ext cx="265176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874519"/>
            <a:ext cx="59436" cy="347472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57400"/>
            <a:ext cx="22860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P0</a:t>
            </a:r>
          </a:p>
        </p:txBody>
      </p:sp>
      <p:sp>
        <p:nvSpPr>
          <p:cNvPr id="12" name="TextBox 11"/>
          <p:cNvSpPr txBox="1"/>
          <p:nvPr/>
        </p:nvSpPr>
        <p:spPr>
          <a:xfrm>
            <a:off x="795528" y="2834639"/>
            <a:ext cx="2267712" cy="2377439"/>
          </a:xfrm>
          <a:prstGeom prst="rect">
            <a:avLst/>
          </a:prstGeom>
          <a:noFill/>
        </p:spPr>
        <p:txBody>
          <a:bodyPr wrap="square" lIns="0" rIns="0" tIns="0" bIns="0">
            <a:spAutoFit/>
          </a:bodyPr>
          <a:lstStyle/>
          <a:p>
            <a:pPr>
              <a:spcAft>
                <a:spcPts val="800"/>
              </a:spcAft>
              <a:defRPr sz="2200" b="0">
                <a:solidFill>
                  <a:srgbClr val="243746"/>
                </a:solidFill>
                <a:latin typeface="Arial"/>
              </a:defRPr>
            </a:pPr>
            <a:r>
              <a:t>AAV9: dual guides</a:t>
            </a:r>
          </a:p>
          <a:p>
            <a:pPr>
              <a:spcAft>
                <a:spcPts val="800"/>
              </a:spcAft>
              <a:defRPr sz="2200" b="0">
                <a:solidFill>
                  <a:srgbClr val="243746"/>
                </a:solidFill>
                <a:latin typeface="Arial"/>
              </a:defRPr>
            </a:pPr>
            <a:r>
              <a:t>+ CM-directed Cre</a:t>
            </a:r>
          </a:p>
        </p:txBody>
      </p:sp>
      <p:cxnSp>
        <p:nvCxnSpPr>
          <p:cNvPr id="13" name="Connector 12"/>
          <p:cNvCxnSpPr/>
          <p:nvPr/>
        </p:nvCxnSpPr>
        <p:spPr>
          <a:xfrm>
            <a:off x="3300984" y="3657600"/>
            <a:ext cx="128016" cy="0"/>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83864" y="1874519"/>
            <a:ext cx="265176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3864" y="1874519"/>
            <a:ext cx="59436" cy="347472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5032" y="2057400"/>
            <a:ext cx="22860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IN VIVO</a:t>
            </a:r>
          </a:p>
        </p:txBody>
      </p:sp>
      <p:sp>
        <p:nvSpPr>
          <p:cNvPr id="17" name="TextBox 16"/>
          <p:cNvSpPr txBox="1"/>
          <p:nvPr/>
        </p:nvSpPr>
        <p:spPr>
          <a:xfrm>
            <a:off x="3685032" y="2834639"/>
            <a:ext cx="2267712" cy="2377439"/>
          </a:xfrm>
          <a:prstGeom prst="rect">
            <a:avLst/>
          </a:prstGeom>
          <a:noFill/>
        </p:spPr>
        <p:txBody>
          <a:bodyPr wrap="square" lIns="0" rIns="0" tIns="0" bIns="0">
            <a:spAutoFit/>
          </a:bodyPr>
          <a:lstStyle/>
          <a:p>
            <a:pPr>
              <a:spcAft>
                <a:spcPts val="800"/>
              </a:spcAft>
              <a:defRPr sz="2200" b="0">
                <a:solidFill>
                  <a:srgbClr val="243746"/>
                </a:solidFill>
                <a:latin typeface="Arial"/>
              </a:defRPr>
            </a:pPr>
            <a:r>
              <a:t>Cas9 perturbation</a:t>
            </a:r>
          </a:p>
          <a:p>
            <a:pPr>
              <a:spcAft>
                <a:spcPts val="800"/>
              </a:spcAft>
              <a:defRPr sz="2200" b="0">
                <a:solidFill>
                  <a:srgbClr val="243746"/>
                </a:solidFill>
                <a:latin typeface="Arial"/>
              </a:defRPr>
            </a:pPr>
            <a:r>
              <a:t>+ nuclear GFP label</a:t>
            </a:r>
          </a:p>
        </p:txBody>
      </p:sp>
      <p:cxnSp>
        <p:nvCxnSpPr>
          <p:cNvPr id="18" name="Connector 17"/>
          <p:cNvCxnSpPr/>
          <p:nvPr/>
        </p:nvCxnSpPr>
        <p:spPr>
          <a:xfrm>
            <a:off x="6190488" y="3657600"/>
            <a:ext cx="128016" cy="0"/>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373368" y="1874519"/>
            <a:ext cx="265176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73368" y="1874519"/>
            <a:ext cx="59436" cy="347472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74536" y="2057400"/>
            <a:ext cx="22860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P14</a:t>
            </a:r>
          </a:p>
        </p:txBody>
      </p:sp>
      <p:sp>
        <p:nvSpPr>
          <p:cNvPr id="22" name="TextBox 21"/>
          <p:cNvSpPr txBox="1"/>
          <p:nvPr/>
        </p:nvSpPr>
        <p:spPr>
          <a:xfrm>
            <a:off x="6574536" y="2834639"/>
            <a:ext cx="2267712" cy="2377439"/>
          </a:xfrm>
          <a:prstGeom prst="rect">
            <a:avLst/>
          </a:prstGeom>
          <a:noFill/>
        </p:spPr>
        <p:txBody>
          <a:bodyPr wrap="square" lIns="0" rIns="0" tIns="0" bIns="0">
            <a:spAutoFit/>
          </a:bodyPr>
          <a:lstStyle/>
          <a:p>
            <a:pPr>
              <a:spcAft>
                <a:spcPts val="800"/>
              </a:spcAft>
              <a:defRPr sz="2200" b="0">
                <a:solidFill>
                  <a:srgbClr val="243746"/>
                </a:solidFill>
                <a:latin typeface="Arial"/>
              </a:defRPr>
            </a:pPr>
            <a:r>
              <a:t>Enrich GFP+</a:t>
            </a:r>
          </a:p>
          <a:p>
            <a:pPr>
              <a:spcAft>
                <a:spcPts val="800"/>
              </a:spcAft>
              <a:defRPr sz="2200" b="0">
                <a:solidFill>
                  <a:srgbClr val="243746"/>
                </a:solidFill>
                <a:latin typeface="Arial"/>
              </a:defRPr>
            </a:pPr>
            <a:r>
              <a:t>CM nuclei</a:t>
            </a:r>
          </a:p>
        </p:txBody>
      </p:sp>
      <p:cxnSp>
        <p:nvCxnSpPr>
          <p:cNvPr id="23" name="Connector 22"/>
          <p:cNvCxnSpPr/>
          <p:nvPr/>
        </p:nvCxnSpPr>
        <p:spPr>
          <a:xfrm>
            <a:off x="9079992" y="3657600"/>
            <a:ext cx="128016" cy="0"/>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262872" y="1874519"/>
            <a:ext cx="2651760" cy="34747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62872" y="1874519"/>
            <a:ext cx="59436" cy="347472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64040" y="2057400"/>
            <a:ext cx="22860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READOUT</a:t>
            </a:r>
          </a:p>
        </p:txBody>
      </p:sp>
      <p:sp>
        <p:nvSpPr>
          <p:cNvPr id="27" name="TextBox 26"/>
          <p:cNvSpPr txBox="1"/>
          <p:nvPr/>
        </p:nvSpPr>
        <p:spPr>
          <a:xfrm>
            <a:off x="9464040" y="2834639"/>
            <a:ext cx="2267712" cy="2377439"/>
          </a:xfrm>
          <a:prstGeom prst="rect">
            <a:avLst/>
          </a:prstGeom>
          <a:noFill/>
        </p:spPr>
        <p:txBody>
          <a:bodyPr wrap="square" lIns="0" rIns="0" tIns="0" bIns="0">
            <a:spAutoFit/>
          </a:bodyPr>
          <a:lstStyle/>
          <a:p>
            <a:pPr>
              <a:spcAft>
                <a:spcPts val="800"/>
              </a:spcAft>
              <a:defRPr sz="2200" b="0">
                <a:solidFill>
                  <a:srgbClr val="243746"/>
                </a:solidFill>
                <a:latin typeface="Arial"/>
              </a:defRPr>
            </a:pPr>
            <a:r>
              <a:t>Guide identity</a:t>
            </a:r>
          </a:p>
          <a:p>
            <a:pPr>
              <a:spcAft>
                <a:spcPts val="800"/>
              </a:spcAft>
              <a:defRPr sz="2200" b="0">
                <a:solidFill>
                  <a:srgbClr val="243746"/>
                </a:solidFill>
                <a:latin typeface="Arial"/>
              </a:defRPr>
            </a:pPr>
            <a:r>
              <a:t>+ RNA phenotype</a:t>
            </a:r>
          </a:p>
        </p:txBody>
      </p:sp>
      <p:sp>
        <p:nvSpPr>
          <p:cNvPr id="28" name="Rectangle 27"/>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PIP-seq: probe-based, indel-detectable Perturb-seq in the native postnatal heart.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FUNCTIONAL GENOMICS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platform logic</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Two probe readouts strengthen perturbation assignment</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Fig.6c; Supplementary Fig.24</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28</a:t>
            </a:r>
          </a:p>
        </p:txBody>
      </p:sp>
      <p:sp>
        <p:nvSpPr>
          <p:cNvPr id="9" name="Rounded Rectangle 8"/>
          <p:cNvSpPr/>
          <p:nvPr/>
        </p:nvSpPr>
        <p:spPr>
          <a:xfrm>
            <a:off x="594360" y="1783080"/>
            <a:ext cx="5303520" cy="3749039"/>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1783080"/>
            <a:ext cx="5303520" cy="3749039"/>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65960"/>
            <a:ext cx="4892040" cy="594360"/>
          </a:xfrm>
          <a:prstGeom prst="rect">
            <a:avLst/>
          </a:prstGeom>
          <a:noFill/>
        </p:spPr>
        <p:txBody>
          <a:bodyPr wrap="square" lIns="0" rIns="0" tIns="0" bIns="0">
            <a:spAutoFit/>
          </a:bodyPr>
          <a:lstStyle/>
          <a:p>
            <a:pPr>
              <a:spcAft>
                <a:spcPts val="800"/>
              </a:spcAft>
              <a:defRPr sz="2300" b="1">
                <a:solidFill>
                  <a:srgbClr val="173A53"/>
                </a:solidFill>
                <a:latin typeface="Arial"/>
              </a:defRPr>
            </a:pPr>
            <a:r>
              <a:t>Guide-detection probes</a:t>
            </a:r>
          </a:p>
        </p:txBody>
      </p:sp>
      <p:sp>
        <p:nvSpPr>
          <p:cNvPr id="12" name="TextBox 11"/>
          <p:cNvSpPr txBox="1"/>
          <p:nvPr/>
        </p:nvSpPr>
        <p:spPr>
          <a:xfrm>
            <a:off x="6519672" y="1965960"/>
            <a:ext cx="4892040" cy="594360"/>
          </a:xfrm>
          <a:prstGeom prst="rect">
            <a:avLst/>
          </a:prstGeom>
          <a:noFill/>
        </p:spPr>
        <p:txBody>
          <a:bodyPr wrap="square" lIns="0" rIns="0" tIns="0" bIns="0">
            <a:spAutoFit/>
          </a:bodyPr>
          <a:lstStyle/>
          <a:p>
            <a:pPr>
              <a:spcAft>
                <a:spcPts val="800"/>
              </a:spcAft>
              <a:defRPr sz="2300" b="1">
                <a:solidFill>
                  <a:srgbClr val="173A53"/>
                </a:solidFill>
                <a:latin typeface="Arial"/>
              </a:defRPr>
            </a:pPr>
            <a:r>
              <a:t>Perturbation-detection probes</a:t>
            </a:r>
          </a:p>
        </p:txBody>
      </p:sp>
      <p:sp>
        <p:nvSpPr>
          <p:cNvPr id="13" name="TextBox 12"/>
          <p:cNvSpPr txBox="1"/>
          <p:nvPr/>
        </p:nvSpPr>
        <p:spPr>
          <a:xfrm>
            <a:off x="868680" y="2743200"/>
            <a:ext cx="4572000" cy="457200"/>
          </a:xfrm>
          <a:prstGeom prst="rect">
            <a:avLst/>
          </a:prstGeom>
          <a:noFill/>
        </p:spPr>
        <p:txBody>
          <a:bodyPr wrap="square" lIns="0" rIns="0" tIns="0" bIns="0">
            <a:spAutoFit/>
          </a:bodyPr>
          <a:lstStyle/>
          <a:p>
            <a:pPr>
              <a:spcAft>
                <a:spcPts val="800"/>
              </a:spcAft>
              <a:defRPr sz="2000" b="1">
                <a:solidFill>
                  <a:srgbClr val="4B9CD3"/>
                </a:solidFill>
                <a:latin typeface="Arial"/>
              </a:defRPr>
            </a:pPr>
            <a:r>
              <a:t>Guide transcript</a:t>
            </a:r>
          </a:p>
        </p:txBody>
      </p:sp>
      <p:sp>
        <p:nvSpPr>
          <p:cNvPr id="14" name="Rectangle 13"/>
          <p:cNvSpPr/>
          <p:nvPr/>
        </p:nvSpPr>
        <p:spPr>
          <a:xfrm>
            <a:off x="914400" y="3474720"/>
            <a:ext cx="1920240" cy="164592"/>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3474720"/>
            <a:ext cx="1920240" cy="164592"/>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072384"/>
            <a:ext cx="2011680" cy="320040"/>
          </a:xfrm>
          <a:prstGeom prst="rect">
            <a:avLst/>
          </a:prstGeom>
          <a:noFill/>
        </p:spPr>
        <p:txBody>
          <a:bodyPr wrap="square" lIns="0" rIns="0" tIns="0" bIns="0">
            <a:spAutoFit/>
          </a:bodyPr>
          <a:lstStyle/>
          <a:p>
            <a:pPr>
              <a:spcAft>
                <a:spcPts val="800"/>
              </a:spcAft>
              <a:defRPr sz="1400" b="0">
                <a:solidFill>
                  <a:srgbClr val="5D6E7C"/>
                </a:solidFill>
                <a:latin typeface="Arial"/>
              </a:defRPr>
            </a:pPr>
            <a:r>
              <a:t>Guide-specific region</a:t>
            </a:r>
          </a:p>
        </p:txBody>
      </p:sp>
      <p:sp>
        <p:nvSpPr>
          <p:cNvPr id="17" name="TextBox 16"/>
          <p:cNvSpPr txBox="1"/>
          <p:nvPr/>
        </p:nvSpPr>
        <p:spPr>
          <a:xfrm>
            <a:off x="2880360" y="3072384"/>
            <a:ext cx="2011680" cy="320040"/>
          </a:xfrm>
          <a:prstGeom prst="rect">
            <a:avLst/>
          </a:prstGeom>
          <a:noFill/>
        </p:spPr>
        <p:txBody>
          <a:bodyPr wrap="square" lIns="0" rIns="0" tIns="0" bIns="0">
            <a:spAutoFit/>
          </a:bodyPr>
          <a:lstStyle/>
          <a:p>
            <a:pPr>
              <a:spcAft>
                <a:spcPts val="800"/>
              </a:spcAft>
              <a:defRPr sz="1400" b="0">
                <a:solidFill>
                  <a:srgbClr val="5D6E7C"/>
                </a:solidFill>
                <a:latin typeface="Arial"/>
              </a:defRPr>
            </a:pPr>
            <a:r>
              <a:t>Constant region</a:t>
            </a:r>
          </a:p>
        </p:txBody>
      </p:sp>
      <p:sp>
        <p:nvSpPr>
          <p:cNvPr id="18" name="Rectangle 17"/>
          <p:cNvSpPr/>
          <p:nvPr/>
        </p:nvSpPr>
        <p:spPr>
          <a:xfrm>
            <a:off x="1280160" y="3822191"/>
            <a:ext cx="1097280" cy="164592"/>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0" y="3822191"/>
            <a:ext cx="1097280" cy="164592"/>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V="1">
            <a:off x="1417320" y="3675887"/>
            <a:ext cx="0" cy="100585"/>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691640" y="3675887"/>
            <a:ext cx="0" cy="100585"/>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965960" y="3675887"/>
            <a:ext cx="0" cy="100585"/>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240280" y="3675887"/>
            <a:ext cx="0" cy="100585"/>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337560" y="3675887"/>
            <a:ext cx="0" cy="100585"/>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611880" y="3675887"/>
            <a:ext cx="0" cy="100585"/>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886200" y="3675887"/>
            <a:ext cx="0" cy="100585"/>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160520" y="3675887"/>
            <a:ext cx="0" cy="100585"/>
          </a:xfrm>
          <a:prstGeom prst="line">
            <a:avLst/>
          </a:prstGeom>
          <a:ln w="25400">
            <a:solidFill>
              <a:srgbClr val="5D6E7C"/>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14400" y="4251960"/>
            <a:ext cx="4480560" cy="932688"/>
          </a:xfrm>
          <a:prstGeom prst="rect">
            <a:avLst/>
          </a:prstGeom>
          <a:noFill/>
        </p:spPr>
        <p:txBody>
          <a:bodyPr wrap="square" lIns="0" rIns="0" tIns="0" bIns="0">
            <a:spAutoFit/>
          </a:bodyPr>
          <a:lstStyle/>
          <a:p>
            <a:pPr>
              <a:spcAft>
                <a:spcPts val="800"/>
              </a:spcAft>
              <a:defRPr sz="2300" b="1">
                <a:solidFill>
                  <a:srgbClr val="173A53"/>
                </a:solidFill>
                <a:latin typeface="Arial"/>
              </a:defRPr>
            </a:pPr>
            <a:r>
              <a:t>Probe pairing recovers</a:t>
            </a:r>
          </a:p>
          <a:p>
            <a:pPr>
              <a:spcAft>
                <a:spcPts val="800"/>
              </a:spcAft>
              <a:defRPr sz="2300" b="1">
                <a:solidFill>
                  <a:srgbClr val="173A53"/>
                </a:solidFill>
                <a:latin typeface="Arial"/>
              </a:defRPr>
            </a:pPr>
            <a:r>
              <a:t>perturbation identity</a:t>
            </a:r>
          </a:p>
        </p:txBody>
      </p:sp>
      <p:sp>
        <p:nvSpPr>
          <p:cNvPr id="29" name="TextBox 28"/>
          <p:cNvSpPr txBox="1"/>
          <p:nvPr/>
        </p:nvSpPr>
        <p:spPr>
          <a:xfrm>
            <a:off x="6629400" y="2743200"/>
            <a:ext cx="1051560" cy="365760"/>
          </a:xfrm>
          <a:prstGeom prst="rect">
            <a:avLst/>
          </a:prstGeom>
          <a:noFill/>
        </p:spPr>
        <p:txBody>
          <a:bodyPr wrap="square" lIns="0" rIns="0" tIns="0" bIns="0">
            <a:spAutoFit/>
          </a:bodyPr>
          <a:lstStyle/>
          <a:p>
            <a:pPr>
              <a:spcAft>
                <a:spcPts val="800"/>
              </a:spcAft>
              <a:defRPr sz="1900" b="1">
                <a:solidFill>
                  <a:srgbClr val="208B8C"/>
                </a:solidFill>
                <a:latin typeface="Arial"/>
              </a:defRPr>
            </a:pPr>
            <a:r>
              <a:t>WT site</a:t>
            </a:r>
          </a:p>
        </p:txBody>
      </p:sp>
      <p:sp>
        <p:nvSpPr>
          <p:cNvPr id="30" name="Rectangle 29"/>
          <p:cNvSpPr/>
          <p:nvPr/>
        </p:nvSpPr>
        <p:spPr>
          <a:xfrm>
            <a:off x="7772400" y="2907792"/>
            <a:ext cx="3154680" cy="118872"/>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66760" y="3218688"/>
            <a:ext cx="1463040" cy="155448"/>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3794760"/>
            <a:ext cx="1051560" cy="365760"/>
          </a:xfrm>
          <a:prstGeom prst="rect">
            <a:avLst/>
          </a:prstGeom>
          <a:noFill/>
        </p:spPr>
        <p:txBody>
          <a:bodyPr wrap="square" lIns="0" rIns="0" tIns="0" bIns="0">
            <a:spAutoFit/>
          </a:bodyPr>
          <a:lstStyle/>
          <a:p>
            <a:pPr>
              <a:spcAft>
                <a:spcPts val="800"/>
              </a:spcAft>
              <a:defRPr sz="1900" b="1">
                <a:solidFill>
                  <a:srgbClr val="AE5578"/>
                </a:solidFill>
                <a:latin typeface="Arial"/>
              </a:defRPr>
            </a:pPr>
            <a:r>
              <a:t>Indel</a:t>
            </a:r>
          </a:p>
        </p:txBody>
      </p:sp>
      <p:sp>
        <p:nvSpPr>
          <p:cNvPr id="33" name="Rectangle 32"/>
          <p:cNvSpPr/>
          <p:nvPr/>
        </p:nvSpPr>
        <p:spPr>
          <a:xfrm>
            <a:off x="7772400" y="3959352"/>
            <a:ext cx="1234440" cy="118872"/>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418320" y="3959352"/>
            <a:ext cx="1508760" cy="118872"/>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25128" y="3749039"/>
            <a:ext cx="365760" cy="365760"/>
          </a:xfrm>
          <a:prstGeom prst="rect">
            <a:avLst/>
          </a:prstGeom>
          <a:noFill/>
        </p:spPr>
        <p:txBody>
          <a:bodyPr wrap="square" lIns="0" rIns="0" tIns="0" bIns="0">
            <a:spAutoFit/>
          </a:bodyPr>
          <a:lstStyle/>
          <a:p>
            <a:pPr>
              <a:spcAft>
                <a:spcPts val="800"/>
              </a:spcAft>
              <a:defRPr sz="2600" b="1">
                <a:solidFill>
                  <a:srgbClr val="AE5578"/>
                </a:solidFill>
                <a:latin typeface="Arial"/>
              </a:defRPr>
            </a:pPr>
            <a:r>
              <a:t>×</a:t>
            </a:r>
          </a:p>
        </p:txBody>
      </p:sp>
      <p:sp>
        <p:nvSpPr>
          <p:cNvPr id="36" name="Rectangle 35"/>
          <p:cNvSpPr/>
          <p:nvPr/>
        </p:nvSpPr>
        <p:spPr>
          <a:xfrm>
            <a:off x="8366760" y="4270248"/>
            <a:ext cx="1463040" cy="155448"/>
          </a:xfrm>
          <a:prstGeom prst="rect">
            <a:avLst/>
          </a:prstGeom>
          <a:solidFill>
            <a:srgbClr val="BAC5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29400" y="4617720"/>
            <a:ext cx="4617720" cy="777240"/>
          </a:xfrm>
          <a:prstGeom prst="rect">
            <a:avLst/>
          </a:prstGeom>
          <a:noFill/>
        </p:spPr>
        <p:txBody>
          <a:bodyPr wrap="square" lIns="0" rIns="0" tIns="0" bIns="0">
            <a:spAutoFit/>
          </a:bodyPr>
          <a:lstStyle/>
          <a:p>
            <a:pPr>
              <a:spcAft>
                <a:spcPts val="800"/>
              </a:spcAft>
              <a:defRPr sz="2000" b="1">
                <a:solidFill>
                  <a:srgbClr val="173A53"/>
                </a:solidFill>
                <a:latin typeface="Arial"/>
              </a:defRPr>
            </a:pPr>
            <a:r>
              <a:t>Reduced target-probe signal</a:t>
            </a:r>
          </a:p>
          <a:p>
            <a:pPr>
              <a:spcAft>
                <a:spcPts val="800"/>
              </a:spcAft>
              <a:defRPr sz="2000" b="1">
                <a:solidFill>
                  <a:srgbClr val="173A53"/>
                </a:solidFill>
                <a:latin typeface="Arial"/>
              </a:defRPr>
            </a:pPr>
            <a:r>
              <a:t>adds RNA-based editing evidence</a:t>
            </a:r>
          </a:p>
        </p:txBody>
      </p:sp>
      <p:sp>
        <p:nvSpPr>
          <p:cNvPr id="38" name="Rectangle 37"/>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Guide identity and target-probe reduction are complementary; neither alone proves biallelic editing.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FUNCTIONAL GENOMICS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pooled screen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The screen recovers known regulators and nominates new ones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Fig.6; 5,706 guide-assigned nuclei; 23 genes affect ≥1 RNA program</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29</a:t>
            </a:r>
          </a:p>
        </p:txBody>
      </p:sp>
      <p:pic>
        <p:nvPicPr>
          <p:cNvPr id="9" name="Picture 8" descr="PIP_original_screen.png"/>
          <p:cNvPicPr>
            <a:picLocks noChangeAspect="1"/>
          </p:cNvPicPr>
          <p:nvPr/>
        </p:nvPicPr>
        <p:blipFill>
          <a:blip r:embed="rId2"/>
          <a:stretch>
            <a:fillRect/>
          </a:stretch>
        </p:blipFill>
        <p:spPr>
          <a:xfrm>
            <a:off x="594360" y="2425641"/>
            <a:ext cx="7543800" cy="2372476"/>
          </a:xfrm>
          <a:prstGeom prst="rect">
            <a:avLst/>
          </a:prstGeom>
        </p:spPr>
      </p:pic>
      <p:sp>
        <p:nvSpPr>
          <p:cNvPr id="10" name="Rounded Rectangle 9"/>
          <p:cNvSpPr/>
          <p:nvPr/>
        </p:nvSpPr>
        <p:spPr>
          <a:xfrm>
            <a:off x="8412480" y="1691640"/>
            <a:ext cx="3154680" cy="14173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31352" y="1801368"/>
            <a:ext cx="2916936" cy="621792"/>
          </a:xfrm>
          <a:prstGeom prst="rect">
            <a:avLst/>
          </a:prstGeom>
          <a:noFill/>
        </p:spPr>
        <p:txBody>
          <a:bodyPr wrap="square" lIns="0" rIns="0" tIns="0" bIns="0">
            <a:spAutoFit/>
          </a:bodyPr>
          <a:lstStyle/>
          <a:p>
            <a:pPr algn="ctr">
              <a:spcAft>
                <a:spcPts val="800"/>
              </a:spcAft>
              <a:defRPr sz="4000" b="1">
                <a:solidFill>
                  <a:srgbClr val="4B9CD3"/>
                </a:solidFill>
                <a:latin typeface="Arial"/>
              </a:defRPr>
            </a:pPr>
            <a:r>
              <a:t>50</a:t>
            </a:r>
          </a:p>
        </p:txBody>
      </p:sp>
      <p:sp>
        <p:nvSpPr>
          <p:cNvPr id="12" name="TextBox 11"/>
          <p:cNvSpPr txBox="1"/>
          <p:nvPr/>
        </p:nvSpPr>
        <p:spPr>
          <a:xfrm>
            <a:off x="8549640" y="2514600"/>
            <a:ext cx="2880360" cy="502920"/>
          </a:xfrm>
          <a:prstGeom prst="rect">
            <a:avLst/>
          </a:prstGeom>
          <a:noFill/>
        </p:spPr>
        <p:txBody>
          <a:bodyPr wrap="square" lIns="0" rIns="0" tIns="0" bIns="0">
            <a:spAutoFit/>
          </a:bodyPr>
          <a:lstStyle/>
          <a:p>
            <a:pPr algn="ctr">
              <a:spcAft>
                <a:spcPts val="800"/>
              </a:spcAft>
              <a:defRPr sz="1700" b="0">
                <a:solidFill>
                  <a:srgbClr val="243746"/>
                </a:solidFill>
                <a:latin typeface="Arial"/>
              </a:defRPr>
            </a:pPr>
            <a:r>
              <a:t>Candidate regulators</a:t>
            </a:r>
          </a:p>
        </p:txBody>
      </p:sp>
      <p:sp>
        <p:nvSpPr>
          <p:cNvPr id="13" name="Rounded Rectangle 12"/>
          <p:cNvSpPr/>
          <p:nvPr/>
        </p:nvSpPr>
        <p:spPr>
          <a:xfrm>
            <a:off x="8412480" y="3291840"/>
            <a:ext cx="3154680" cy="14173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31352" y="3401568"/>
            <a:ext cx="2916936" cy="621792"/>
          </a:xfrm>
          <a:prstGeom prst="rect">
            <a:avLst/>
          </a:prstGeom>
          <a:noFill/>
        </p:spPr>
        <p:txBody>
          <a:bodyPr wrap="square" lIns="0" rIns="0" tIns="0" bIns="0">
            <a:spAutoFit/>
          </a:bodyPr>
          <a:lstStyle/>
          <a:p>
            <a:pPr algn="ctr">
              <a:spcAft>
                <a:spcPts val="800"/>
              </a:spcAft>
              <a:defRPr sz="4000" b="1">
                <a:solidFill>
                  <a:srgbClr val="208B8C"/>
                </a:solidFill>
                <a:latin typeface="Arial"/>
              </a:defRPr>
            </a:pPr>
            <a:r>
              <a:t>5,706</a:t>
            </a:r>
          </a:p>
        </p:txBody>
      </p:sp>
      <p:sp>
        <p:nvSpPr>
          <p:cNvPr id="15" name="TextBox 14"/>
          <p:cNvSpPr txBox="1"/>
          <p:nvPr/>
        </p:nvSpPr>
        <p:spPr>
          <a:xfrm>
            <a:off x="8549640" y="4114800"/>
            <a:ext cx="2880360" cy="502920"/>
          </a:xfrm>
          <a:prstGeom prst="rect">
            <a:avLst/>
          </a:prstGeom>
          <a:noFill/>
        </p:spPr>
        <p:txBody>
          <a:bodyPr wrap="square" lIns="0" rIns="0" tIns="0" bIns="0">
            <a:spAutoFit/>
          </a:bodyPr>
          <a:lstStyle/>
          <a:p>
            <a:pPr algn="ctr">
              <a:spcAft>
                <a:spcPts val="800"/>
              </a:spcAft>
              <a:defRPr sz="1700" b="0">
                <a:solidFill>
                  <a:srgbClr val="243746"/>
                </a:solidFill>
                <a:latin typeface="Arial"/>
              </a:defRPr>
            </a:pPr>
            <a:r>
              <a:t>Guide-assigned nuclei</a:t>
            </a:r>
          </a:p>
        </p:txBody>
      </p:sp>
      <p:sp>
        <p:nvSpPr>
          <p:cNvPr id="16" name="TextBox 15"/>
          <p:cNvSpPr txBox="1"/>
          <p:nvPr/>
        </p:nvSpPr>
        <p:spPr>
          <a:xfrm>
            <a:off x="8458200" y="4892040"/>
            <a:ext cx="3063240" cy="822960"/>
          </a:xfrm>
          <a:prstGeom prst="rect">
            <a:avLst/>
          </a:prstGeom>
          <a:noFill/>
        </p:spPr>
        <p:txBody>
          <a:bodyPr wrap="square" lIns="0" rIns="0" tIns="0" bIns="0">
            <a:spAutoFit/>
          </a:bodyPr>
          <a:lstStyle/>
          <a:p>
            <a:pPr algn="ctr">
              <a:spcAft>
                <a:spcPts val="800"/>
              </a:spcAft>
              <a:defRPr sz="1800" b="1">
                <a:solidFill>
                  <a:srgbClr val="173A53"/>
                </a:solidFill>
                <a:latin typeface="Arial"/>
              </a:defRPr>
            </a:pPr>
            <a:r>
              <a:t>23 RNA-program hits</a:t>
            </a:r>
          </a:p>
          <a:p>
            <a:pPr algn="ctr">
              <a:spcAft>
                <a:spcPts val="800"/>
              </a:spcAft>
              <a:defRPr sz="1800" b="1">
                <a:solidFill>
                  <a:srgbClr val="173A53"/>
                </a:solidFill>
                <a:latin typeface="Arial"/>
              </a:defRPr>
            </a:pPr>
            <a:r>
              <a:t>(2 known controls)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FUNCTIONAL GENOMICS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transcriptional screen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Different perturbations affect different maturation programs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Fig.6e–g; original supplied slide 14</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30</a:t>
            </a:r>
          </a:p>
        </p:txBody>
      </p:sp>
      <p:pic>
        <p:nvPicPr>
          <p:cNvPr id="9" name="Picture 8" descr="perturbation_matrix.png"/>
          <p:cNvPicPr>
            <a:picLocks noChangeAspect="1"/>
          </p:cNvPicPr>
          <p:nvPr/>
        </p:nvPicPr>
        <p:blipFill>
          <a:blip r:embed="rId2"/>
          <a:stretch>
            <a:fillRect/>
          </a:stretch>
        </p:blipFill>
        <p:spPr>
          <a:xfrm>
            <a:off x="1517025" y="1645920"/>
            <a:ext cx="9173189" cy="3977639"/>
          </a:xfrm>
          <a:prstGeom prst="rect">
            <a:avLst/>
          </a:prstGeom>
        </p:spPr>
      </p:pic>
      <p:sp>
        <p:nvSpPr>
          <p:cNvPr id="10" name="Rectangle 9"/>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PIP-seq phenotype modules are broader RNA programs, distinct from the spatial 21-gene Xenium score.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VALIDATE FUNCTION</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targeted perturbation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Rreb1 supports CM growth and T-tubule organization</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Fig.7b–e; author-supplied manuscript panels</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31</a:t>
            </a:r>
          </a:p>
        </p:txBody>
      </p:sp>
      <p:sp>
        <p:nvSpPr>
          <p:cNvPr id="9" name="TextBox 8"/>
          <p:cNvSpPr txBox="1"/>
          <p:nvPr/>
        </p:nvSpPr>
        <p:spPr>
          <a:xfrm>
            <a:off x="685800" y="1645920"/>
            <a:ext cx="5303520" cy="457200"/>
          </a:xfrm>
          <a:prstGeom prst="rect">
            <a:avLst/>
          </a:prstGeom>
          <a:noFill/>
        </p:spPr>
        <p:txBody>
          <a:bodyPr wrap="square" lIns="0" rIns="0" tIns="0" bIns="0">
            <a:spAutoFit/>
          </a:bodyPr>
          <a:lstStyle/>
          <a:p>
            <a:pPr>
              <a:spcAft>
                <a:spcPts val="800"/>
              </a:spcAft>
              <a:defRPr sz="2300" b="1">
                <a:solidFill>
                  <a:srgbClr val="173A53"/>
                </a:solidFill>
                <a:latin typeface="Arial"/>
              </a:defRPr>
            </a:pPr>
            <a:r>
              <a:t>P14 · Cardiomyocyte growth</a:t>
            </a:r>
          </a:p>
        </p:txBody>
      </p:sp>
      <p:sp>
        <p:nvSpPr>
          <p:cNvPr id="10" name="TextBox 9"/>
          <p:cNvSpPr txBox="1"/>
          <p:nvPr/>
        </p:nvSpPr>
        <p:spPr>
          <a:xfrm>
            <a:off x="6355080" y="1645920"/>
            <a:ext cx="5212080" cy="457200"/>
          </a:xfrm>
          <a:prstGeom prst="rect">
            <a:avLst/>
          </a:prstGeom>
          <a:noFill/>
        </p:spPr>
        <p:txBody>
          <a:bodyPr wrap="square" lIns="0" rIns="0" tIns="0" bIns="0">
            <a:spAutoFit/>
          </a:bodyPr>
          <a:lstStyle/>
          <a:p>
            <a:pPr>
              <a:spcAft>
                <a:spcPts val="800"/>
              </a:spcAft>
              <a:defRPr sz="2300" b="1">
                <a:solidFill>
                  <a:srgbClr val="173A53"/>
                </a:solidFill>
                <a:latin typeface="Arial"/>
              </a:defRPr>
            </a:pPr>
            <a:r>
              <a:t>P35 · T-tubule organization</a:t>
            </a:r>
          </a:p>
        </p:txBody>
      </p:sp>
      <p:pic>
        <p:nvPicPr>
          <p:cNvPr id="11" name="Picture 10" descr="rreb1_growth.png"/>
          <p:cNvPicPr>
            <a:picLocks noChangeAspect="1"/>
          </p:cNvPicPr>
          <p:nvPr/>
        </p:nvPicPr>
        <p:blipFill>
          <a:blip r:embed="rId2"/>
          <a:stretch>
            <a:fillRect/>
          </a:stretch>
        </p:blipFill>
        <p:spPr>
          <a:xfrm>
            <a:off x="594360" y="2712720"/>
            <a:ext cx="5303520" cy="2209800"/>
          </a:xfrm>
          <a:prstGeom prst="rect">
            <a:avLst/>
          </a:prstGeom>
        </p:spPr>
      </p:pic>
      <p:pic>
        <p:nvPicPr>
          <p:cNvPr id="12" name="Picture 11" descr="rreb1_tubules.png"/>
          <p:cNvPicPr>
            <a:picLocks noChangeAspect="1"/>
          </p:cNvPicPr>
          <p:nvPr/>
        </p:nvPicPr>
        <p:blipFill>
          <a:blip r:embed="rId3"/>
          <a:stretch>
            <a:fillRect/>
          </a:stretch>
        </p:blipFill>
        <p:spPr>
          <a:xfrm>
            <a:off x="6263640" y="2313506"/>
            <a:ext cx="5303520" cy="3008226"/>
          </a:xfrm>
          <a:prstGeom prst="rect">
            <a:avLst/>
          </a:prstGeom>
        </p:spPr>
      </p:pic>
      <p:sp>
        <p:nvSpPr>
          <p:cNvPr id="13" name="Rectangle 12"/>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Targeted postnatal perturbation links a screen candidate to structural CM phenotypes.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VALIDATE FUNCTION</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targeted perturbation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Electrical and metabolic measurements extend the phenotype</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Fig.7f–h</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32</a:t>
            </a:r>
          </a:p>
        </p:txBody>
      </p:sp>
      <p:sp>
        <p:nvSpPr>
          <p:cNvPr id="9" name="TextBox 8"/>
          <p:cNvSpPr txBox="1"/>
          <p:nvPr/>
        </p:nvSpPr>
        <p:spPr>
          <a:xfrm>
            <a:off x="685800" y="1645920"/>
            <a:ext cx="5486400" cy="457200"/>
          </a:xfrm>
          <a:prstGeom prst="rect">
            <a:avLst/>
          </a:prstGeom>
          <a:noFill/>
        </p:spPr>
        <p:txBody>
          <a:bodyPr wrap="square" lIns="0" rIns="0" tIns="0" bIns="0">
            <a:spAutoFit/>
          </a:bodyPr>
          <a:lstStyle/>
          <a:p>
            <a:pPr>
              <a:spcAft>
                <a:spcPts val="800"/>
              </a:spcAft>
              <a:defRPr sz="2300" b="1">
                <a:solidFill>
                  <a:srgbClr val="173A53"/>
                </a:solidFill>
                <a:latin typeface="Arial"/>
              </a:defRPr>
            </a:pPr>
            <a:r>
              <a:t>Electrical and contraction readouts</a:t>
            </a:r>
          </a:p>
        </p:txBody>
      </p:sp>
      <p:sp>
        <p:nvSpPr>
          <p:cNvPr id="10" name="TextBox 9"/>
          <p:cNvSpPr txBox="1"/>
          <p:nvPr/>
        </p:nvSpPr>
        <p:spPr>
          <a:xfrm>
            <a:off x="6766560" y="1645920"/>
            <a:ext cx="4754880" cy="457200"/>
          </a:xfrm>
          <a:prstGeom prst="rect">
            <a:avLst/>
          </a:prstGeom>
          <a:noFill/>
        </p:spPr>
        <p:txBody>
          <a:bodyPr wrap="square" lIns="0" rIns="0" tIns="0" bIns="0">
            <a:spAutoFit/>
          </a:bodyPr>
          <a:lstStyle/>
          <a:p>
            <a:pPr>
              <a:spcAft>
                <a:spcPts val="800"/>
              </a:spcAft>
              <a:defRPr sz="2300" b="1">
                <a:solidFill>
                  <a:srgbClr val="173A53"/>
                </a:solidFill>
                <a:latin typeface="Arial"/>
              </a:defRPr>
            </a:pPr>
            <a:r>
              <a:t>Mitochondrial respiration</a:t>
            </a:r>
          </a:p>
        </p:txBody>
      </p:sp>
      <p:pic>
        <p:nvPicPr>
          <p:cNvPr id="11" name="Picture 10" descr="rreb1_electrical.png"/>
          <p:cNvPicPr>
            <a:picLocks noChangeAspect="1"/>
          </p:cNvPicPr>
          <p:nvPr/>
        </p:nvPicPr>
        <p:blipFill>
          <a:blip r:embed="rId2"/>
          <a:stretch>
            <a:fillRect/>
          </a:stretch>
        </p:blipFill>
        <p:spPr>
          <a:xfrm>
            <a:off x="594360" y="2365910"/>
            <a:ext cx="5715000" cy="3031434"/>
          </a:xfrm>
          <a:prstGeom prst="rect">
            <a:avLst/>
          </a:prstGeom>
        </p:spPr>
      </p:pic>
      <p:pic>
        <p:nvPicPr>
          <p:cNvPr id="12" name="Picture 11" descr="rreb1_respiration.png"/>
          <p:cNvPicPr>
            <a:picLocks noChangeAspect="1"/>
          </p:cNvPicPr>
          <p:nvPr/>
        </p:nvPicPr>
        <p:blipFill>
          <a:blip r:embed="rId3"/>
          <a:stretch>
            <a:fillRect/>
          </a:stretch>
        </p:blipFill>
        <p:spPr>
          <a:xfrm>
            <a:off x="6675051" y="2212848"/>
            <a:ext cx="4846456" cy="3337559"/>
          </a:xfrm>
          <a:prstGeom prst="rect">
            <a:avLst/>
          </a:prstGeom>
        </p:spPr>
      </p:pic>
      <p:sp>
        <p:nvSpPr>
          <p:cNvPr id="13" name="Rectangle 12"/>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Independent assay types extend the RNA-screen phenotype; fluorescence and contraction are not direct force measurements.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VALIDATE FUNCTION</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targeted perturbation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Rreb1 perturbation also reduces heart-level performance</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Fig.7i–o</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33</a:t>
            </a:r>
          </a:p>
        </p:txBody>
      </p:sp>
      <p:pic>
        <p:nvPicPr>
          <p:cNvPr id="9" name="Picture 8" descr="rreb1_heart_function.png"/>
          <p:cNvPicPr>
            <a:picLocks noChangeAspect="1"/>
          </p:cNvPicPr>
          <p:nvPr/>
        </p:nvPicPr>
        <p:blipFill>
          <a:blip r:embed="rId2"/>
          <a:stretch>
            <a:fillRect/>
          </a:stretch>
        </p:blipFill>
        <p:spPr>
          <a:xfrm>
            <a:off x="594360" y="1768690"/>
            <a:ext cx="7680960" cy="3732098"/>
          </a:xfrm>
          <a:prstGeom prst="rect">
            <a:avLst/>
          </a:prstGeom>
        </p:spPr>
      </p:pic>
      <p:sp>
        <p:nvSpPr>
          <p:cNvPr id="10" name="Rounded Rectangle 9"/>
          <p:cNvSpPr/>
          <p:nvPr/>
        </p:nvSpPr>
        <p:spPr>
          <a:xfrm>
            <a:off x="8549640" y="1828800"/>
            <a:ext cx="3017520" cy="3611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49640" y="1828800"/>
            <a:ext cx="59436" cy="3611880"/>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50808" y="2011680"/>
            <a:ext cx="265176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Heart-level outcome</a:t>
            </a:r>
          </a:p>
        </p:txBody>
      </p:sp>
      <p:sp>
        <p:nvSpPr>
          <p:cNvPr id="13" name="TextBox 12"/>
          <p:cNvSpPr txBox="1"/>
          <p:nvPr/>
        </p:nvSpPr>
        <p:spPr>
          <a:xfrm>
            <a:off x="8750808" y="2788920"/>
            <a:ext cx="2633472" cy="2514600"/>
          </a:xfrm>
          <a:prstGeom prst="rect">
            <a:avLst/>
          </a:prstGeom>
          <a:noFill/>
        </p:spPr>
        <p:txBody>
          <a:bodyPr wrap="square" lIns="0" rIns="0" tIns="0" bIns="0">
            <a:spAutoFit/>
          </a:bodyPr>
          <a:lstStyle/>
          <a:p>
            <a:pPr>
              <a:spcAft>
                <a:spcPts val="800"/>
              </a:spcAft>
              <a:defRPr sz="2100" b="0">
                <a:solidFill>
                  <a:srgbClr val="243746"/>
                </a:solidFill>
                <a:latin typeface="Arial"/>
              </a:defRPr>
            </a:pPr>
            <a:r>
              <a:t>Fractional shortening ↓</a:t>
            </a:r>
          </a:p>
          <a:p>
            <a:pPr>
              <a:spcAft>
                <a:spcPts val="800"/>
              </a:spcAft>
              <a:defRPr sz="2100" b="0">
                <a:solidFill>
                  <a:srgbClr val="243746"/>
                </a:solidFill>
                <a:latin typeface="Arial"/>
              </a:defRPr>
            </a:pPr>
            <a:r>
              <a:t>Ejection fraction ↓</a:t>
            </a:r>
          </a:p>
          <a:p>
            <a:pPr>
              <a:spcAft>
                <a:spcPts val="800"/>
              </a:spcAft>
              <a:defRPr sz="2100" b="0">
                <a:solidFill>
                  <a:srgbClr val="243746"/>
                </a:solidFill>
                <a:latin typeface="Arial"/>
              </a:defRPr>
            </a:pPr>
          </a:p>
          <a:p>
            <a:pPr>
              <a:spcAft>
                <a:spcPts val="800"/>
              </a:spcAft>
              <a:defRPr sz="2100" b="0">
                <a:solidFill>
                  <a:srgbClr val="243746"/>
                </a:solidFill>
                <a:latin typeface="Arial"/>
              </a:defRPr>
            </a:pPr>
            <a:r>
              <a:t>7 control mice</a:t>
            </a:r>
          </a:p>
          <a:p>
            <a:pPr>
              <a:spcAft>
                <a:spcPts val="800"/>
              </a:spcAft>
              <a:defRPr sz="2100" b="0">
                <a:solidFill>
                  <a:srgbClr val="243746"/>
                </a:solidFill>
                <a:latin typeface="Arial"/>
              </a:defRPr>
            </a:pPr>
            <a:r>
              <a:t>10 sgRreb1 mice</a:t>
            </a:r>
          </a:p>
        </p:txBody>
      </p:sp>
      <p:sp>
        <p:nvSpPr>
          <p:cNvPr id="14" name="Rectangle 13"/>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A thyroid-hormone-associated downstream program is nominated; causal mediation still requires testing.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INTEGRATE THE STORY</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Working biological model</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Mature muscle emerges within a developing tissue system</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Lu et al. Nature Cell Biology 23, 967–977 (2021); doi:10.1038/s41556-021-00747-1; Reviewed 21-gene follow-up (frozen analysis)</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34</a:t>
            </a:r>
          </a:p>
        </p:txBody>
      </p:sp>
      <p:sp>
        <p:nvSpPr>
          <p:cNvPr id="9" name="Rounded Rectangle 8"/>
          <p:cNvSpPr/>
          <p:nvPr/>
        </p:nvSpPr>
        <p:spPr>
          <a:xfrm>
            <a:off x="594360" y="1737360"/>
            <a:ext cx="3246120" cy="329184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737360"/>
            <a:ext cx="59436" cy="329184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920240"/>
            <a:ext cx="288036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Vascular context</a:t>
            </a:r>
          </a:p>
        </p:txBody>
      </p:sp>
      <p:sp>
        <p:nvSpPr>
          <p:cNvPr id="12" name="TextBox 11"/>
          <p:cNvSpPr txBox="1"/>
          <p:nvPr/>
        </p:nvSpPr>
        <p:spPr>
          <a:xfrm>
            <a:off x="795528" y="2697480"/>
            <a:ext cx="2862072" cy="2194560"/>
          </a:xfrm>
          <a:prstGeom prst="rect">
            <a:avLst/>
          </a:prstGeom>
          <a:noFill/>
        </p:spPr>
        <p:txBody>
          <a:bodyPr wrap="square" lIns="0" rIns="0" tIns="0" bIns="0">
            <a:spAutoFit/>
          </a:bodyPr>
          <a:lstStyle/>
          <a:p>
            <a:pPr>
              <a:spcAft>
                <a:spcPts val="800"/>
              </a:spcAft>
              <a:defRPr sz="2300" b="0">
                <a:solidFill>
                  <a:srgbClr val="243746"/>
                </a:solidFill>
                <a:latin typeface="Arial"/>
              </a:defRPr>
            </a:pPr>
            <a:r>
              <a:t>Access, coverage</a:t>
            </a:r>
          </a:p>
          <a:p>
            <a:pPr>
              <a:spcAft>
                <a:spcPts val="800"/>
              </a:spcAft>
              <a:defRPr sz="2300" b="0">
                <a:solidFill>
                  <a:srgbClr val="243746"/>
                </a:solidFill>
                <a:latin typeface="Arial"/>
              </a:defRPr>
            </a:pPr>
            <a:r>
              <a:t>and local interactions</a:t>
            </a:r>
          </a:p>
        </p:txBody>
      </p:sp>
      <p:sp>
        <p:nvSpPr>
          <p:cNvPr id="13" name="Rounded Rectangle 12"/>
          <p:cNvSpPr/>
          <p:nvPr/>
        </p:nvSpPr>
        <p:spPr>
          <a:xfrm>
            <a:off x="4480560" y="1737360"/>
            <a:ext cx="3246120" cy="329184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37360"/>
            <a:ext cx="59436" cy="329184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81728" y="1920240"/>
            <a:ext cx="288036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CM competence</a:t>
            </a:r>
          </a:p>
        </p:txBody>
      </p:sp>
      <p:sp>
        <p:nvSpPr>
          <p:cNvPr id="16" name="TextBox 15"/>
          <p:cNvSpPr txBox="1"/>
          <p:nvPr/>
        </p:nvSpPr>
        <p:spPr>
          <a:xfrm>
            <a:off x="4681728" y="2697480"/>
            <a:ext cx="2862072" cy="2194560"/>
          </a:xfrm>
          <a:prstGeom prst="rect">
            <a:avLst/>
          </a:prstGeom>
          <a:noFill/>
        </p:spPr>
        <p:txBody>
          <a:bodyPr wrap="square" lIns="0" rIns="0" tIns="0" bIns="0">
            <a:spAutoFit/>
          </a:bodyPr>
          <a:lstStyle/>
          <a:p>
            <a:pPr>
              <a:spcAft>
                <a:spcPts val="800"/>
              </a:spcAft>
              <a:defRPr sz="2200" b="0">
                <a:solidFill>
                  <a:srgbClr val="243746"/>
                </a:solidFill>
                <a:latin typeface="Arial"/>
              </a:defRPr>
            </a:pPr>
            <a:r>
              <a:t>Intrinsic gene regulation</a:t>
            </a:r>
          </a:p>
          <a:p>
            <a:pPr>
              <a:spcAft>
                <a:spcPts val="800"/>
              </a:spcAft>
              <a:defRPr sz="2200" b="0">
                <a:solidFill>
                  <a:srgbClr val="243746"/>
                </a:solidFill>
                <a:latin typeface="Arial"/>
              </a:defRPr>
            </a:pPr>
          </a:p>
          <a:p>
            <a:pPr>
              <a:spcAft>
                <a:spcPts val="800"/>
              </a:spcAft>
              <a:defRPr sz="2200" b="0">
                <a:solidFill>
                  <a:srgbClr val="243746"/>
                </a:solidFill>
                <a:latin typeface="Arial"/>
              </a:defRPr>
            </a:pPr>
            <a:r>
              <a:t>Rreb1 perturbation</a:t>
            </a:r>
          </a:p>
          <a:p>
            <a:pPr>
              <a:spcAft>
                <a:spcPts val="800"/>
              </a:spcAft>
              <a:defRPr sz="2200" b="0">
                <a:solidFill>
                  <a:srgbClr val="243746"/>
                </a:solidFill>
                <a:latin typeface="Arial"/>
              </a:defRPr>
            </a:pPr>
            <a:r>
              <a:t>affects function</a:t>
            </a:r>
          </a:p>
        </p:txBody>
      </p:sp>
      <p:sp>
        <p:nvSpPr>
          <p:cNvPr id="17" name="Rounded Rectangle 16"/>
          <p:cNvSpPr/>
          <p:nvPr/>
        </p:nvSpPr>
        <p:spPr>
          <a:xfrm>
            <a:off x="8366760" y="1737360"/>
            <a:ext cx="3246120" cy="329184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66760" y="1737360"/>
            <a:ext cx="59436" cy="3291840"/>
          </a:xfrm>
          <a:prstGeom prst="rect">
            <a:avLst/>
          </a:prstGeom>
          <a:solidFill>
            <a:srgbClr val="7758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67928" y="1920240"/>
            <a:ext cx="288036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Matrix context</a:t>
            </a:r>
          </a:p>
        </p:txBody>
      </p:sp>
      <p:sp>
        <p:nvSpPr>
          <p:cNvPr id="20" name="TextBox 19"/>
          <p:cNvSpPr txBox="1"/>
          <p:nvPr/>
        </p:nvSpPr>
        <p:spPr>
          <a:xfrm>
            <a:off x="8567928" y="2697480"/>
            <a:ext cx="2862072" cy="2194560"/>
          </a:xfrm>
          <a:prstGeom prst="rect">
            <a:avLst/>
          </a:prstGeom>
          <a:noFill/>
        </p:spPr>
        <p:txBody>
          <a:bodyPr wrap="square" lIns="0" rIns="0" tIns="0" bIns="0">
            <a:spAutoFit/>
          </a:bodyPr>
          <a:lstStyle/>
          <a:p>
            <a:pPr>
              <a:spcAft>
                <a:spcPts val="800"/>
              </a:spcAft>
              <a:defRPr sz="2300" b="0">
                <a:solidFill>
                  <a:srgbClr val="243746"/>
                </a:solidFill>
                <a:latin typeface="Arial"/>
              </a:defRPr>
            </a:pPr>
            <a:r>
              <a:t>Family-specific programs</a:t>
            </a:r>
          </a:p>
          <a:p>
            <a:pPr>
              <a:spcAft>
                <a:spcPts val="800"/>
              </a:spcAft>
              <a:defRPr sz="2300" b="0">
                <a:solidFill>
                  <a:srgbClr val="243746"/>
                </a:solidFill>
                <a:latin typeface="Arial"/>
              </a:defRPr>
            </a:pPr>
            <a:r>
              <a:t>and tissue organization</a:t>
            </a:r>
          </a:p>
        </p:txBody>
      </p:sp>
      <p:cxnSp>
        <p:nvCxnSpPr>
          <p:cNvPr id="21" name="Connector 20"/>
          <p:cNvCxnSpPr/>
          <p:nvPr/>
        </p:nvCxnSpPr>
        <p:spPr>
          <a:xfrm>
            <a:off x="3886200" y="2926080"/>
            <a:ext cx="530352" cy="0"/>
          </a:xfrm>
          <a:prstGeom prst="line">
            <a:avLst/>
          </a:prstGeom>
          <a:ln w="25400">
            <a:solidFill>
              <a:srgbClr val="208B8C"/>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7772400" y="2926080"/>
            <a:ext cx="530352" cy="0"/>
          </a:xfrm>
          <a:prstGeom prst="line">
            <a:avLst/>
          </a:prstGeom>
          <a:ln w="25400">
            <a:solidFill>
              <a:srgbClr val="7758A4"/>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886200" y="3337560"/>
            <a:ext cx="530352" cy="0"/>
          </a:xfrm>
          <a:prstGeom prst="line">
            <a:avLst/>
          </a:prstGeom>
          <a:ln w="25400">
            <a:solidFill>
              <a:srgbClr val="208B8C"/>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772400" y="3337560"/>
            <a:ext cx="530352" cy="0"/>
          </a:xfrm>
          <a:prstGeom prst="line">
            <a:avLst/>
          </a:prstGeom>
          <a:ln w="25400">
            <a:solidFill>
              <a:srgbClr val="7758A4"/>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480560" y="5266944"/>
            <a:ext cx="3246120" cy="411480"/>
          </a:xfrm>
          <a:prstGeom prst="roundRect">
            <a:avLst/>
          </a:prstGeom>
          <a:solidFill>
            <a:srgbClr val="173A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5340096"/>
            <a:ext cx="3154680" cy="274320"/>
          </a:xfrm>
          <a:prstGeom prst="rect">
            <a:avLst/>
          </a:prstGeom>
          <a:noFill/>
        </p:spPr>
        <p:txBody>
          <a:bodyPr wrap="square" lIns="0" rIns="0" tIns="0" bIns="0">
            <a:spAutoFit/>
          </a:bodyPr>
          <a:lstStyle/>
          <a:p>
            <a:pPr algn="ctr">
              <a:spcAft>
                <a:spcPts val="800"/>
              </a:spcAft>
              <a:defRPr sz="1600" b="1">
                <a:solidFill>
                  <a:srgbClr val="FFFFFF"/>
                </a:solidFill>
                <a:latin typeface="Arial"/>
              </a:defRPr>
            </a:pPr>
            <a:r>
              <a:t>CM and heart performance</a:t>
            </a:r>
          </a:p>
        </p:txBody>
      </p:sp>
      <p:cxnSp>
        <p:nvCxnSpPr>
          <p:cNvPr id="27" name="Connector 26"/>
          <p:cNvCxnSpPr/>
          <p:nvPr/>
        </p:nvCxnSpPr>
        <p:spPr>
          <a:xfrm>
            <a:off x="6099048" y="5074920"/>
            <a:ext cx="0" cy="155448"/>
          </a:xfrm>
          <a:prstGeom prst="line">
            <a:avLst/>
          </a:prstGeom>
          <a:ln w="25400">
            <a:solidFill>
              <a:srgbClr val="4B9CD3"/>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Solid: tested perturbation outcome. Dashed: proposed reciprocal niche relationships.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IMPLICATIONS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Translational hypothesis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Development suggests goals for regenerative strategies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Guo &amp; Pu (2020); Tzahor &amp; Poss (2017); Wang et al., Nature Cardiovascular Research (2026)</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35</a:t>
            </a:r>
          </a:p>
        </p:txBody>
      </p:sp>
      <p:sp>
        <p:nvSpPr>
          <p:cNvPr id="9" name="Rounded Rectangle 8"/>
          <p:cNvSpPr/>
          <p:nvPr/>
        </p:nvSpPr>
        <p:spPr>
          <a:xfrm>
            <a:off x="594360" y="1874519"/>
            <a:ext cx="3520440" cy="33832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874519"/>
            <a:ext cx="59436" cy="338328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5740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Generate muscle</a:t>
            </a:r>
          </a:p>
        </p:txBody>
      </p:sp>
      <p:sp>
        <p:nvSpPr>
          <p:cNvPr id="12" name="TextBox 11"/>
          <p:cNvSpPr txBox="1"/>
          <p:nvPr/>
        </p:nvSpPr>
        <p:spPr>
          <a:xfrm>
            <a:off x="795528" y="2834639"/>
            <a:ext cx="3136392" cy="2286000"/>
          </a:xfrm>
          <a:prstGeom prst="rect">
            <a:avLst/>
          </a:prstGeom>
          <a:noFill/>
        </p:spPr>
        <p:txBody>
          <a:bodyPr wrap="square" lIns="0" rIns="0" tIns="0" bIns="0">
            <a:spAutoFit/>
          </a:bodyPr>
          <a:lstStyle/>
          <a:p>
            <a:pPr>
              <a:spcAft>
                <a:spcPts val="800"/>
              </a:spcAft>
              <a:defRPr sz="2300" b="0">
                <a:solidFill>
                  <a:srgbClr val="243746"/>
                </a:solidFill>
                <a:latin typeface="Arial"/>
              </a:defRPr>
            </a:pPr>
            <a:r>
              <a:t>Cell production and survival</a:t>
            </a:r>
          </a:p>
        </p:txBody>
      </p:sp>
      <p:sp>
        <p:nvSpPr>
          <p:cNvPr id="13" name="Rounded Rectangle 12"/>
          <p:cNvSpPr/>
          <p:nvPr/>
        </p:nvSpPr>
        <p:spPr>
          <a:xfrm>
            <a:off x="4389120" y="1874519"/>
            <a:ext cx="3520440" cy="33832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874519"/>
            <a:ext cx="59436" cy="338328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05740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Build the environment</a:t>
            </a:r>
          </a:p>
        </p:txBody>
      </p:sp>
      <p:sp>
        <p:nvSpPr>
          <p:cNvPr id="16" name="TextBox 15"/>
          <p:cNvSpPr txBox="1"/>
          <p:nvPr/>
        </p:nvSpPr>
        <p:spPr>
          <a:xfrm>
            <a:off x="4590288" y="2834639"/>
            <a:ext cx="3136392" cy="2286000"/>
          </a:xfrm>
          <a:prstGeom prst="rect">
            <a:avLst/>
          </a:prstGeom>
          <a:noFill/>
        </p:spPr>
        <p:txBody>
          <a:bodyPr wrap="square" lIns="0" rIns="0" tIns="0" bIns="0">
            <a:spAutoFit/>
          </a:bodyPr>
          <a:lstStyle/>
          <a:p>
            <a:pPr>
              <a:spcAft>
                <a:spcPts val="800"/>
              </a:spcAft>
              <a:defRPr sz="2300" b="0">
                <a:solidFill>
                  <a:srgbClr val="243746"/>
                </a:solidFill>
                <a:latin typeface="Arial"/>
              </a:defRPr>
            </a:pPr>
            <a:r>
              <a:t>Vascular access and matrix</a:t>
            </a:r>
          </a:p>
        </p:txBody>
      </p:sp>
      <p:sp>
        <p:nvSpPr>
          <p:cNvPr id="17" name="Rounded Rectangle 16"/>
          <p:cNvSpPr/>
          <p:nvPr/>
        </p:nvSpPr>
        <p:spPr>
          <a:xfrm>
            <a:off x="8183880" y="1874519"/>
            <a:ext cx="3520440" cy="33832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80" y="1874519"/>
            <a:ext cx="59436" cy="3383280"/>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5048" y="205740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Consolidate function</a:t>
            </a:r>
          </a:p>
        </p:txBody>
      </p:sp>
      <p:sp>
        <p:nvSpPr>
          <p:cNvPr id="20" name="TextBox 19"/>
          <p:cNvSpPr txBox="1"/>
          <p:nvPr/>
        </p:nvSpPr>
        <p:spPr>
          <a:xfrm>
            <a:off x="8385048" y="2834639"/>
            <a:ext cx="3136392" cy="2286000"/>
          </a:xfrm>
          <a:prstGeom prst="rect">
            <a:avLst/>
          </a:prstGeom>
          <a:noFill/>
        </p:spPr>
        <p:txBody>
          <a:bodyPr wrap="square" lIns="0" rIns="0" tIns="0" bIns="0">
            <a:spAutoFit/>
          </a:bodyPr>
          <a:lstStyle/>
          <a:p>
            <a:pPr>
              <a:spcAft>
                <a:spcPts val="800"/>
              </a:spcAft>
              <a:defRPr sz="2300" b="0">
                <a:solidFill>
                  <a:srgbClr val="243746"/>
                </a:solidFill>
                <a:latin typeface="Arial"/>
              </a:defRPr>
            </a:pPr>
            <a:r>
              <a:t>Structure, electrical behavior</a:t>
            </a:r>
          </a:p>
          <a:p>
            <a:pPr>
              <a:spcAft>
                <a:spcPts val="800"/>
              </a:spcAft>
              <a:defRPr sz="2300" b="0">
                <a:solidFill>
                  <a:srgbClr val="243746"/>
                </a:solidFill>
                <a:latin typeface="Arial"/>
              </a:defRPr>
            </a:pPr>
            <a:r>
              <a:t>and metabolic capacity</a:t>
            </a:r>
          </a:p>
        </p:txBody>
      </p:sp>
      <p:sp>
        <p:nvSpPr>
          <p:cNvPr id="21" name="Rectangle 20"/>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Overlapping developmental goals guide a regenerative hypothesis; no treatment efficacy is claimed.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IMPLICATIONS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Proposed experiments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Three experiments can distinguish the remaining explanations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inference boundaries from Wang et al., Nature Cardiovascular Research (2026)</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36</a:t>
            </a:r>
          </a:p>
        </p:txBody>
      </p:sp>
      <p:sp>
        <p:nvSpPr>
          <p:cNvPr id="9" name="Rounded Rectangle 8"/>
          <p:cNvSpPr/>
          <p:nvPr/>
        </p:nvSpPr>
        <p:spPr>
          <a:xfrm>
            <a:off x="594360" y="1737360"/>
            <a:ext cx="3520440" cy="37947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737360"/>
            <a:ext cx="59436" cy="379476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92024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1  Vascular support</a:t>
            </a:r>
          </a:p>
        </p:txBody>
      </p:sp>
      <p:sp>
        <p:nvSpPr>
          <p:cNvPr id="12" name="TextBox 11"/>
          <p:cNvSpPr txBox="1"/>
          <p:nvPr/>
        </p:nvSpPr>
        <p:spPr>
          <a:xfrm>
            <a:off x="795528" y="2697480"/>
            <a:ext cx="3136392" cy="2697480"/>
          </a:xfrm>
          <a:prstGeom prst="rect">
            <a:avLst/>
          </a:prstGeom>
          <a:noFill/>
        </p:spPr>
        <p:txBody>
          <a:bodyPr wrap="square" lIns="0" rIns="0" tIns="0" bIns="0">
            <a:spAutoFit/>
          </a:bodyPr>
          <a:lstStyle/>
          <a:p>
            <a:pPr>
              <a:spcAft>
                <a:spcPts val="800"/>
              </a:spcAft>
              <a:defRPr sz="2100" b="0">
                <a:solidFill>
                  <a:srgbClr val="243746"/>
                </a:solidFill>
                <a:latin typeface="Arial"/>
              </a:defRPr>
            </a:pPr>
            <a:r>
              <a:t>Independent hearts</a:t>
            </a:r>
          </a:p>
          <a:p>
            <a:pPr>
              <a:spcAft>
                <a:spcPts val="800"/>
              </a:spcAft>
              <a:defRPr sz="2100" b="0">
                <a:solidFill>
                  <a:srgbClr val="243746"/>
                </a:solidFill>
                <a:latin typeface="Arial"/>
              </a:defRPr>
            </a:pPr>
            <a:r>
              <a:t>Matched ventricular regions</a:t>
            </a:r>
          </a:p>
          <a:p>
            <a:pPr>
              <a:spcAft>
                <a:spcPts val="800"/>
              </a:spcAft>
              <a:defRPr sz="2100" b="0">
                <a:solidFill>
                  <a:srgbClr val="243746"/>
                </a:solidFill>
                <a:latin typeface="Arial"/>
              </a:defRPr>
            </a:pPr>
            <a:r>
              <a:t>Perfused-capillary measures</a:t>
            </a:r>
          </a:p>
          <a:p>
            <a:pPr>
              <a:spcAft>
                <a:spcPts val="800"/>
              </a:spcAft>
              <a:defRPr sz="2100" b="0">
                <a:solidFill>
                  <a:srgbClr val="243746"/>
                </a:solidFill>
                <a:latin typeface="Arial"/>
              </a:defRPr>
            </a:pPr>
            <a:r>
              <a:t>21-gene score + CM function</a:t>
            </a:r>
          </a:p>
        </p:txBody>
      </p:sp>
      <p:sp>
        <p:nvSpPr>
          <p:cNvPr id="13" name="Rounded Rectangle 12"/>
          <p:cNvSpPr/>
          <p:nvPr/>
        </p:nvSpPr>
        <p:spPr>
          <a:xfrm>
            <a:off x="4389120" y="1737360"/>
            <a:ext cx="3520440" cy="37947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737360"/>
            <a:ext cx="59436" cy="379476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192024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2  Contact signaling</a:t>
            </a:r>
          </a:p>
        </p:txBody>
      </p:sp>
      <p:sp>
        <p:nvSpPr>
          <p:cNvPr id="16" name="TextBox 15"/>
          <p:cNvSpPr txBox="1"/>
          <p:nvPr/>
        </p:nvSpPr>
        <p:spPr>
          <a:xfrm>
            <a:off x="4590288" y="2697480"/>
            <a:ext cx="3136392" cy="2697480"/>
          </a:xfrm>
          <a:prstGeom prst="rect">
            <a:avLst/>
          </a:prstGeom>
          <a:noFill/>
        </p:spPr>
        <p:txBody>
          <a:bodyPr wrap="square" lIns="0" rIns="0" tIns="0" bIns="0">
            <a:spAutoFit/>
          </a:bodyPr>
          <a:lstStyle/>
          <a:p>
            <a:pPr>
              <a:spcAft>
                <a:spcPts val="800"/>
              </a:spcAft>
              <a:defRPr sz="2100" b="0">
                <a:solidFill>
                  <a:srgbClr val="243746"/>
                </a:solidFill>
                <a:latin typeface="Arial"/>
              </a:defRPr>
            </a:pPr>
            <a:r>
              <a:t>EC- versus CM-specific</a:t>
            </a:r>
          </a:p>
          <a:p>
            <a:pPr>
              <a:spcAft>
                <a:spcPts val="800"/>
              </a:spcAft>
              <a:defRPr sz="2100" b="0">
                <a:solidFill>
                  <a:srgbClr val="243746"/>
                </a:solidFill>
                <a:latin typeface="Arial"/>
              </a:defRPr>
            </a:pPr>
            <a:r>
              <a:t>perturbation</a:t>
            </a:r>
          </a:p>
          <a:p>
            <a:pPr>
              <a:spcAft>
                <a:spcPts val="800"/>
              </a:spcAft>
              <a:defRPr sz="2100" b="0">
                <a:solidFill>
                  <a:srgbClr val="243746"/>
                </a:solidFill>
                <a:latin typeface="Arial"/>
              </a:defRPr>
            </a:pPr>
            <a:r>
              <a:t>Downstream rescue</a:t>
            </a:r>
          </a:p>
          <a:p>
            <a:pPr>
              <a:spcAft>
                <a:spcPts val="800"/>
              </a:spcAft>
              <a:defRPr sz="2100" b="0">
                <a:solidFill>
                  <a:srgbClr val="243746"/>
                </a:solidFill>
                <a:latin typeface="Arial"/>
              </a:defRPr>
            </a:pPr>
            <a:r>
              <a:t>Separate source and receiver</a:t>
            </a:r>
          </a:p>
        </p:txBody>
      </p:sp>
      <p:sp>
        <p:nvSpPr>
          <p:cNvPr id="17" name="Rounded Rectangle 16"/>
          <p:cNvSpPr/>
          <p:nvPr/>
        </p:nvSpPr>
        <p:spPr>
          <a:xfrm>
            <a:off x="8183879" y="1737360"/>
            <a:ext cx="3520440" cy="37947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79" y="1737360"/>
            <a:ext cx="59436" cy="3794760"/>
          </a:xfrm>
          <a:prstGeom prst="rect">
            <a:avLst/>
          </a:prstGeom>
          <a:solidFill>
            <a:srgbClr val="7758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5048" y="192024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3  Matrix organization</a:t>
            </a:r>
          </a:p>
        </p:txBody>
      </p:sp>
      <p:sp>
        <p:nvSpPr>
          <p:cNvPr id="20" name="TextBox 19"/>
          <p:cNvSpPr txBox="1"/>
          <p:nvPr/>
        </p:nvSpPr>
        <p:spPr>
          <a:xfrm>
            <a:off x="8385048" y="2697480"/>
            <a:ext cx="3136392" cy="2697480"/>
          </a:xfrm>
          <a:prstGeom prst="rect">
            <a:avLst/>
          </a:prstGeom>
          <a:noFill/>
        </p:spPr>
        <p:txBody>
          <a:bodyPr wrap="square" lIns="0" rIns="0" tIns="0" bIns="0">
            <a:spAutoFit/>
          </a:bodyPr>
          <a:lstStyle/>
          <a:p>
            <a:pPr>
              <a:spcAft>
                <a:spcPts val="800"/>
              </a:spcAft>
              <a:defRPr sz="2100" b="0">
                <a:solidFill>
                  <a:srgbClr val="243746"/>
                </a:solidFill>
                <a:latin typeface="Arial"/>
              </a:defRPr>
            </a:pPr>
            <a:r>
              <a:t>Defined FB state / matrix</a:t>
            </a:r>
          </a:p>
          <a:p>
            <a:pPr>
              <a:spcAft>
                <a:spcPts val="800"/>
              </a:spcAft>
              <a:defRPr sz="2100" b="0">
                <a:solidFill>
                  <a:srgbClr val="243746"/>
                </a:solidFill>
                <a:latin typeface="Arial"/>
              </a:defRPr>
            </a:pPr>
            <a:r>
              <a:t>Regional anatomy controls</a:t>
            </a:r>
          </a:p>
          <a:p>
            <a:pPr>
              <a:spcAft>
                <a:spcPts val="800"/>
              </a:spcAft>
              <a:defRPr sz="2100" b="0">
                <a:solidFill>
                  <a:srgbClr val="243746"/>
                </a:solidFill>
                <a:latin typeface="Arial"/>
              </a:defRPr>
            </a:pPr>
            <a:r>
              <a:t>Vascular and CM readouts</a:t>
            </a:r>
          </a:p>
          <a:p>
            <a:pPr>
              <a:spcAft>
                <a:spcPts val="800"/>
              </a:spcAft>
              <a:defRPr sz="2100" b="0">
                <a:solidFill>
                  <a:srgbClr val="243746"/>
                </a:solidFill>
                <a:latin typeface="Arial"/>
              </a:defRPr>
            </a:pPr>
            <a:r>
              <a:t>Intermediate P3/P5/P10 stages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TAKE-HOME MESSAGES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Synthesis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A functional heart requires both a tissue map and gene tests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Lu et al. Nature Cell Biology 23, 967–977 (2021); doi:10.1038/s41556-021-00747-1; reviewed exploratory follow-up</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37</a:t>
            </a:r>
          </a:p>
        </p:txBody>
      </p:sp>
      <p:sp>
        <p:nvSpPr>
          <p:cNvPr id="9" name="Rounded Rectangle 8"/>
          <p:cNvSpPr/>
          <p:nvPr/>
        </p:nvSpPr>
        <p:spPr>
          <a:xfrm>
            <a:off x="594360" y="1691640"/>
            <a:ext cx="11018520" cy="10972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56232"/>
            <a:ext cx="777240" cy="548640"/>
          </a:xfrm>
          <a:prstGeom prst="rect">
            <a:avLst/>
          </a:prstGeom>
          <a:noFill/>
        </p:spPr>
        <p:txBody>
          <a:bodyPr wrap="square" lIns="0" rIns="0" tIns="0" bIns="0">
            <a:spAutoFit/>
          </a:bodyPr>
          <a:lstStyle/>
          <a:p>
            <a:pPr>
              <a:spcAft>
                <a:spcPts val="800"/>
              </a:spcAft>
              <a:defRPr sz="3300" b="1">
                <a:solidFill>
                  <a:srgbClr val="4B9CD3"/>
                </a:solidFill>
                <a:latin typeface="Arial"/>
              </a:defRPr>
            </a:pPr>
            <a:r>
              <a:t>01</a:t>
            </a:r>
          </a:p>
        </p:txBody>
      </p:sp>
      <p:sp>
        <p:nvSpPr>
          <p:cNvPr id="11" name="TextBox 10"/>
          <p:cNvSpPr txBox="1"/>
          <p:nvPr/>
        </p:nvSpPr>
        <p:spPr>
          <a:xfrm>
            <a:off x="1828800" y="1819656"/>
            <a:ext cx="9418320" cy="457200"/>
          </a:xfrm>
          <a:prstGeom prst="rect">
            <a:avLst/>
          </a:prstGeom>
          <a:noFill/>
        </p:spPr>
        <p:txBody>
          <a:bodyPr wrap="square" lIns="0" rIns="0" tIns="0" bIns="0">
            <a:spAutoFit/>
          </a:bodyPr>
          <a:lstStyle/>
          <a:p>
            <a:pPr>
              <a:spcAft>
                <a:spcPts val="800"/>
              </a:spcAft>
              <a:defRPr sz="2500" b="1">
                <a:solidFill>
                  <a:srgbClr val="173A53"/>
                </a:solidFill>
                <a:latin typeface="Arial"/>
              </a:defRPr>
            </a:pPr>
            <a:r>
              <a:t>Maturation has a spatial landscape</a:t>
            </a:r>
          </a:p>
        </p:txBody>
      </p:sp>
      <p:sp>
        <p:nvSpPr>
          <p:cNvPr id="12" name="TextBox 11"/>
          <p:cNvSpPr txBox="1"/>
          <p:nvPr/>
        </p:nvSpPr>
        <p:spPr>
          <a:xfrm>
            <a:off x="1828800" y="2322576"/>
            <a:ext cx="9418320" cy="365760"/>
          </a:xfrm>
          <a:prstGeom prst="rect">
            <a:avLst/>
          </a:prstGeom>
          <a:noFill/>
        </p:spPr>
        <p:txBody>
          <a:bodyPr wrap="square" lIns="0" rIns="0" tIns="0" bIns="0">
            <a:spAutoFit/>
          </a:bodyPr>
          <a:lstStyle/>
          <a:p>
            <a:pPr>
              <a:spcAft>
                <a:spcPts val="800"/>
              </a:spcAft>
              <a:defRPr sz="1800" b="0">
                <a:solidFill>
                  <a:srgbClr val="243746"/>
                </a:solidFill>
                <a:latin typeface="Arial"/>
              </a:defRPr>
            </a:pPr>
            <a:r>
              <a:t>Age and CM identity do not explain all within-section variation.</a:t>
            </a:r>
          </a:p>
        </p:txBody>
      </p:sp>
      <p:sp>
        <p:nvSpPr>
          <p:cNvPr id="13" name="Rounded Rectangle 12"/>
          <p:cNvSpPr/>
          <p:nvPr/>
        </p:nvSpPr>
        <p:spPr>
          <a:xfrm>
            <a:off x="594360" y="3017520"/>
            <a:ext cx="11018520" cy="10972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82112"/>
            <a:ext cx="777240" cy="548640"/>
          </a:xfrm>
          <a:prstGeom prst="rect">
            <a:avLst/>
          </a:prstGeom>
          <a:noFill/>
        </p:spPr>
        <p:txBody>
          <a:bodyPr wrap="square" lIns="0" rIns="0" tIns="0" bIns="0">
            <a:spAutoFit/>
          </a:bodyPr>
          <a:lstStyle/>
          <a:p>
            <a:pPr>
              <a:spcAft>
                <a:spcPts val="800"/>
              </a:spcAft>
              <a:defRPr sz="3300" b="1">
                <a:solidFill>
                  <a:srgbClr val="208B8C"/>
                </a:solidFill>
                <a:latin typeface="Arial"/>
              </a:defRPr>
            </a:pPr>
            <a:r>
              <a:t>02</a:t>
            </a:r>
          </a:p>
        </p:txBody>
      </p:sp>
      <p:sp>
        <p:nvSpPr>
          <p:cNvPr id="15" name="TextBox 14"/>
          <p:cNvSpPr txBox="1"/>
          <p:nvPr/>
        </p:nvSpPr>
        <p:spPr>
          <a:xfrm>
            <a:off x="1828800" y="3145536"/>
            <a:ext cx="9418320" cy="457200"/>
          </a:xfrm>
          <a:prstGeom prst="rect">
            <a:avLst/>
          </a:prstGeom>
          <a:noFill/>
        </p:spPr>
        <p:txBody>
          <a:bodyPr wrap="square" lIns="0" rIns="0" tIns="0" bIns="0">
            <a:spAutoFit/>
          </a:bodyPr>
          <a:lstStyle/>
          <a:p>
            <a:pPr>
              <a:spcAft>
                <a:spcPts val="800"/>
              </a:spcAft>
              <a:defRPr sz="2500" b="1">
                <a:solidFill>
                  <a:srgbClr val="173A53"/>
                </a:solidFill>
                <a:latin typeface="Arial"/>
              </a:defRPr>
            </a:pPr>
            <a:r>
              <a:t>Neighbor identity sharpens the biological question</a:t>
            </a:r>
          </a:p>
        </p:txBody>
      </p:sp>
      <p:sp>
        <p:nvSpPr>
          <p:cNvPr id="16" name="TextBox 15"/>
          <p:cNvSpPr txBox="1"/>
          <p:nvPr/>
        </p:nvSpPr>
        <p:spPr>
          <a:xfrm>
            <a:off x="1828800" y="3648456"/>
            <a:ext cx="9418320" cy="365760"/>
          </a:xfrm>
          <a:prstGeom prst="rect">
            <a:avLst/>
          </a:prstGeom>
          <a:noFill/>
        </p:spPr>
        <p:txBody>
          <a:bodyPr wrap="square" lIns="0" rIns="0" tIns="0" bIns="0">
            <a:spAutoFit/>
          </a:bodyPr>
          <a:lstStyle/>
          <a:p>
            <a:pPr>
              <a:spcAft>
                <a:spcPts val="800"/>
              </a:spcAft>
              <a:defRPr sz="1800" b="0">
                <a:solidFill>
                  <a:srgbClr val="243746"/>
                </a:solidFill>
                <a:latin typeface="Arial"/>
              </a:defRPr>
            </a:pPr>
            <a:r>
              <a:t>Capillary organization is associated; finer matrix mechanisms remain hypotheses.</a:t>
            </a:r>
          </a:p>
        </p:txBody>
      </p:sp>
      <p:sp>
        <p:nvSpPr>
          <p:cNvPr id="17" name="Rounded Rectangle 16"/>
          <p:cNvSpPr/>
          <p:nvPr/>
        </p:nvSpPr>
        <p:spPr>
          <a:xfrm>
            <a:off x="594360" y="4343400"/>
            <a:ext cx="11018520" cy="10972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507992"/>
            <a:ext cx="777240" cy="548640"/>
          </a:xfrm>
          <a:prstGeom prst="rect">
            <a:avLst/>
          </a:prstGeom>
          <a:noFill/>
        </p:spPr>
        <p:txBody>
          <a:bodyPr wrap="square" lIns="0" rIns="0" tIns="0" bIns="0">
            <a:spAutoFit/>
          </a:bodyPr>
          <a:lstStyle/>
          <a:p>
            <a:pPr>
              <a:spcAft>
                <a:spcPts val="800"/>
              </a:spcAft>
              <a:defRPr sz="3300" b="1">
                <a:solidFill>
                  <a:srgbClr val="CA8D36"/>
                </a:solidFill>
                <a:latin typeface="Arial"/>
              </a:defRPr>
            </a:pPr>
            <a:r>
              <a:t>03</a:t>
            </a:r>
          </a:p>
        </p:txBody>
      </p:sp>
      <p:sp>
        <p:nvSpPr>
          <p:cNvPr id="19" name="TextBox 18"/>
          <p:cNvSpPr txBox="1"/>
          <p:nvPr/>
        </p:nvSpPr>
        <p:spPr>
          <a:xfrm>
            <a:off x="1828800" y="4471416"/>
            <a:ext cx="9418320" cy="457200"/>
          </a:xfrm>
          <a:prstGeom prst="rect">
            <a:avLst/>
          </a:prstGeom>
          <a:noFill/>
        </p:spPr>
        <p:txBody>
          <a:bodyPr wrap="square" lIns="0" rIns="0" tIns="0" bIns="0">
            <a:spAutoFit/>
          </a:bodyPr>
          <a:lstStyle/>
          <a:p>
            <a:pPr>
              <a:spcAft>
                <a:spcPts val="800"/>
              </a:spcAft>
              <a:defRPr sz="2500" b="1">
                <a:solidFill>
                  <a:srgbClr val="173A53"/>
                </a:solidFill>
                <a:latin typeface="Arial"/>
              </a:defRPr>
            </a:pPr>
            <a:r>
              <a:t>Functional genetics moves the story forward</a:t>
            </a:r>
          </a:p>
        </p:txBody>
      </p:sp>
      <p:sp>
        <p:nvSpPr>
          <p:cNvPr id="20" name="TextBox 19"/>
          <p:cNvSpPr txBox="1"/>
          <p:nvPr/>
        </p:nvSpPr>
        <p:spPr>
          <a:xfrm>
            <a:off x="1828800" y="4974336"/>
            <a:ext cx="9418320" cy="365760"/>
          </a:xfrm>
          <a:prstGeom prst="rect">
            <a:avLst/>
          </a:prstGeom>
          <a:noFill/>
        </p:spPr>
        <p:txBody>
          <a:bodyPr wrap="square" lIns="0" rIns="0" tIns="0" bIns="0">
            <a:spAutoFit/>
          </a:bodyPr>
          <a:lstStyle/>
          <a:p>
            <a:pPr>
              <a:spcAft>
                <a:spcPts val="800"/>
              </a:spcAft>
              <a:defRPr sz="1800" b="0">
                <a:solidFill>
                  <a:srgbClr val="243746"/>
                </a:solidFill>
                <a:latin typeface="Arial"/>
              </a:defRPr>
            </a:pPr>
            <a:r>
              <a:t>Targeted validation connects a candidate gene to cell and heart performance.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cknowledgments_original.png"/>
          <p:cNvPicPr>
            <a:picLocks noChangeAspect="1"/>
          </p:cNvPicPr>
          <p:nvPr/>
        </p:nvPicPr>
        <p:blipFill>
          <a:blip r:embed="rId2"/>
          <a:stretch>
            <a:fillRect/>
          </a:stretch>
        </p:blipFill>
        <p:spPr>
          <a:xfrm>
            <a:off x="0" y="1870"/>
            <a:ext cx="12191695" cy="685425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METHODS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Measured Xenium panel</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Backup | The exact 21-gene spatial outcome</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measured_21gene_panel.tsv; analysis_settings.json</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39</a:t>
            </a:r>
          </a:p>
        </p:txBody>
      </p:sp>
      <p:sp>
        <p:nvSpPr>
          <p:cNvPr id="9" name="Rounded Rectangle 8"/>
          <p:cNvSpPr/>
          <p:nvPr/>
        </p:nvSpPr>
        <p:spPr>
          <a:xfrm>
            <a:off x="594360" y="1737360"/>
            <a:ext cx="3520440" cy="33375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20240"/>
            <a:ext cx="3154680" cy="411480"/>
          </a:xfrm>
          <a:prstGeom prst="rect">
            <a:avLst/>
          </a:prstGeom>
          <a:noFill/>
        </p:spPr>
        <p:txBody>
          <a:bodyPr wrap="square" lIns="0" rIns="0" tIns="0" bIns="0">
            <a:spAutoFit/>
          </a:bodyPr>
          <a:lstStyle/>
          <a:p>
            <a:pPr>
              <a:spcAft>
                <a:spcPts val="800"/>
              </a:spcAft>
              <a:defRPr sz="2000" b="1">
                <a:solidFill>
                  <a:srgbClr val="208B8C"/>
                </a:solidFill>
                <a:latin typeface="Arial"/>
              </a:defRPr>
            </a:pPr>
            <a:r>
              <a:t>Measured targets</a:t>
            </a:r>
          </a:p>
        </p:txBody>
      </p:sp>
      <p:sp>
        <p:nvSpPr>
          <p:cNvPr id="11" name="TextBox 10"/>
          <p:cNvSpPr txBox="1"/>
          <p:nvPr/>
        </p:nvSpPr>
        <p:spPr>
          <a:xfrm>
            <a:off x="777240" y="2560320"/>
            <a:ext cx="3154680" cy="2286000"/>
          </a:xfrm>
          <a:prstGeom prst="rect">
            <a:avLst/>
          </a:prstGeom>
          <a:noFill/>
        </p:spPr>
        <p:txBody>
          <a:bodyPr wrap="square" lIns="0" rIns="0" tIns="0" bIns="0">
            <a:spAutoFit/>
          </a:bodyPr>
          <a:lstStyle/>
          <a:p>
            <a:pPr>
              <a:lnSpc>
                <a:spcPts val="2400"/>
              </a:lnSpc>
              <a:spcAft>
                <a:spcPts val="0"/>
              </a:spcAft>
              <a:defRPr sz="2100" b="0">
                <a:solidFill>
                  <a:srgbClr val="243746"/>
                </a:solidFill>
                <a:latin typeface="Arial"/>
              </a:defRPr>
            </a:pPr>
            <a:r>
              <a:t>Rxrg</a:t>
            </a:r>
          </a:p>
          <a:p>
            <a:pPr>
              <a:lnSpc>
                <a:spcPts val="2400"/>
              </a:lnSpc>
              <a:spcAft>
                <a:spcPts val="0"/>
              </a:spcAft>
              <a:defRPr sz="2100" b="0">
                <a:solidFill>
                  <a:srgbClr val="243746"/>
                </a:solidFill>
                <a:latin typeface="Arial"/>
              </a:defRPr>
            </a:pPr>
            <a:r>
              <a:t>Ppargc1a</a:t>
            </a:r>
          </a:p>
          <a:p>
            <a:pPr>
              <a:lnSpc>
                <a:spcPts val="2400"/>
              </a:lnSpc>
              <a:spcAft>
                <a:spcPts val="0"/>
              </a:spcAft>
              <a:defRPr sz="2100" b="0">
                <a:solidFill>
                  <a:srgbClr val="243746"/>
                </a:solidFill>
                <a:latin typeface="Arial"/>
              </a:defRPr>
            </a:pPr>
            <a:r>
              <a:t>Ppargc1b</a:t>
            </a:r>
          </a:p>
          <a:p>
            <a:pPr>
              <a:lnSpc>
                <a:spcPts val="2400"/>
              </a:lnSpc>
              <a:spcAft>
                <a:spcPts val="0"/>
              </a:spcAft>
              <a:defRPr sz="2100" b="0">
                <a:solidFill>
                  <a:srgbClr val="243746"/>
                </a:solidFill>
                <a:latin typeface="Arial"/>
              </a:defRPr>
            </a:pPr>
            <a:r>
              <a:t>Cebpa</a:t>
            </a:r>
          </a:p>
          <a:p>
            <a:pPr>
              <a:lnSpc>
                <a:spcPts val="2400"/>
              </a:lnSpc>
              <a:spcAft>
                <a:spcPts val="0"/>
              </a:spcAft>
              <a:defRPr sz="2100" b="0">
                <a:solidFill>
                  <a:srgbClr val="243746"/>
                </a:solidFill>
                <a:latin typeface="Arial"/>
              </a:defRPr>
            </a:pPr>
            <a:r>
              <a:t>Cebpb</a:t>
            </a:r>
          </a:p>
          <a:p>
            <a:pPr>
              <a:lnSpc>
                <a:spcPts val="2400"/>
              </a:lnSpc>
              <a:spcAft>
                <a:spcPts val="0"/>
              </a:spcAft>
              <a:defRPr sz="2100" b="0">
                <a:solidFill>
                  <a:srgbClr val="243746"/>
                </a:solidFill>
                <a:latin typeface="Arial"/>
              </a:defRPr>
            </a:pPr>
            <a:r>
              <a:t>Esrra</a:t>
            </a:r>
          </a:p>
          <a:p>
            <a:pPr>
              <a:lnSpc>
                <a:spcPts val="2400"/>
              </a:lnSpc>
              <a:spcAft>
                <a:spcPts val="0"/>
              </a:spcAft>
              <a:defRPr sz="2100" b="0">
                <a:solidFill>
                  <a:srgbClr val="243746"/>
                </a:solidFill>
                <a:latin typeface="Arial"/>
              </a:defRPr>
            </a:pPr>
            <a:r>
              <a:t>Esrrb</a:t>
            </a:r>
          </a:p>
        </p:txBody>
      </p:sp>
      <p:sp>
        <p:nvSpPr>
          <p:cNvPr id="12" name="Rounded Rectangle 11"/>
          <p:cNvSpPr/>
          <p:nvPr/>
        </p:nvSpPr>
        <p:spPr>
          <a:xfrm>
            <a:off x="4389120" y="1737360"/>
            <a:ext cx="3520440" cy="33375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920240"/>
            <a:ext cx="3154680" cy="411480"/>
          </a:xfrm>
          <a:prstGeom prst="rect">
            <a:avLst/>
          </a:prstGeom>
          <a:noFill/>
        </p:spPr>
        <p:txBody>
          <a:bodyPr wrap="square" lIns="0" rIns="0" tIns="0" bIns="0">
            <a:spAutoFit/>
          </a:bodyPr>
          <a:lstStyle/>
          <a:p>
            <a:pPr>
              <a:spcAft>
                <a:spcPts val="800"/>
              </a:spcAft>
              <a:defRPr sz="2000" b="1">
                <a:solidFill>
                  <a:srgbClr val="208B8C"/>
                </a:solidFill>
                <a:latin typeface="Arial"/>
              </a:defRPr>
            </a:pPr>
            <a:r>
              <a:t>Measured targets</a:t>
            </a:r>
          </a:p>
        </p:txBody>
      </p:sp>
      <p:sp>
        <p:nvSpPr>
          <p:cNvPr id="14" name="TextBox 13"/>
          <p:cNvSpPr txBox="1"/>
          <p:nvPr/>
        </p:nvSpPr>
        <p:spPr>
          <a:xfrm>
            <a:off x="4572000" y="2560320"/>
            <a:ext cx="3154680" cy="2286000"/>
          </a:xfrm>
          <a:prstGeom prst="rect">
            <a:avLst/>
          </a:prstGeom>
          <a:noFill/>
        </p:spPr>
        <p:txBody>
          <a:bodyPr wrap="square" lIns="0" rIns="0" tIns="0" bIns="0">
            <a:spAutoFit/>
          </a:bodyPr>
          <a:lstStyle/>
          <a:p>
            <a:pPr>
              <a:lnSpc>
                <a:spcPts val="2400"/>
              </a:lnSpc>
              <a:spcAft>
                <a:spcPts val="0"/>
              </a:spcAft>
              <a:defRPr sz="2100" b="0">
                <a:solidFill>
                  <a:srgbClr val="243746"/>
                </a:solidFill>
                <a:latin typeface="Arial"/>
              </a:defRPr>
            </a:pPr>
            <a:r>
              <a:t>Esrrg</a:t>
            </a:r>
          </a:p>
          <a:p>
            <a:pPr>
              <a:lnSpc>
                <a:spcPts val="2400"/>
              </a:lnSpc>
              <a:spcAft>
                <a:spcPts val="0"/>
              </a:spcAft>
              <a:defRPr sz="2100" b="0">
                <a:solidFill>
                  <a:srgbClr val="243746"/>
                </a:solidFill>
                <a:latin typeface="Arial"/>
              </a:defRPr>
            </a:pPr>
            <a:r>
              <a:t>Mitf</a:t>
            </a:r>
          </a:p>
          <a:p>
            <a:pPr>
              <a:lnSpc>
                <a:spcPts val="2400"/>
              </a:lnSpc>
              <a:spcAft>
                <a:spcPts val="0"/>
              </a:spcAft>
              <a:defRPr sz="2100" b="0">
                <a:solidFill>
                  <a:srgbClr val="243746"/>
                </a:solidFill>
                <a:latin typeface="Arial"/>
              </a:defRPr>
            </a:pPr>
            <a:r>
              <a:t>Myh6</a:t>
            </a:r>
          </a:p>
          <a:p>
            <a:pPr>
              <a:lnSpc>
                <a:spcPts val="2400"/>
              </a:lnSpc>
              <a:spcAft>
                <a:spcPts val="0"/>
              </a:spcAft>
              <a:defRPr sz="2100" b="0">
                <a:solidFill>
                  <a:srgbClr val="243746"/>
                </a:solidFill>
                <a:latin typeface="Arial"/>
              </a:defRPr>
            </a:pPr>
            <a:r>
              <a:t>Tnni3</a:t>
            </a:r>
          </a:p>
          <a:p>
            <a:pPr>
              <a:lnSpc>
                <a:spcPts val="2400"/>
              </a:lnSpc>
              <a:spcAft>
                <a:spcPts val="0"/>
              </a:spcAft>
              <a:defRPr sz="2100" b="0">
                <a:solidFill>
                  <a:srgbClr val="243746"/>
                </a:solidFill>
                <a:latin typeface="Arial"/>
              </a:defRPr>
            </a:pPr>
            <a:r>
              <a:t>Myl2</a:t>
            </a:r>
          </a:p>
          <a:p>
            <a:pPr>
              <a:lnSpc>
                <a:spcPts val="2400"/>
              </a:lnSpc>
              <a:spcAft>
                <a:spcPts val="0"/>
              </a:spcAft>
              <a:defRPr sz="2100" b="0">
                <a:solidFill>
                  <a:srgbClr val="243746"/>
                </a:solidFill>
                <a:latin typeface="Arial"/>
              </a:defRPr>
            </a:pPr>
            <a:r>
              <a:t>Kcnq1</a:t>
            </a:r>
          </a:p>
          <a:p>
            <a:pPr>
              <a:lnSpc>
                <a:spcPts val="2400"/>
              </a:lnSpc>
              <a:spcAft>
                <a:spcPts val="0"/>
              </a:spcAft>
              <a:defRPr sz="2100" b="0">
                <a:solidFill>
                  <a:srgbClr val="243746"/>
                </a:solidFill>
                <a:latin typeface="Arial"/>
              </a:defRPr>
            </a:pPr>
            <a:r>
              <a:t>Jph1</a:t>
            </a:r>
          </a:p>
        </p:txBody>
      </p:sp>
      <p:sp>
        <p:nvSpPr>
          <p:cNvPr id="15" name="Rounded Rectangle 14"/>
          <p:cNvSpPr/>
          <p:nvPr/>
        </p:nvSpPr>
        <p:spPr>
          <a:xfrm>
            <a:off x="8183880" y="1737360"/>
            <a:ext cx="3520440" cy="333756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1920240"/>
            <a:ext cx="3154680" cy="411480"/>
          </a:xfrm>
          <a:prstGeom prst="rect">
            <a:avLst/>
          </a:prstGeom>
          <a:noFill/>
        </p:spPr>
        <p:txBody>
          <a:bodyPr wrap="square" lIns="0" rIns="0" tIns="0" bIns="0">
            <a:spAutoFit/>
          </a:bodyPr>
          <a:lstStyle/>
          <a:p>
            <a:pPr>
              <a:spcAft>
                <a:spcPts val="800"/>
              </a:spcAft>
              <a:defRPr sz="2000" b="1">
                <a:solidFill>
                  <a:srgbClr val="208B8C"/>
                </a:solidFill>
                <a:latin typeface="Arial"/>
              </a:defRPr>
            </a:pPr>
            <a:r>
              <a:t>Measured targets</a:t>
            </a:r>
          </a:p>
        </p:txBody>
      </p:sp>
      <p:sp>
        <p:nvSpPr>
          <p:cNvPr id="17" name="TextBox 16"/>
          <p:cNvSpPr txBox="1"/>
          <p:nvPr/>
        </p:nvSpPr>
        <p:spPr>
          <a:xfrm>
            <a:off x="8366760" y="2560320"/>
            <a:ext cx="3154680" cy="2286000"/>
          </a:xfrm>
          <a:prstGeom prst="rect">
            <a:avLst/>
          </a:prstGeom>
          <a:noFill/>
        </p:spPr>
        <p:txBody>
          <a:bodyPr wrap="square" lIns="0" rIns="0" tIns="0" bIns="0">
            <a:spAutoFit/>
          </a:bodyPr>
          <a:lstStyle/>
          <a:p>
            <a:pPr>
              <a:lnSpc>
                <a:spcPts val="2400"/>
              </a:lnSpc>
              <a:spcAft>
                <a:spcPts val="0"/>
              </a:spcAft>
              <a:defRPr sz="2100" b="0">
                <a:solidFill>
                  <a:srgbClr val="243746"/>
                </a:solidFill>
                <a:latin typeface="Arial"/>
              </a:defRPr>
            </a:pPr>
            <a:r>
              <a:t>Jph2</a:t>
            </a:r>
          </a:p>
          <a:p>
            <a:pPr>
              <a:lnSpc>
                <a:spcPts val="2400"/>
              </a:lnSpc>
              <a:spcAft>
                <a:spcPts val="0"/>
              </a:spcAft>
              <a:defRPr sz="2100" b="0">
                <a:solidFill>
                  <a:srgbClr val="243746"/>
                </a:solidFill>
                <a:latin typeface="Arial"/>
              </a:defRPr>
            </a:pPr>
            <a:r>
              <a:t>Bin1</a:t>
            </a:r>
          </a:p>
          <a:p>
            <a:pPr>
              <a:lnSpc>
                <a:spcPts val="2400"/>
              </a:lnSpc>
              <a:spcAft>
                <a:spcPts val="0"/>
              </a:spcAft>
              <a:defRPr sz="2100" b="0">
                <a:solidFill>
                  <a:srgbClr val="243746"/>
                </a:solidFill>
                <a:latin typeface="Arial"/>
              </a:defRPr>
            </a:pPr>
            <a:r>
              <a:t>Lpin1</a:t>
            </a:r>
          </a:p>
          <a:p>
            <a:pPr>
              <a:lnSpc>
                <a:spcPts val="2400"/>
              </a:lnSpc>
              <a:spcAft>
                <a:spcPts val="0"/>
              </a:spcAft>
              <a:defRPr sz="2100" b="0">
                <a:solidFill>
                  <a:srgbClr val="243746"/>
                </a:solidFill>
                <a:latin typeface="Arial"/>
              </a:defRPr>
            </a:pPr>
            <a:r>
              <a:t>Pln</a:t>
            </a:r>
          </a:p>
          <a:p>
            <a:pPr>
              <a:lnSpc>
                <a:spcPts val="2400"/>
              </a:lnSpc>
              <a:spcAft>
                <a:spcPts val="0"/>
              </a:spcAft>
              <a:defRPr sz="2100" b="0">
                <a:solidFill>
                  <a:srgbClr val="243746"/>
                </a:solidFill>
                <a:latin typeface="Arial"/>
              </a:defRPr>
            </a:pPr>
            <a:r>
              <a:t>Ppara</a:t>
            </a:r>
          </a:p>
          <a:p>
            <a:pPr>
              <a:lnSpc>
                <a:spcPts val="2400"/>
              </a:lnSpc>
              <a:spcAft>
                <a:spcPts val="0"/>
              </a:spcAft>
              <a:defRPr sz="2100" b="0">
                <a:solidFill>
                  <a:srgbClr val="243746"/>
                </a:solidFill>
                <a:latin typeface="Arial"/>
              </a:defRPr>
            </a:pPr>
            <a:r>
              <a:t>Ppard</a:t>
            </a:r>
          </a:p>
          <a:p>
            <a:pPr>
              <a:lnSpc>
                <a:spcPts val="2400"/>
              </a:lnSpc>
              <a:spcAft>
                <a:spcPts val="0"/>
              </a:spcAft>
              <a:defRPr sz="2100" b="0">
                <a:solidFill>
                  <a:srgbClr val="243746"/>
                </a:solidFill>
                <a:latin typeface="Arial"/>
              </a:defRPr>
            </a:pPr>
            <a:r>
              <a:t>Cpt1b</a:t>
            </a:r>
          </a:p>
        </p:txBody>
      </p:sp>
      <p:sp>
        <p:nvSpPr>
          <p:cNvPr id="18" name="TextBox 17"/>
          <p:cNvSpPr txBox="1"/>
          <p:nvPr/>
        </p:nvSpPr>
        <p:spPr>
          <a:xfrm>
            <a:off x="685800" y="5321808"/>
            <a:ext cx="10789920" cy="457200"/>
          </a:xfrm>
          <a:prstGeom prst="rect">
            <a:avLst/>
          </a:prstGeom>
          <a:noFill/>
        </p:spPr>
        <p:txBody>
          <a:bodyPr wrap="square" lIns="0" rIns="0" tIns="0" bIns="0">
            <a:spAutoFit/>
          </a:bodyPr>
          <a:lstStyle/>
          <a:p>
            <a:pPr>
              <a:spcAft>
                <a:spcPts val="800"/>
              </a:spcAft>
              <a:defRPr sz="2000" b="1">
                <a:solidFill>
                  <a:srgbClr val="173A53"/>
                </a:solidFill>
                <a:latin typeface="Arial"/>
              </a:defRPr>
            </a:pPr>
            <a:r>
              <a:t>Module score = mean expression of 21 genes − expression-matched background</a:t>
            </a:r>
          </a:p>
        </p:txBody>
      </p:sp>
      <p:sp>
        <p:nvSpPr>
          <p:cNvPr id="19" name="Rectangle 18"/>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Reconstruction: 8 bins, 20 controls/gene, 50 draws; fixed cross-stage reference within each RNA view.</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METHODS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Source-label sensitivity</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Backup | Capillary labels limit the spatial conclusion</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source_label_sensitivity.tsv</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40</a:t>
            </a:r>
          </a:p>
        </p:txBody>
      </p:sp>
      <p:pic>
        <p:nvPicPr>
          <p:cNvPr id="9" name="Picture 8" descr="capillary_label_sensitivity.png"/>
          <p:cNvPicPr>
            <a:picLocks noChangeAspect="1"/>
          </p:cNvPicPr>
          <p:nvPr/>
        </p:nvPicPr>
        <p:blipFill>
          <a:blip r:embed="rId2"/>
          <a:stretch>
            <a:fillRect/>
          </a:stretch>
        </p:blipFill>
        <p:spPr>
          <a:xfrm>
            <a:off x="1287163" y="1737360"/>
            <a:ext cx="9587193" cy="3794760"/>
          </a:xfrm>
          <a:prstGeom prst="rect">
            <a:avLst/>
          </a:prstGeom>
        </p:spPr>
      </p:pic>
      <p:sp>
        <p:nvSpPr>
          <p:cNvPr id="10" name="Rectangle 9"/>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The strict source sets are sparse; neither annotation layer is established biological ground truth.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METHODS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QC and sensitivity</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Backup | Segmentation affects transcript ownership and geometry</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21-gene follow-up (frozen analysis); core_native_score_agreement.tsv; original boundary validation</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41</a:t>
            </a:r>
          </a:p>
        </p:txBody>
      </p:sp>
      <p:pic>
        <p:nvPicPr>
          <p:cNvPr id="9" name="Picture 8" descr="transcript_assignment_rank_sensitivity.png"/>
          <p:cNvPicPr>
            <a:picLocks noChangeAspect="1"/>
          </p:cNvPicPr>
          <p:nvPr/>
        </p:nvPicPr>
        <p:blipFill>
          <a:blip r:embed="rId2"/>
          <a:stretch>
            <a:fillRect/>
          </a:stretch>
        </p:blipFill>
        <p:spPr>
          <a:xfrm>
            <a:off x="858552" y="1737360"/>
            <a:ext cx="8707055" cy="3886200"/>
          </a:xfrm>
          <a:prstGeom prst="rect">
            <a:avLst/>
          </a:prstGeom>
        </p:spPr>
      </p:pic>
      <p:sp>
        <p:nvSpPr>
          <p:cNvPr id="10" name="TextBox 9"/>
          <p:cNvSpPr txBox="1"/>
          <p:nvPr/>
        </p:nvSpPr>
        <p:spPr>
          <a:xfrm>
            <a:off x="10104120" y="2057400"/>
            <a:ext cx="1417320" cy="3017520"/>
          </a:xfrm>
          <a:prstGeom prst="rect">
            <a:avLst/>
          </a:prstGeom>
          <a:noFill/>
        </p:spPr>
        <p:txBody>
          <a:bodyPr wrap="square" lIns="0" rIns="0" tIns="0" bIns="0">
            <a:spAutoFit/>
          </a:bodyPr>
          <a:lstStyle/>
          <a:p>
            <a:pPr>
              <a:spcAft>
                <a:spcPts val="800"/>
              </a:spcAft>
              <a:defRPr sz="1800" b="1">
                <a:solidFill>
                  <a:srgbClr val="173A53"/>
                </a:solidFill>
                <a:latin typeface="Arial"/>
              </a:defRPr>
            </a:pPr>
            <a:r>
              <a:t>Keep valid</a:t>
            </a:r>
          </a:p>
          <a:p>
            <a:pPr>
              <a:spcAft>
                <a:spcPts val="800"/>
              </a:spcAft>
              <a:defRPr sz="1800" b="1">
                <a:solidFill>
                  <a:srgbClr val="173A53"/>
                </a:solidFill>
                <a:latin typeface="Arial"/>
              </a:defRPr>
            </a:pPr>
            <a:r>
              <a:t>nucleus-free</a:t>
            </a:r>
          </a:p>
          <a:p>
            <a:pPr>
              <a:spcAft>
                <a:spcPts val="800"/>
              </a:spcAft>
              <a:defRPr sz="1800" b="1">
                <a:solidFill>
                  <a:srgbClr val="173A53"/>
                </a:solidFill>
                <a:latin typeface="Arial"/>
              </a:defRPr>
            </a:pPr>
            <a:r>
              <a:t>CM profiles.</a:t>
            </a:r>
          </a:p>
          <a:p>
            <a:pPr>
              <a:spcAft>
                <a:spcPts val="800"/>
              </a:spcAft>
              <a:defRPr sz="1800" b="1">
                <a:solidFill>
                  <a:srgbClr val="173A53"/>
                </a:solidFill>
                <a:latin typeface="Arial"/>
              </a:defRPr>
            </a:pPr>
          </a:p>
          <a:p>
            <a:pPr>
              <a:spcAft>
                <a:spcPts val="800"/>
              </a:spcAft>
              <a:defRPr sz="1800" b="1">
                <a:solidFill>
                  <a:srgbClr val="173A53"/>
                </a:solidFill>
                <a:latin typeface="Arial"/>
              </a:defRPr>
            </a:pPr>
            <a:r>
              <a:t>Core counts</a:t>
            </a:r>
          </a:p>
          <a:p>
            <a:pPr>
              <a:spcAft>
                <a:spcPts val="800"/>
              </a:spcAft>
              <a:defRPr sz="1800" b="1">
                <a:solidFill>
                  <a:srgbClr val="173A53"/>
                </a:solidFill>
                <a:latin typeface="Arial"/>
              </a:defRPr>
            </a:pPr>
            <a:r>
              <a:t>are not</a:t>
            </a:r>
          </a:p>
          <a:p>
            <a:pPr>
              <a:spcAft>
                <a:spcPts val="800"/>
              </a:spcAft>
              <a:defRPr sz="1800" b="1">
                <a:solidFill>
                  <a:srgbClr val="173A53"/>
                </a:solidFill>
                <a:latin typeface="Arial"/>
              </a:defRPr>
            </a:pPr>
            <a:r>
              <a:t>nuclear-only</a:t>
            </a:r>
          </a:p>
          <a:p>
            <a:pPr>
              <a:spcAft>
                <a:spcPts val="800"/>
              </a:spcAft>
              <a:defRPr sz="1800" b="1">
                <a:solidFill>
                  <a:srgbClr val="173A53"/>
                </a:solidFill>
                <a:latin typeface="Arial"/>
              </a:defRPr>
            </a:pPr>
            <a:r>
              <a:t>truth.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DEVELOPMENTAL QUESTIONS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Hypotheses from cross-sectional data</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Backup | Fibroblast state change is not lineage tracing</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Reviewed fibroblast reference and spatial annotations; Hortells et al. PNAS (2020); doi:10.1073/pnas.2009119117; PMID:32817558</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42</a:t>
            </a:r>
          </a:p>
        </p:txBody>
      </p:sp>
      <p:sp>
        <p:nvSpPr>
          <p:cNvPr id="9" name="Rounded Rectangle 8"/>
          <p:cNvSpPr/>
          <p:nvPr/>
        </p:nvSpPr>
        <p:spPr>
          <a:xfrm>
            <a:off x="594360" y="1828800"/>
            <a:ext cx="3520440" cy="3611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828800"/>
            <a:ext cx="59436" cy="361188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1168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Observed</a:t>
            </a:r>
          </a:p>
        </p:txBody>
      </p:sp>
      <p:sp>
        <p:nvSpPr>
          <p:cNvPr id="12" name="TextBox 11"/>
          <p:cNvSpPr txBox="1"/>
          <p:nvPr/>
        </p:nvSpPr>
        <p:spPr>
          <a:xfrm>
            <a:off x="795528" y="2788920"/>
            <a:ext cx="3136392" cy="2514600"/>
          </a:xfrm>
          <a:prstGeom prst="rect">
            <a:avLst/>
          </a:prstGeom>
          <a:noFill/>
        </p:spPr>
        <p:txBody>
          <a:bodyPr wrap="square" lIns="0" rIns="0" tIns="0" bIns="0">
            <a:spAutoFit/>
          </a:bodyPr>
          <a:lstStyle/>
          <a:p>
            <a:pPr>
              <a:spcAft>
                <a:spcPts val="800"/>
              </a:spcAft>
              <a:defRPr sz="2100" b="0">
                <a:solidFill>
                  <a:srgbClr val="243746"/>
                </a:solidFill>
                <a:latin typeface="Arial"/>
              </a:defRPr>
            </a:pPr>
            <a:r>
              <a:t>Different expression families</a:t>
            </a:r>
          </a:p>
          <a:p>
            <a:pPr>
              <a:spcAft>
                <a:spcPts val="800"/>
              </a:spcAft>
              <a:defRPr sz="2100" b="0">
                <a:solidFill>
                  <a:srgbClr val="243746"/>
                </a:solidFill>
                <a:latin typeface="Arial"/>
              </a:defRPr>
            </a:pPr>
            <a:r>
              <a:t>at different ages</a:t>
            </a:r>
          </a:p>
          <a:p>
            <a:pPr>
              <a:spcAft>
                <a:spcPts val="800"/>
              </a:spcAft>
              <a:defRPr sz="2100" b="0">
                <a:solidFill>
                  <a:srgbClr val="243746"/>
                </a:solidFill>
                <a:latin typeface="Arial"/>
              </a:defRPr>
            </a:pPr>
          </a:p>
          <a:p>
            <a:pPr>
              <a:spcAft>
                <a:spcPts val="800"/>
              </a:spcAft>
              <a:defRPr sz="2100" b="0">
                <a:solidFill>
                  <a:srgbClr val="243746"/>
                </a:solidFill>
                <a:latin typeface="Arial"/>
              </a:defRPr>
            </a:pPr>
            <a:r>
              <a:t>Growing tissue geometry</a:t>
            </a:r>
          </a:p>
        </p:txBody>
      </p:sp>
      <p:sp>
        <p:nvSpPr>
          <p:cNvPr id="13" name="Rounded Rectangle 12"/>
          <p:cNvSpPr/>
          <p:nvPr/>
        </p:nvSpPr>
        <p:spPr>
          <a:xfrm>
            <a:off x="4389120" y="1828800"/>
            <a:ext cx="3520440" cy="3611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828800"/>
            <a:ext cx="59436" cy="3611880"/>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01168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Possible explanations</a:t>
            </a:r>
          </a:p>
        </p:txBody>
      </p:sp>
      <p:sp>
        <p:nvSpPr>
          <p:cNvPr id="16" name="TextBox 15"/>
          <p:cNvSpPr txBox="1"/>
          <p:nvPr/>
        </p:nvSpPr>
        <p:spPr>
          <a:xfrm>
            <a:off x="4590288" y="2788920"/>
            <a:ext cx="3136392" cy="2514600"/>
          </a:xfrm>
          <a:prstGeom prst="rect">
            <a:avLst/>
          </a:prstGeom>
          <a:noFill/>
        </p:spPr>
        <p:txBody>
          <a:bodyPr wrap="square" lIns="0" rIns="0" tIns="0" bIns="0">
            <a:spAutoFit/>
          </a:bodyPr>
          <a:lstStyle/>
          <a:p>
            <a:pPr>
              <a:spcAft>
                <a:spcPts val="800"/>
              </a:spcAft>
              <a:defRPr sz="2100" b="0">
                <a:solidFill>
                  <a:srgbClr val="243746"/>
                </a:solidFill>
                <a:latin typeface="Arial"/>
              </a:defRPr>
            </a:pPr>
            <a:r>
              <a:t>State switching</a:t>
            </a:r>
          </a:p>
          <a:p>
            <a:pPr>
              <a:spcAft>
                <a:spcPts val="800"/>
              </a:spcAft>
              <a:defRPr sz="2100" b="0">
                <a:solidFill>
                  <a:srgbClr val="243746"/>
                </a:solidFill>
                <a:latin typeface="Arial"/>
              </a:defRPr>
            </a:pPr>
            <a:r>
              <a:t>Differential growth / survival</a:t>
            </a:r>
          </a:p>
          <a:p>
            <a:pPr>
              <a:spcAft>
                <a:spcPts val="800"/>
              </a:spcAft>
              <a:defRPr sz="2100" b="0">
                <a:solidFill>
                  <a:srgbClr val="243746"/>
                </a:solidFill>
                <a:latin typeface="Arial"/>
              </a:defRPr>
            </a:pPr>
            <a:r>
              <a:t>Sampling / label changes</a:t>
            </a:r>
          </a:p>
          <a:p>
            <a:pPr>
              <a:spcAft>
                <a:spcPts val="800"/>
              </a:spcAft>
              <a:defRPr sz="2100" b="0">
                <a:solidFill>
                  <a:srgbClr val="243746"/>
                </a:solidFill>
                <a:latin typeface="Arial"/>
              </a:defRPr>
            </a:pPr>
            <a:r>
              <a:t>Migration</a:t>
            </a:r>
          </a:p>
        </p:txBody>
      </p:sp>
      <p:sp>
        <p:nvSpPr>
          <p:cNvPr id="17" name="Rounded Rectangle 16"/>
          <p:cNvSpPr/>
          <p:nvPr/>
        </p:nvSpPr>
        <p:spPr>
          <a:xfrm>
            <a:off x="8183880" y="1828800"/>
            <a:ext cx="3520440" cy="3611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80" y="1828800"/>
            <a:ext cx="59436" cy="361188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5048" y="2011680"/>
            <a:ext cx="315468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Discriminating evidence</a:t>
            </a:r>
          </a:p>
        </p:txBody>
      </p:sp>
      <p:sp>
        <p:nvSpPr>
          <p:cNvPr id="20" name="TextBox 19"/>
          <p:cNvSpPr txBox="1"/>
          <p:nvPr/>
        </p:nvSpPr>
        <p:spPr>
          <a:xfrm>
            <a:off x="8385048" y="2788920"/>
            <a:ext cx="3136392" cy="2514600"/>
          </a:xfrm>
          <a:prstGeom prst="rect">
            <a:avLst/>
          </a:prstGeom>
          <a:noFill/>
        </p:spPr>
        <p:txBody>
          <a:bodyPr wrap="square" lIns="0" rIns="0" tIns="0" bIns="0">
            <a:spAutoFit/>
          </a:bodyPr>
          <a:lstStyle/>
          <a:p>
            <a:pPr>
              <a:spcAft>
                <a:spcPts val="800"/>
              </a:spcAft>
              <a:defRPr sz="2100" b="0">
                <a:solidFill>
                  <a:srgbClr val="243746"/>
                </a:solidFill>
                <a:latin typeface="Arial"/>
              </a:defRPr>
            </a:pPr>
            <a:r>
              <a:t>Timed lineage tracing</a:t>
            </a:r>
          </a:p>
          <a:p>
            <a:pPr>
              <a:spcAft>
                <a:spcPts val="800"/>
              </a:spcAft>
              <a:defRPr sz="2100" b="0">
                <a:solidFill>
                  <a:srgbClr val="243746"/>
                </a:solidFill>
                <a:latin typeface="Arial"/>
              </a:defRPr>
            </a:pPr>
            <a:r>
              <a:t>Intermediate ages</a:t>
            </a:r>
          </a:p>
          <a:p>
            <a:pPr>
              <a:spcAft>
                <a:spcPts val="800"/>
              </a:spcAft>
              <a:defRPr sz="2100" b="0">
                <a:solidFill>
                  <a:srgbClr val="243746"/>
                </a:solidFill>
                <a:latin typeface="Arial"/>
              </a:defRPr>
            </a:pPr>
            <a:r>
              <a:t>Registered anatomy</a:t>
            </a:r>
          </a:p>
          <a:p>
            <a:pPr>
              <a:spcAft>
                <a:spcPts val="800"/>
              </a:spcAft>
              <a:defRPr sz="2100" b="0">
                <a:solidFill>
                  <a:srgbClr val="243746"/>
                </a:solidFill>
                <a:latin typeface="Arial"/>
              </a:defRPr>
            </a:pPr>
            <a:r>
              <a:t>Coherent marker panels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METHODS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Method interpretation</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Backup | Communication models organize hypotheses</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released COMMOT/SCENIC/SigNET and maturation-model code</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43</a:t>
            </a:r>
          </a:p>
        </p:txBody>
      </p:sp>
      <p:sp>
        <p:nvSpPr>
          <p:cNvPr id="9" name="Rounded Rectangle 8"/>
          <p:cNvSpPr/>
          <p:nvPr/>
        </p:nvSpPr>
        <p:spPr>
          <a:xfrm>
            <a:off x="594360" y="1828800"/>
            <a:ext cx="2651760" cy="3611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828800"/>
            <a:ext cx="59436" cy="361188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11680"/>
            <a:ext cx="22860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CytoSPACE</a:t>
            </a:r>
          </a:p>
        </p:txBody>
      </p:sp>
      <p:sp>
        <p:nvSpPr>
          <p:cNvPr id="12" name="TextBox 11"/>
          <p:cNvSpPr txBox="1"/>
          <p:nvPr/>
        </p:nvSpPr>
        <p:spPr>
          <a:xfrm>
            <a:off x="795528" y="2788920"/>
            <a:ext cx="2267712" cy="2514600"/>
          </a:xfrm>
          <a:prstGeom prst="rect">
            <a:avLst/>
          </a:prstGeom>
          <a:noFill/>
        </p:spPr>
        <p:txBody>
          <a:bodyPr wrap="square" lIns="0" rIns="0" tIns="0" bIns="0">
            <a:spAutoFit/>
          </a:bodyPr>
          <a:lstStyle/>
          <a:p>
            <a:pPr>
              <a:spcAft>
                <a:spcPts val="800"/>
              </a:spcAft>
              <a:defRPr sz="2000" b="0">
                <a:solidFill>
                  <a:srgbClr val="243746"/>
                </a:solidFill>
                <a:latin typeface="Arial"/>
              </a:defRPr>
            </a:pPr>
            <a:r>
              <a:t>RNA-to-spatial alignment</a:t>
            </a:r>
          </a:p>
        </p:txBody>
      </p:sp>
      <p:sp>
        <p:nvSpPr>
          <p:cNvPr id="13" name="Rounded Rectangle 12"/>
          <p:cNvSpPr/>
          <p:nvPr/>
        </p:nvSpPr>
        <p:spPr>
          <a:xfrm>
            <a:off x="3483864" y="1828800"/>
            <a:ext cx="2651760" cy="3611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83864" y="1828800"/>
            <a:ext cx="59436" cy="361188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85032" y="2011680"/>
            <a:ext cx="22860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COMMOT</a:t>
            </a:r>
          </a:p>
        </p:txBody>
      </p:sp>
      <p:sp>
        <p:nvSpPr>
          <p:cNvPr id="16" name="TextBox 15"/>
          <p:cNvSpPr txBox="1"/>
          <p:nvPr/>
        </p:nvSpPr>
        <p:spPr>
          <a:xfrm>
            <a:off x="3685032" y="2788920"/>
            <a:ext cx="2267712" cy="2514600"/>
          </a:xfrm>
          <a:prstGeom prst="rect">
            <a:avLst/>
          </a:prstGeom>
          <a:noFill/>
        </p:spPr>
        <p:txBody>
          <a:bodyPr wrap="square" lIns="0" rIns="0" tIns="0" bIns="0">
            <a:spAutoFit/>
          </a:bodyPr>
          <a:lstStyle/>
          <a:p>
            <a:pPr>
              <a:spcAft>
                <a:spcPts val="800"/>
              </a:spcAft>
              <a:defRPr sz="2000" b="0">
                <a:solidFill>
                  <a:srgbClr val="243746"/>
                </a:solidFill>
                <a:latin typeface="Arial"/>
              </a:defRPr>
            </a:pPr>
            <a:r>
              <a:t>Spatially compatible</a:t>
            </a:r>
          </a:p>
          <a:p>
            <a:pPr>
              <a:spcAft>
                <a:spcPts val="800"/>
              </a:spcAft>
              <a:defRPr sz="2000" b="0">
                <a:solidFill>
                  <a:srgbClr val="243746"/>
                </a:solidFill>
                <a:latin typeface="Arial"/>
              </a:defRPr>
            </a:pPr>
            <a:r>
              <a:t>communication proposals</a:t>
            </a:r>
          </a:p>
        </p:txBody>
      </p:sp>
      <p:sp>
        <p:nvSpPr>
          <p:cNvPr id="17" name="Rounded Rectangle 16"/>
          <p:cNvSpPr/>
          <p:nvPr/>
        </p:nvSpPr>
        <p:spPr>
          <a:xfrm>
            <a:off x="6373368" y="1828800"/>
            <a:ext cx="2651760" cy="3611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73368" y="1828800"/>
            <a:ext cx="59436" cy="3611880"/>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36" y="2011680"/>
            <a:ext cx="22860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SCENIC / SigNET</a:t>
            </a:r>
          </a:p>
        </p:txBody>
      </p:sp>
      <p:sp>
        <p:nvSpPr>
          <p:cNvPr id="20" name="TextBox 19"/>
          <p:cNvSpPr txBox="1"/>
          <p:nvPr/>
        </p:nvSpPr>
        <p:spPr>
          <a:xfrm>
            <a:off x="6574536" y="2788920"/>
            <a:ext cx="2267712" cy="2514600"/>
          </a:xfrm>
          <a:prstGeom prst="rect">
            <a:avLst/>
          </a:prstGeom>
          <a:noFill/>
        </p:spPr>
        <p:txBody>
          <a:bodyPr wrap="square" lIns="0" rIns="0" tIns="0" bIns="0">
            <a:spAutoFit/>
          </a:bodyPr>
          <a:lstStyle/>
          <a:p>
            <a:pPr>
              <a:spcAft>
                <a:spcPts val="800"/>
              </a:spcAft>
              <a:defRPr sz="2000" b="0">
                <a:solidFill>
                  <a:srgbClr val="243746"/>
                </a:solidFill>
                <a:latin typeface="Arial"/>
              </a:defRPr>
            </a:pPr>
            <a:r>
              <a:t>Candidate regulatory links</a:t>
            </a:r>
          </a:p>
        </p:txBody>
      </p:sp>
      <p:sp>
        <p:nvSpPr>
          <p:cNvPr id="21" name="Rounded Rectangle 20"/>
          <p:cNvSpPr/>
          <p:nvPr/>
        </p:nvSpPr>
        <p:spPr>
          <a:xfrm>
            <a:off x="9262872" y="1828800"/>
            <a:ext cx="2651760" cy="361188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62872" y="1828800"/>
            <a:ext cx="59436" cy="3611880"/>
          </a:xfrm>
          <a:prstGeom prst="rect">
            <a:avLst/>
          </a:prstGeom>
          <a:solidFill>
            <a:srgbClr val="CA8D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64040" y="2011680"/>
            <a:ext cx="2286000"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Validation</a:t>
            </a:r>
          </a:p>
        </p:txBody>
      </p:sp>
      <p:sp>
        <p:nvSpPr>
          <p:cNvPr id="24" name="TextBox 23"/>
          <p:cNvSpPr txBox="1"/>
          <p:nvPr/>
        </p:nvSpPr>
        <p:spPr>
          <a:xfrm>
            <a:off x="9464040" y="2788920"/>
            <a:ext cx="2267712" cy="2514600"/>
          </a:xfrm>
          <a:prstGeom prst="rect">
            <a:avLst/>
          </a:prstGeom>
          <a:noFill/>
        </p:spPr>
        <p:txBody>
          <a:bodyPr wrap="square" lIns="0" rIns="0" tIns="0" bIns="0">
            <a:spAutoFit/>
          </a:bodyPr>
          <a:lstStyle/>
          <a:p>
            <a:pPr>
              <a:spcAft>
                <a:spcPts val="800"/>
              </a:spcAft>
              <a:defRPr sz="2000" b="0">
                <a:solidFill>
                  <a:srgbClr val="243746"/>
                </a:solidFill>
                <a:latin typeface="Arial"/>
              </a:defRPr>
            </a:pPr>
            <a:r>
              <a:t>Spatial / animal holdouts</a:t>
            </a:r>
          </a:p>
          <a:p>
            <a:pPr>
              <a:spcAft>
                <a:spcPts val="800"/>
              </a:spcAft>
              <a:defRPr sz="2000" b="0">
                <a:solidFill>
                  <a:srgbClr val="243746"/>
                </a:solidFill>
                <a:latin typeface="Arial"/>
              </a:defRPr>
            </a:pPr>
            <a:r>
              <a:t>Cell-specific intervention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METHODS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Published platform checks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Backup | Screen assignment and target validation are different</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Wang et al., Nature Cardiovascular Research (2026); Supplementary Fig.24; Methods</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44</a:t>
            </a:r>
          </a:p>
        </p:txBody>
      </p:sp>
      <p:sp>
        <p:nvSpPr>
          <p:cNvPr id="9" name="Rounded Rectangle 8"/>
          <p:cNvSpPr/>
          <p:nvPr/>
        </p:nvSpPr>
        <p:spPr>
          <a:xfrm>
            <a:off x="685800" y="1828800"/>
            <a:ext cx="4937760" cy="14173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938528"/>
            <a:ext cx="4700016" cy="621792"/>
          </a:xfrm>
          <a:prstGeom prst="rect">
            <a:avLst/>
          </a:prstGeom>
          <a:noFill/>
        </p:spPr>
        <p:txBody>
          <a:bodyPr wrap="square" lIns="0" rIns="0" tIns="0" bIns="0">
            <a:spAutoFit/>
          </a:bodyPr>
          <a:lstStyle/>
          <a:p>
            <a:pPr algn="ctr">
              <a:spcAft>
                <a:spcPts val="800"/>
              </a:spcAft>
              <a:defRPr sz="4000" b="1">
                <a:solidFill>
                  <a:srgbClr val="4B9CD3"/>
                </a:solidFill>
                <a:latin typeface="Arial"/>
              </a:defRPr>
            </a:pPr>
            <a:r>
              <a:t>37 / 43</a:t>
            </a:r>
          </a:p>
        </p:txBody>
      </p:sp>
      <p:sp>
        <p:nvSpPr>
          <p:cNvPr id="11" name="TextBox 10"/>
          <p:cNvSpPr txBox="1"/>
          <p:nvPr/>
        </p:nvSpPr>
        <p:spPr>
          <a:xfrm>
            <a:off x="822960" y="2651760"/>
            <a:ext cx="4663440" cy="502920"/>
          </a:xfrm>
          <a:prstGeom prst="rect">
            <a:avLst/>
          </a:prstGeom>
          <a:noFill/>
        </p:spPr>
        <p:txBody>
          <a:bodyPr wrap="square" lIns="0" rIns="0" tIns="0" bIns="0">
            <a:spAutoFit/>
          </a:bodyPr>
          <a:lstStyle/>
          <a:p>
            <a:pPr algn="ctr">
              <a:spcAft>
                <a:spcPts val="800"/>
              </a:spcAft>
              <a:defRPr sz="1700" b="0">
                <a:solidFill>
                  <a:srgbClr val="243746"/>
                </a:solidFill>
                <a:latin typeface="Arial"/>
              </a:defRPr>
            </a:pPr>
            <a:r>
              <a:t>Detectable target probes decreased ≥50%</a:t>
            </a:r>
          </a:p>
        </p:txBody>
      </p:sp>
      <p:sp>
        <p:nvSpPr>
          <p:cNvPr id="12" name="Rounded Rectangle 11"/>
          <p:cNvSpPr/>
          <p:nvPr/>
        </p:nvSpPr>
        <p:spPr>
          <a:xfrm>
            <a:off x="6172200" y="1783080"/>
            <a:ext cx="5349240" cy="3703320"/>
          </a:xfrm>
          <a:prstGeom prst="round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783080"/>
            <a:ext cx="59436" cy="3703320"/>
          </a:xfrm>
          <a:prstGeom prst="rect">
            <a:avLst/>
          </a:prstGeom>
          <a:solidFill>
            <a:srgbClr val="20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965960"/>
            <a:ext cx="4983479" cy="685800"/>
          </a:xfrm>
          <a:prstGeom prst="rect">
            <a:avLst/>
          </a:prstGeom>
          <a:noFill/>
        </p:spPr>
        <p:txBody>
          <a:bodyPr wrap="square" lIns="0" rIns="0" tIns="0" bIns="0">
            <a:spAutoFit/>
          </a:bodyPr>
          <a:lstStyle/>
          <a:p>
            <a:pPr>
              <a:spcAft>
                <a:spcPts val="800"/>
              </a:spcAft>
              <a:defRPr sz="2200" b="1">
                <a:solidFill>
                  <a:srgbClr val="173A53"/>
                </a:solidFill>
                <a:latin typeface="Arial"/>
              </a:defRPr>
            </a:pPr>
            <a:r>
              <a:t>What the readout supports</a:t>
            </a:r>
          </a:p>
        </p:txBody>
      </p:sp>
      <p:sp>
        <p:nvSpPr>
          <p:cNvPr id="15" name="TextBox 14"/>
          <p:cNvSpPr txBox="1"/>
          <p:nvPr/>
        </p:nvSpPr>
        <p:spPr>
          <a:xfrm>
            <a:off x="6373368" y="2743200"/>
            <a:ext cx="4965192" cy="2606039"/>
          </a:xfrm>
          <a:prstGeom prst="rect">
            <a:avLst/>
          </a:prstGeom>
          <a:noFill/>
        </p:spPr>
        <p:txBody>
          <a:bodyPr wrap="square" lIns="0" rIns="0" tIns="0" bIns="0">
            <a:spAutoFit/>
          </a:bodyPr>
          <a:lstStyle/>
          <a:p>
            <a:pPr>
              <a:spcAft>
                <a:spcPts val="800"/>
              </a:spcAft>
              <a:defRPr sz="2100" b="0">
                <a:solidFill>
                  <a:srgbClr val="243746"/>
                </a:solidFill>
                <a:latin typeface="Arial"/>
              </a:defRPr>
            </a:pPr>
            <a:r>
              <a:t>Target-site RNA evidence</a:t>
            </a:r>
          </a:p>
          <a:p>
            <a:pPr>
              <a:spcAft>
                <a:spcPts val="800"/>
              </a:spcAft>
              <a:defRPr sz="2100" b="0">
                <a:solidFill>
                  <a:srgbClr val="243746"/>
                </a:solidFill>
                <a:latin typeface="Arial"/>
              </a:defRPr>
            </a:pPr>
          </a:p>
          <a:p>
            <a:pPr>
              <a:spcAft>
                <a:spcPts val="800"/>
              </a:spcAft>
              <a:defRPr sz="2100" b="0">
                <a:solidFill>
                  <a:srgbClr val="243746"/>
                </a:solidFill>
                <a:latin typeface="Arial"/>
              </a:defRPr>
            </a:pPr>
            <a:r>
              <a:t>Guide detection ≠ every allele edited</a:t>
            </a:r>
          </a:p>
          <a:p>
            <a:pPr>
              <a:spcAft>
                <a:spcPts val="800"/>
              </a:spcAft>
              <a:defRPr sz="2100" b="0">
                <a:solidFill>
                  <a:srgbClr val="243746"/>
                </a:solidFill>
                <a:latin typeface="Arial"/>
              </a:defRPr>
            </a:pPr>
          </a:p>
          <a:p>
            <a:pPr>
              <a:spcAft>
                <a:spcPts val="800"/>
              </a:spcAft>
              <a:defRPr sz="2100" b="0">
                <a:solidFill>
                  <a:srgbClr val="243746"/>
                </a:solidFill>
                <a:latin typeface="Arial"/>
              </a:defRPr>
            </a:pPr>
            <a:r>
              <a:t>Independent target and phenotype</a:t>
            </a:r>
          </a:p>
          <a:p>
            <a:pPr>
              <a:spcAft>
                <a:spcPts val="800"/>
              </a:spcAft>
              <a:defRPr sz="2100" b="0">
                <a:solidFill>
                  <a:srgbClr val="243746"/>
                </a:solidFill>
                <a:latin typeface="Arial"/>
              </a:defRPr>
            </a:pPr>
            <a:r>
              <a:t>validation remain essential</a:t>
            </a:r>
          </a:p>
        </p:txBody>
      </p:sp>
      <p:sp>
        <p:nvSpPr>
          <p:cNvPr id="16" name="TextBox 15"/>
          <p:cNvSpPr txBox="1"/>
          <p:nvPr/>
        </p:nvSpPr>
        <p:spPr>
          <a:xfrm>
            <a:off x="777240" y="3703320"/>
            <a:ext cx="4709160" cy="1417320"/>
          </a:xfrm>
          <a:prstGeom prst="rect">
            <a:avLst/>
          </a:prstGeom>
          <a:noFill/>
        </p:spPr>
        <p:txBody>
          <a:bodyPr wrap="square" lIns="0" rIns="0" tIns="0" bIns="0">
            <a:spAutoFit/>
          </a:bodyPr>
          <a:lstStyle/>
          <a:p>
            <a:pPr>
              <a:spcAft>
                <a:spcPts val="800"/>
              </a:spcAft>
              <a:defRPr sz="2300" b="1">
                <a:solidFill>
                  <a:srgbClr val="173A53"/>
                </a:solidFill>
                <a:latin typeface="Arial"/>
              </a:defRPr>
            </a:pPr>
            <a:r>
              <a:t>Probe-signal reduction is an editing proxy, not a measured biallelic knockout percentage.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FUTURE ANALYSIS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Benchmark and limits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Backup | Transport can nominate developmental correspondence</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cardiac_developmental_synthesis/cross_stage_metric_assessment.tsv; prior held-out Wormhole assessment</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45</a:t>
            </a:r>
          </a:p>
        </p:txBody>
      </p:sp>
      <p:pic>
        <p:nvPicPr>
          <p:cNvPr id="9" name="Picture 8" descr="Wormhole_composition_matched_benchmark.png"/>
          <p:cNvPicPr>
            <a:picLocks noChangeAspect="1"/>
          </p:cNvPicPr>
          <p:nvPr/>
        </p:nvPicPr>
        <p:blipFill>
          <a:blip r:embed="rId2"/>
          <a:stretch>
            <a:fillRect/>
          </a:stretch>
        </p:blipFill>
        <p:spPr>
          <a:xfrm>
            <a:off x="2009716" y="1737360"/>
            <a:ext cx="8142086" cy="3749039"/>
          </a:xfrm>
          <a:prstGeom prst="rect">
            <a:avLst/>
          </a:prstGeom>
        </p:spPr>
      </p:pic>
      <p:sp>
        <p:nvSpPr>
          <p:cNvPr id="10" name="Rectangle 9"/>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Distributional correspondence is not fate tracing; the current encoder does not establish dynamic cardiac niches.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B9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46888"/>
            <a:ext cx="6583680" cy="228600"/>
          </a:xfrm>
          <a:prstGeom prst="rect">
            <a:avLst/>
          </a:prstGeom>
          <a:noFill/>
        </p:spPr>
        <p:txBody>
          <a:bodyPr wrap="square" lIns="0" rIns="0" tIns="0" bIns="0">
            <a:spAutoFit/>
          </a:bodyPr>
          <a:lstStyle/>
          <a:p>
            <a:pPr>
              <a:spcAft>
                <a:spcPts val="800"/>
              </a:spcAft>
              <a:defRPr sz="1050" b="1">
                <a:solidFill>
                  <a:srgbClr val="208B8C"/>
                </a:solidFill>
                <a:latin typeface="Arial"/>
              </a:defRPr>
            </a:pPr>
            <a:r>
              <a:t>REFERENCES</a:t>
            </a:r>
          </a:p>
        </p:txBody>
      </p:sp>
      <p:sp>
        <p:nvSpPr>
          <p:cNvPr id="4" name="TextBox 3"/>
          <p:cNvSpPr txBox="1"/>
          <p:nvPr/>
        </p:nvSpPr>
        <p:spPr>
          <a:xfrm>
            <a:off x="7315200" y="246888"/>
            <a:ext cx="4361688" cy="228600"/>
          </a:xfrm>
          <a:prstGeom prst="rect">
            <a:avLst/>
          </a:prstGeom>
          <a:noFill/>
        </p:spPr>
        <p:txBody>
          <a:bodyPr wrap="square" lIns="0" rIns="0" tIns="0" bIns="0">
            <a:spAutoFit/>
          </a:bodyPr>
          <a:lstStyle/>
          <a:p>
            <a:pPr algn="r">
              <a:spcAft>
                <a:spcPts val="800"/>
              </a:spcAft>
              <a:defRPr sz="1050" b="1">
                <a:solidFill>
                  <a:srgbClr val="5D6E7C"/>
                </a:solidFill>
                <a:latin typeface="Arial"/>
              </a:defRPr>
            </a:pPr>
            <a:r>
              <a:t>Sources</a:t>
            </a:r>
          </a:p>
        </p:txBody>
      </p:sp>
      <p:sp>
        <p:nvSpPr>
          <p:cNvPr id="5" name="TextBox 4"/>
          <p:cNvSpPr txBox="1"/>
          <p:nvPr/>
        </p:nvSpPr>
        <p:spPr>
          <a:xfrm>
            <a:off x="502920" y="621792"/>
            <a:ext cx="11173968" cy="832104"/>
          </a:xfrm>
          <a:prstGeom prst="rect">
            <a:avLst/>
          </a:prstGeom>
          <a:noFill/>
        </p:spPr>
        <p:txBody>
          <a:bodyPr wrap="square" lIns="0" rIns="0" tIns="0" bIns="0">
            <a:spAutoFit/>
          </a:bodyPr>
          <a:lstStyle/>
          <a:p>
            <a:pPr>
              <a:spcAft>
                <a:spcPts val="800"/>
              </a:spcAft>
              <a:defRPr sz="3000" b="1">
                <a:solidFill>
                  <a:srgbClr val="173A53"/>
                </a:solidFill>
                <a:latin typeface="Arial"/>
              </a:defRPr>
            </a:pPr>
            <a:r>
              <a:t>Selected references and source material</a:t>
            </a:r>
          </a:p>
        </p:txBody>
      </p:sp>
      <p:sp>
        <p:nvSpPr>
          <p:cNvPr id="6" name="Rectangle 5"/>
          <p:cNvSpPr/>
          <p:nvPr/>
        </p:nvSpPr>
        <p:spPr>
          <a:xfrm>
            <a:off x="502920" y="6345936"/>
            <a:ext cx="11173968" cy="10972"/>
          </a:xfrm>
          <a:prstGeom prst="rect">
            <a:avLst/>
          </a:prstGeom>
          <a:solidFill>
            <a:srgbClr val="D9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19088"/>
            <a:ext cx="10698480" cy="292608"/>
          </a:xfrm>
          <a:prstGeom prst="rect">
            <a:avLst/>
          </a:prstGeom>
          <a:noFill/>
        </p:spPr>
        <p:txBody>
          <a:bodyPr wrap="square" lIns="0" rIns="0" tIns="0" bIns="0">
            <a:spAutoFit/>
          </a:bodyPr>
          <a:lstStyle/>
          <a:p>
            <a:pPr>
              <a:spcAft>
                <a:spcPts val="800"/>
              </a:spcAft>
              <a:defRPr sz="850" b="0">
                <a:solidFill>
                  <a:srgbClr val="5D6E7C"/>
                </a:solidFill>
                <a:latin typeface="Arial"/>
              </a:defRPr>
            </a:pPr>
            <a:r>
              <a:t>Bibliography and figure provenance</a:t>
            </a:r>
          </a:p>
        </p:txBody>
      </p:sp>
      <p:sp>
        <p:nvSpPr>
          <p:cNvPr id="8" name="TextBox 7"/>
          <p:cNvSpPr txBox="1"/>
          <p:nvPr/>
        </p:nvSpPr>
        <p:spPr>
          <a:xfrm>
            <a:off x="11283696" y="6419088"/>
            <a:ext cx="384048" cy="274320"/>
          </a:xfrm>
          <a:prstGeom prst="rect">
            <a:avLst/>
          </a:prstGeom>
          <a:noFill/>
        </p:spPr>
        <p:txBody>
          <a:bodyPr wrap="square" lIns="0" rIns="0" tIns="0" bIns="0">
            <a:spAutoFit/>
          </a:bodyPr>
          <a:lstStyle/>
          <a:p>
            <a:pPr algn="r">
              <a:spcAft>
                <a:spcPts val="800"/>
              </a:spcAft>
              <a:defRPr sz="1000" b="0">
                <a:solidFill>
                  <a:srgbClr val="5D6E7C"/>
                </a:solidFill>
                <a:latin typeface="Arial"/>
              </a:defRPr>
            </a:pPr>
            <a:r>
              <a:t>46</a:t>
            </a:r>
          </a:p>
        </p:txBody>
      </p:sp>
      <p:sp>
        <p:nvSpPr>
          <p:cNvPr id="9" name="TextBox 8"/>
          <p:cNvSpPr txBox="1"/>
          <p:nvPr/>
        </p:nvSpPr>
        <p:spPr>
          <a:xfrm>
            <a:off x="640080" y="1645920"/>
            <a:ext cx="10972800" cy="320040"/>
          </a:xfrm>
          <a:prstGeom prst="rect">
            <a:avLst/>
          </a:prstGeom>
          <a:noFill/>
        </p:spPr>
        <p:txBody>
          <a:bodyPr wrap="square" lIns="0" rIns="0" tIns="0" bIns="0">
            <a:spAutoFit/>
          </a:bodyPr>
          <a:lstStyle/>
          <a:p>
            <a:pPr>
              <a:spcAft>
                <a:spcPts val="800"/>
              </a:spcAft>
              <a:defRPr sz="1900" b="1">
                <a:solidFill>
                  <a:srgbClr val="173A53"/>
                </a:solidFill>
                <a:latin typeface="Arial"/>
              </a:defRPr>
            </a:pPr>
            <a:r>
              <a:t>Heart atlas / functional genomics</a:t>
            </a:r>
          </a:p>
        </p:txBody>
      </p:sp>
      <p:sp>
        <p:nvSpPr>
          <p:cNvPr id="10" name="TextBox 9"/>
          <p:cNvSpPr txBox="1"/>
          <p:nvPr/>
        </p:nvSpPr>
        <p:spPr>
          <a:xfrm>
            <a:off x="640080" y="2011680"/>
            <a:ext cx="10972800" cy="566928"/>
          </a:xfrm>
          <a:prstGeom prst="rect">
            <a:avLst/>
          </a:prstGeom>
          <a:noFill/>
        </p:spPr>
        <p:txBody>
          <a:bodyPr wrap="square" lIns="0" rIns="0" tIns="0" bIns="0">
            <a:spAutoFit/>
          </a:bodyPr>
          <a:lstStyle/>
          <a:p>
            <a:pPr>
              <a:spcAft>
                <a:spcPts val="800"/>
              </a:spcAft>
              <a:defRPr sz="1500" b="0">
                <a:solidFill>
                  <a:srgbClr val="243746"/>
                </a:solidFill>
                <a:latin typeface="Arial"/>
              </a:defRPr>
            </a:pPr>
            <a:r>
              <a:t>Wang, Dong, Song et al. Spatially guided in vivo single-cell functional genomics of postnatal heart. Nature Cardiovascular Research (2026). DOI: 10.1038/s44161-026-00861-z.</a:t>
            </a:r>
          </a:p>
        </p:txBody>
      </p:sp>
      <p:sp>
        <p:nvSpPr>
          <p:cNvPr id="11" name="TextBox 10"/>
          <p:cNvSpPr txBox="1"/>
          <p:nvPr/>
        </p:nvSpPr>
        <p:spPr>
          <a:xfrm>
            <a:off x="640080" y="2670048"/>
            <a:ext cx="10972800" cy="320040"/>
          </a:xfrm>
          <a:prstGeom prst="rect">
            <a:avLst/>
          </a:prstGeom>
          <a:noFill/>
        </p:spPr>
        <p:txBody>
          <a:bodyPr wrap="square" lIns="0" rIns="0" tIns="0" bIns="0">
            <a:spAutoFit/>
          </a:bodyPr>
          <a:lstStyle/>
          <a:p>
            <a:pPr>
              <a:spcAft>
                <a:spcPts val="800"/>
              </a:spcAft>
              <a:defRPr sz="1900" b="1">
                <a:solidFill>
                  <a:srgbClr val="173A53"/>
                </a:solidFill>
                <a:latin typeface="Arial"/>
              </a:defRPr>
            </a:pPr>
            <a:r>
              <a:t>Perinatal coronary expansion</a:t>
            </a:r>
          </a:p>
        </p:txBody>
      </p:sp>
      <p:sp>
        <p:nvSpPr>
          <p:cNvPr id="12" name="TextBox 11"/>
          <p:cNvSpPr txBox="1"/>
          <p:nvPr/>
        </p:nvSpPr>
        <p:spPr>
          <a:xfrm>
            <a:off x="640080" y="3035808"/>
            <a:ext cx="10972800" cy="566928"/>
          </a:xfrm>
          <a:prstGeom prst="rect">
            <a:avLst/>
          </a:prstGeom>
          <a:noFill/>
        </p:spPr>
        <p:txBody>
          <a:bodyPr wrap="square" lIns="0" rIns="0" tIns="0" bIns="0">
            <a:spAutoFit/>
          </a:bodyPr>
          <a:lstStyle/>
          <a:p>
            <a:pPr>
              <a:spcAft>
                <a:spcPts val="800"/>
              </a:spcAft>
              <a:defRPr sz="1500" b="0">
                <a:solidFill>
                  <a:srgbClr val="243746"/>
                </a:solidFill>
                <a:latin typeface="Arial"/>
              </a:defRPr>
            </a:pPr>
            <a:r>
              <a:t>Lu et al. Perinatal angiogenesis from pre-existing coronary vessels via DLL4–NOTCH1 signalling. Nature Cell Biology 23, 967–977 (2021). DOI: 10.1038/s41556-021-00747-1.</a:t>
            </a:r>
          </a:p>
        </p:txBody>
      </p:sp>
      <p:sp>
        <p:nvSpPr>
          <p:cNvPr id="13" name="TextBox 12"/>
          <p:cNvSpPr txBox="1"/>
          <p:nvPr/>
        </p:nvSpPr>
        <p:spPr>
          <a:xfrm>
            <a:off x="640080" y="3694176"/>
            <a:ext cx="10972800" cy="320040"/>
          </a:xfrm>
          <a:prstGeom prst="rect">
            <a:avLst/>
          </a:prstGeom>
          <a:noFill/>
        </p:spPr>
        <p:txBody>
          <a:bodyPr wrap="square" lIns="0" rIns="0" tIns="0" bIns="0">
            <a:spAutoFit/>
          </a:bodyPr>
          <a:lstStyle/>
          <a:p>
            <a:pPr>
              <a:spcAft>
                <a:spcPts val="800"/>
              </a:spcAft>
              <a:defRPr sz="1900" b="1">
                <a:solidFill>
                  <a:srgbClr val="173A53"/>
                </a:solidFill>
                <a:latin typeface="Arial"/>
              </a:defRPr>
            </a:pPr>
            <a:r>
              <a:t>CM maturation and regeneration</a:t>
            </a:r>
          </a:p>
        </p:txBody>
      </p:sp>
      <p:sp>
        <p:nvSpPr>
          <p:cNvPr id="14" name="TextBox 13"/>
          <p:cNvSpPr txBox="1"/>
          <p:nvPr/>
        </p:nvSpPr>
        <p:spPr>
          <a:xfrm>
            <a:off x="640080" y="4059936"/>
            <a:ext cx="10972800" cy="566928"/>
          </a:xfrm>
          <a:prstGeom prst="rect">
            <a:avLst/>
          </a:prstGeom>
          <a:noFill/>
        </p:spPr>
        <p:txBody>
          <a:bodyPr wrap="square" lIns="0" rIns="0" tIns="0" bIns="0">
            <a:spAutoFit/>
          </a:bodyPr>
          <a:lstStyle/>
          <a:p>
            <a:pPr>
              <a:spcAft>
                <a:spcPts val="800"/>
              </a:spcAft>
              <a:defRPr sz="1500" b="0">
                <a:solidFill>
                  <a:srgbClr val="243746"/>
                </a:solidFill>
                <a:latin typeface="Arial"/>
              </a:defRPr>
            </a:pPr>
            <a:r>
              <a:t>Guo &amp; Pu. Circulation Research 126, 1086–1106 (2020). Tzahor &amp; Poss. Science 356, 1035–1039 (2017).</a:t>
            </a:r>
          </a:p>
        </p:txBody>
      </p:sp>
      <p:sp>
        <p:nvSpPr>
          <p:cNvPr id="15" name="TextBox 14"/>
          <p:cNvSpPr txBox="1"/>
          <p:nvPr/>
        </p:nvSpPr>
        <p:spPr>
          <a:xfrm>
            <a:off x="640080" y="4718304"/>
            <a:ext cx="10972800" cy="320040"/>
          </a:xfrm>
          <a:prstGeom prst="rect">
            <a:avLst/>
          </a:prstGeom>
          <a:noFill/>
        </p:spPr>
        <p:txBody>
          <a:bodyPr wrap="square" lIns="0" rIns="0" tIns="0" bIns="0">
            <a:spAutoFit/>
          </a:bodyPr>
          <a:lstStyle/>
          <a:p>
            <a:pPr>
              <a:spcAft>
                <a:spcPts val="800"/>
              </a:spcAft>
              <a:defRPr sz="1900" b="1">
                <a:solidFill>
                  <a:srgbClr val="173A53"/>
                </a:solidFill>
                <a:latin typeface="Arial"/>
              </a:defRPr>
            </a:pPr>
            <a:r>
              <a:t>Fibroblast developmental context</a:t>
            </a:r>
          </a:p>
        </p:txBody>
      </p:sp>
      <p:sp>
        <p:nvSpPr>
          <p:cNvPr id="16" name="TextBox 15"/>
          <p:cNvSpPr txBox="1"/>
          <p:nvPr/>
        </p:nvSpPr>
        <p:spPr>
          <a:xfrm>
            <a:off x="640080" y="5084064"/>
            <a:ext cx="10972800" cy="566928"/>
          </a:xfrm>
          <a:prstGeom prst="rect">
            <a:avLst/>
          </a:prstGeom>
          <a:noFill/>
        </p:spPr>
        <p:txBody>
          <a:bodyPr wrap="square" lIns="0" rIns="0" tIns="0" bIns="0">
            <a:spAutoFit/>
          </a:bodyPr>
          <a:lstStyle/>
          <a:p>
            <a:pPr>
              <a:spcAft>
                <a:spcPts val="800"/>
              </a:spcAft>
              <a:defRPr sz="1500" b="0">
                <a:solidFill>
                  <a:srgbClr val="243746"/>
                </a:solidFill>
                <a:latin typeface="Arial"/>
              </a:defRPr>
            </a:pPr>
            <a:r>
              <a:t>Hortells et al. A specialized population of Periostin-expressing cardiac fibroblasts contributes to postnatal cardiomyocyte maturation and innervation. PNAS (2020). DOI: 10.1073/pnas.2009119117.</a:t>
            </a:r>
          </a:p>
        </p:txBody>
      </p:sp>
      <p:sp>
        <p:nvSpPr>
          <p:cNvPr id="17" name="Rectangle 16"/>
          <p:cNvSpPr/>
          <p:nvPr/>
        </p:nvSpPr>
        <p:spPr>
          <a:xfrm>
            <a:off x="502920" y="5824728"/>
            <a:ext cx="11173968" cy="484632"/>
          </a:xfrm>
          <a:prstGeom prst="rect">
            <a:avLst/>
          </a:prstGeom>
          <a:solidFill>
            <a:srgbClr val="EF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870448"/>
            <a:ext cx="10863072" cy="411480"/>
          </a:xfrm>
          <a:prstGeom prst="rect">
            <a:avLst/>
          </a:prstGeom>
          <a:noFill/>
        </p:spPr>
        <p:txBody>
          <a:bodyPr wrap="square" lIns="0" rIns="0" tIns="0" bIns="0">
            <a:spAutoFit/>
          </a:bodyPr>
          <a:lstStyle/>
          <a:p>
            <a:pPr>
              <a:lnSpc>
                <a:spcPts val="1600"/>
              </a:lnSpc>
              <a:spcAft>
                <a:spcPts val="0"/>
              </a:spcAft>
              <a:defRPr sz="1500" b="1">
                <a:solidFill>
                  <a:srgbClr val="173A53"/>
                </a:solidFill>
                <a:latin typeface="Arial"/>
              </a:defRPr>
            </a:pPr>
            <a:r>
              <a:t>Supplied manuscript panels are credited; exploratory follow-up is kept distinct from published experiments.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Functional Heart: From Cellular Neighborhoods to Gene Function</dc:title>
  <dc:subject>Postnatal heart development, spatial niches and in vivo functional genomics</dc:subject>
  <dc:creator>Jiandong Liu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